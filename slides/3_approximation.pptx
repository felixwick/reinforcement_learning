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67" r:id="rId3"/>
    <p:sldId id="266" r:id="rId4"/>
    <p:sldId id="275" r:id="rId5"/>
    <p:sldId id="274" r:id="rId6"/>
    <p:sldId id="544" r:id="rId7"/>
    <p:sldId id="545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912.02877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Function Approximation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1878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Function</a:t>
            </a:r>
            <a:r>
              <a:rPr lang="de-DE" dirty="0"/>
              <a:t> Approximation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Linear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endParaRPr lang="de-DE" dirty="0"/>
          </a:p>
          <a:p>
            <a:r>
              <a:rPr lang="de-DE" dirty="0" err="1"/>
              <a:t>Nonlinear</a:t>
            </a:r>
            <a:r>
              <a:rPr lang="de-DE" dirty="0"/>
              <a:t> </a:t>
            </a:r>
            <a:r>
              <a:rPr lang="de-DE" dirty="0" err="1"/>
              <a:t>approximators</a:t>
            </a:r>
            <a:r>
              <a:rPr lang="de-DE" dirty="0"/>
              <a:t> (ML, </a:t>
            </a:r>
            <a:r>
              <a:rPr lang="de-DE" dirty="0" err="1"/>
              <a:t>scikit-learn</a:t>
            </a:r>
            <a:r>
              <a:rPr lang="de-DE" dirty="0"/>
              <a:t>, NNs)</a:t>
            </a:r>
          </a:p>
          <a:p>
            <a:r>
              <a:rPr lang="de-DE" dirty="0"/>
              <a:t>Distribution shift in RL</a:t>
            </a:r>
          </a:p>
          <a:p>
            <a:r>
              <a:rPr lang="de-DE" dirty="0"/>
              <a:t>The “</a:t>
            </a:r>
            <a:r>
              <a:rPr lang="de-DE" dirty="0" err="1"/>
              <a:t>deadly</a:t>
            </a:r>
            <a:r>
              <a:rPr lang="de-DE" dirty="0"/>
              <a:t> </a:t>
            </a:r>
            <a:r>
              <a:rPr lang="de-DE" dirty="0" err="1"/>
              <a:t>triad</a:t>
            </a:r>
            <a:r>
              <a:rPr lang="de-DE" dirty="0"/>
              <a:t>”: bootstrapping + off-</a:t>
            </a:r>
            <a:r>
              <a:rPr lang="de-DE" dirty="0" err="1"/>
              <a:t>policy</a:t>
            </a:r>
            <a:r>
              <a:rPr lang="de-DE" dirty="0"/>
              <a:t> + </a:t>
            </a:r>
            <a:r>
              <a:rPr lang="de-DE" dirty="0" err="1"/>
              <a:t>function</a:t>
            </a:r>
            <a:r>
              <a:rPr lang="de-DE" dirty="0"/>
              <a:t> </a:t>
            </a:r>
            <a:r>
              <a:rPr lang="de-DE" dirty="0" err="1"/>
              <a:t>approximation</a:t>
            </a:r>
            <a:endParaRPr lang="de-DE" dirty="0"/>
          </a:p>
          <a:p>
            <a:r>
              <a:rPr lang="de-DE" dirty="0" err="1"/>
              <a:t>Stabilization</a:t>
            </a:r>
            <a:r>
              <a:rPr lang="de-DE" dirty="0"/>
              <a:t> </a:t>
            </a:r>
            <a:r>
              <a:rPr lang="de-DE" dirty="0" err="1"/>
              <a:t>principles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4D9EF-FB61-9DAE-2A97-D9C822C0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Limitation of Tabular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9275A-6ECE-00F1-31A1-E3ECBFAD3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tabular methods (calculating values for each state/action) simply memorize observed data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dirty="0"/>
              <a:t>problem with tabular solution methods in practice: large state/action spaces </a:t>
            </a:r>
            <a:r>
              <a:rPr lang="de-DE" dirty="0">
                <a:sym typeface="Wingdings" pitchFamily="2" charset="2"/>
              </a:rPr>
              <a:t>(kind of curse of dimensionality)</a:t>
            </a:r>
          </a:p>
          <a:p>
            <a:pPr marL="342900" indent="-342900"/>
            <a:endParaRPr lang="de-DE" dirty="0"/>
          </a:p>
          <a:p>
            <a:pPr marL="0" indent="0">
              <a:buNone/>
            </a:pPr>
            <a:r>
              <a:rPr lang="de-DE" dirty="0">
                <a:sym typeface="Wingdings" panose="05000000000000000000" pitchFamily="2" charset="2"/>
              </a:rPr>
              <a:t> </a:t>
            </a:r>
            <a:r>
              <a:rPr lang="de-DE" dirty="0"/>
              <a:t>need for generalization: supervised learning to the rescue</a:t>
            </a:r>
          </a:p>
          <a:p>
            <a:r>
              <a:rPr lang="de-DE" dirty="0"/>
              <a:t>non-linear function approximation over state/action space</a:t>
            </a:r>
          </a:p>
          <a:p>
            <a:r>
              <a:rPr lang="de-DE" dirty="0"/>
              <a:t>nowadays often deep learning methods </a:t>
            </a:r>
            <a:r>
              <a:rPr lang="de-DE" dirty="0">
                <a:sym typeface="Wingdings" pitchFamily="2" charset="2"/>
              </a:rPr>
              <a:t> deep RL</a:t>
            </a:r>
            <a:endParaRPr lang="de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3A65A4-171E-1901-4111-237CE3EF4E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12418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FC1E6-961E-5FB6-3A7C-C8EE01E30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Approximate Solution Methods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3F99D0-CFDF-27C8-3365-520B765419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686535" cy="4351338"/>
              </a:xfrm>
            </p:spPr>
            <p:txBody>
              <a:bodyPr>
                <a:normAutofit fontScale="92500" lnSpcReduction="200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s</a:t>
                </a:r>
                <a:r>
                  <a:rPr lang="en-DE" sz="2600" dirty="0"/>
                  <a:t>tate/action values as parametrized function (instead of table)</a:t>
                </a:r>
              </a:p>
              <a:p>
                <a:r>
                  <a:rPr lang="en-DE" sz="2600" dirty="0"/>
                  <a:t>variables/features describing different states</a:t>
                </a:r>
              </a:p>
              <a:p>
                <a:r>
                  <a:rPr lang="en-DE" sz="2600" dirty="0"/>
                  <a:t>parameters (e.g., connection weights in neural network) to be learned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o</a:t>
                </a:r>
                <a:r>
                  <a:rPr lang="en-DE" sz="2600" dirty="0"/>
                  <a:t>bjective function </a:t>
                </a:r>
                <a:r>
                  <a:rPr lang="en-GB" sz="2600" dirty="0"/>
                  <a:t>for supervised learning </a:t>
                </a:r>
                <a:r>
                  <a:rPr lang="en-DE" sz="2600" dirty="0"/>
                  <a:t>(e.g., squared error loss):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𝐽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 smtClean="0">
                                  <a:latin typeface="Cambria Math" panose="02040503050406030204" pitchFamily="18" charset="0"/>
                                </a:rPr>
                                <m:t>𝒘</m:t>
                              </m:r>
                            </m:e>
                          </m:acc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  <m:sub>
                                      <m:r>
                                        <a:rPr lang="en-US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en-US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</m:d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𝑣</m:t>
                                      </m:r>
                                    </m:e>
                                  </m:acc>
                                  <m:d>
                                    <m:d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;</m:t>
                                      </m:r>
                                      <m:acc>
                                        <m:accPr>
                                          <m:chr m:val="̂"/>
                                          <m:ctrlPr>
                                            <a:rPr lang="en-DE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b="1" i="1">
                                              <a:latin typeface="Cambria Math" panose="02040503050406030204" pitchFamily="18" charset="0"/>
                                            </a:rPr>
                                            <m:t>𝒘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parameters/weights t</a:t>
                </a:r>
                <a:r>
                  <a:rPr lang="en-DE" sz="2600" dirty="0"/>
                  <a:t>o be optimized via (stochastic) gradient descent</a:t>
                </a:r>
                <a:endParaRPr lang="en-GB" sz="2600" dirty="0"/>
              </a:p>
              <a:p>
                <a:pPr marL="0" indent="0">
                  <a:buNone/>
                </a:pPr>
                <a:r>
                  <a:rPr lang="en-GB" sz="2600" dirty="0">
                    <a:sym typeface="Wingdings" panose="05000000000000000000" pitchFamily="2" charset="2"/>
                  </a:rPr>
                  <a:t> RL problem expressed in supervised learning setup (potentially offline/batch data)</a:t>
                </a:r>
              </a:p>
              <a:p>
                <a:pPr marL="0" indent="0">
                  <a:buNone/>
                </a:pPr>
                <a:r>
                  <a:rPr lang="en-GB" sz="2600" dirty="0"/>
                  <a:t>but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sz="2600" dirty="0"/>
                  <a:t> still calculated via RL methods (e.g., bootstrapping)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3F99D0-CFDF-27C8-3365-520B765419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686535" cy="4351338"/>
              </a:xfrm>
              <a:blipFill>
                <a:blip r:embed="rId2"/>
                <a:stretch>
                  <a:fillRect l="-950" t="-3198" b="-9302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5805F3C-335B-C1BC-6FB9-2C6352D54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AC537F-A3FB-44AF-BDEE-A2377F81F911}"/>
              </a:ext>
            </a:extLst>
          </p:cNvPr>
          <p:cNvSpPr txBox="1"/>
          <p:nvPr/>
        </p:nvSpPr>
        <p:spPr>
          <a:xfrm>
            <a:off x="8905009" y="289242"/>
            <a:ext cx="3064567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b="1" dirty="0"/>
              <a:t>online</a:t>
            </a:r>
            <a:r>
              <a:rPr lang="en-GB" dirty="0"/>
              <a:t> setting: learning while interacting with environment</a:t>
            </a:r>
          </a:p>
          <a:p>
            <a:r>
              <a:rPr lang="en-GB" b="1" dirty="0"/>
              <a:t>offline</a:t>
            </a:r>
            <a:r>
              <a:rPr lang="en-GB" dirty="0"/>
              <a:t> setting: learning from limited data without further interaction with environment </a:t>
            </a:r>
          </a:p>
        </p:txBody>
      </p:sp>
    </p:spTree>
    <p:extLst>
      <p:ext uri="{BB962C8B-B14F-4D97-AF65-F5344CB8AC3E}">
        <p14:creationId xmlns:p14="http://schemas.microsoft.com/office/powerpoint/2010/main" val="363286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883DB-E404-7153-C238-BBD811CE0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DE" dirty="0"/>
              <a:t>ide Note: i.i.d. Assumption in ML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6E391-6DBA-AA88-4BA6-E8AF3AC078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:r>
                  <a:rPr lang="en-GB" sz="2600" dirty="0"/>
                  <a:t>assumption of independent and identically distributed </a:t>
                </a:r>
                <a:r>
                  <a:rPr lang="en-DE" sz="2600" dirty="0">
                    <a:sym typeface="Wingdings" pitchFamily="2" charset="2"/>
                  </a:rPr>
                  <a:t>sets of random variables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DE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sz="2600" i="1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d>
                      <m:dPr>
                        <m:ctrlPr>
                          <a:rPr lang="en-DE" sz="2600" i="1" smtClean="0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600" i="1" smtClean="0">
                        <a:latin typeface="Cambria Math" panose="02040503050406030204" pitchFamily="18" charset="0"/>
                        <a:sym typeface="Wingdings" pitchFamily="2" charset="2"/>
                      </a:rPr>
                      <m:t>,</m:t>
                    </m:r>
                    <m:r>
                      <a:rPr lang="en-US" sz="2600" i="1">
                        <a:latin typeface="Cambria Math" panose="02040503050406030204" pitchFamily="18" charset="0"/>
                        <a:sym typeface="Wingdings" pitchFamily="2" charset="2"/>
                      </a:rPr>
                      <m:t>…, </m:t>
                    </m:r>
                    <m:d>
                      <m:dPr>
                        <m:ctrlPr>
                          <a:rPr lang="en-DE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DE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𝑌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  <m:r>
                          <a:rPr lang="en-US" sz="2600" i="1">
                            <a:latin typeface="Cambria Math" panose="02040503050406030204" pitchFamily="18" charset="0"/>
                            <a:sym typeface="Wingdings" pitchFamily="2" charset="2"/>
                          </a:rPr>
                          <m:t>,</m:t>
                        </m:r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</m:ctrlPr>
                          </m:sSubPr>
                          <m:e>
                            <m:r>
                              <a:rPr lang="en-US" sz="2600" b="1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𝑿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  <a:sym typeface="Wingdings" pitchFamily="2" charset="2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GB" sz="2600" dirty="0"/>
                  <a:t> fundamental to statistical (supervised) learning in terms of g</a:t>
                </a:r>
                <a:r>
                  <a:rPr lang="en-DE" sz="2600" dirty="0"/>
                  <a:t>eneralization:</a:t>
                </a:r>
              </a:p>
              <a:p>
                <a:pPr marL="0" indent="0">
                  <a:buNone/>
                </a:pPr>
                <a:r>
                  <a:rPr lang="en-DE" sz="2600" dirty="0"/>
                  <a:t>consistent training and test data sets basis of empirical risk minimization</a:t>
                </a:r>
              </a:p>
              <a:p>
                <a:pPr marL="0" indent="0">
                  <a:buNone/>
                </a:pPr>
                <a:r>
                  <a:rPr lang="en-DE" sz="2600" dirty="0"/>
                  <a:t>(adversarial vulnerability/attacks: targeted violations of i.i.d. assumption)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RL</a:t>
                </a:r>
                <a:r>
                  <a:rPr lang="en-DE" sz="2600" dirty="0"/>
                  <a:t>: MDP outside of i.i.d. setting (</a:t>
                </a:r>
                <a:r>
                  <a:rPr lang="en-DE" sz="2600" dirty="0">
                    <a:sym typeface="Wingdings" pitchFamily="2" charset="2"/>
                  </a:rPr>
                  <a:t> </a:t>
                </a:r>
                <a:r>
                  <a:rPr lang="en-DE" sz="2600" dirty="0"/>
                  <a:t>use techniques like experience replay in training of supervised learning models for value functions with observations)</a:t>
                </a:r>
              </a:p>
              <a:p>
                <a:pPr marL="0" indent="0">
                  <a:buNone/>
                </a:pPr>
                <a:endParaRPr lang="en-DE" sz="2600" dirty="0"/>
              </a:p>
              <a:p>
                <a:pPr marL="0" indent="0">
                  <a:buNone/>
                </a:pPr>
                <a:r>
                  <a:rPr lang="en-GB" sz="2600" dirty="0"/>
                  <a:t>c</a:t>
                </a:r>
                <a:r>
                  <a:rPr lang="en-DE" sz="2600" dirty="0"/>
                  <a:t>ausal models: interventions outside of i.i.d. setting (need for causal model)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96E391-6DBA-AA88-4BA6-E8AF3AC078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5" t="-2035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FF846-B1BA-79F1-F445-085F1CB47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177859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7AE52-FDD7-D241-9B9D-D58ADBCFC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Deadly Triad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970F1-3615-D94D-A96D-9C64B78B0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4573"/>
            <a:ext cx="8371703" cy="278176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400" dirty="0"/>
              <a:t>issue in deep RL: combination of off-policy bootstrapping (e.g., Q-learning) with high-dimensional function approximation leads to non-stationary targets (unstable)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most popular technique to overcome this: </a:t>
            </a:r>
            <a:r>
              <a:rPr lang="en-GB" sz="2400" dirty="0"/>
              <a:t>target networks in DQN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/>
              <a:t>alternative (to conventional RL): upside–down RL</a:t>
            </a:r>
          </a:p>
          <a:p>
            <a:pPr marL="0" indent="0">
              <a:buNone/>
            </a:pPr>
            <a:r>
              <a:rPr lang="en-GB" sz="2400" dirty="0">
                <a:sym typeface="Wingdings" pitchFamily="2" charset="2"/>
              </a:rPr>
              <a:t> </a:t>
            </a:r>
            <a:r>
              <a:rPr lang="en-GB" sz="2400" dirty="0"/>
              <a:t>n</a:t>
            </a:r>
            <a:r>
              <a:rPr lang="en-DE" sz="2400" dirty="0"/>
              <a:t>o bootstrapping</a:t>
            </a:r>
            <a:r>
              <a:rPr lang="en-GB" sz="2400" dirty="0"/>
              <a:t>, just supervised learning with “command” features (hindsight return in training, kind of prompt in inference)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6C464F-4A18-1B46-B11C-63CE6F647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4C2C1F-BED8-2340-8784-C66D22CCFBBD}" type="slidenum">
              <a:rPr lang="en-DE" smtClean="0"/>
              <a:t>7</a:t>
            </a:fld>
            <a:endParaRPr lang="en-DE"/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59528C6B-62AC-DC9E-E87A-E92CE91EE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17" y="4286157"/>
            <a:ext cx="6435612" cy="2475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C574BCB-6FC6-4577-AD9E-53A29F667898}"/>
              </a:ext>
            </a:extLst>
          </p:cNvPr>
          <p:cNvSpPr txBox="1"/>
          <p:nvPr/>
        </p:nvSpPr>
        <p:spPr>
          <a:xfrm>
            <a:off x="6328064" y="6492875"/>
            <a:ext cx="56560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000" dirty="0">
                <a:hlinkClick r:id="rId3"/>
              </a:rPr>
              <a:t>source</a:t>
            </a:r>
            <a:endParaRPr lang="de-DE" sz="1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52D04-90C0-5D2C-4D41-34921BB95558}"/>
              </a:ext>
            </a:extLst>
          </p:cNvPr>
          <p:cNvSpPr txBox="1"/>
          <p:nvPr/>
        </p:nvSpPr>
        <p:spPr>
          <a:xfrm>
            <a:off x="7471719" y="4708409"/>
            <a:ext cx="467889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But policy improvement (i.e., higher return) beyond training examples (extrapolation) usually still requires policy iteration (here: iteratively updated trainings with new data with higher returns).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6E8DA-B48D-BDC0-BDAF-60AFDFB586D1}"/>
              </a:ext>
            </a:extLst>
          </p:cNvPr>
          <p:cNvSpPr txBox="1"/>
          <p:nvPr/>
        </p:nvSpPr>
        <p:spPr>
          <a:xfrm>
            <a:off x="8956964" y="2162545"/>
            <a:ext cx="319364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dirty="0"/>
              <a:t>offline RL: no interaction with environment, just fixed data set of trajectory rollouts of arbitrary policies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8B28B6F-15A7-EF2E-82DA-320CA07C1712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9811165" y="3485984"/>
            <a:ext cx="742623" cy="12224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398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Macintosh PowerPoint</Application>
  <PresentationFormat>Breitbild</PresentationFormat>
  <Paragraphs>66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Cambria Math</vt:lpstr>
      <vt:lpstr>Wingdings</vt:lpstr>
      <vt:lpstr>Office Theme</vt:lpstr>
      <vt:lpstr>Function Approximation</vt:lpstr>
      <vt:lpstr>Course Schedule</vt:lpstr>
      <vt:lpstr>Function Approximation</vt:lpstr>
      <vt:lpstr>Limitation of Tabular Methods</vt:lpstr>
      <vt:lpstr>Approximate Solution Methods</vt:lpstr>
      <vt:lpstr>Side Note: i.i.d. Assumption in ML</vt:lpstr>
      <vt:lpstr>The Deadly Triad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56</cp:revision>
  <dcterms:created xsi:type="dcterms:W3CDTF">2025-01-08T09:27:30Z</dcterms:created>
  <dcterms:modified xsi:type="dcterms:W3CDTF">2026-01-26T21:03:48Z</dcterms:modified>
</cp:coreProperties>
</file>