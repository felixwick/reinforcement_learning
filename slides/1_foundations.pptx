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67" r:id="rId3"/>
    <p:sldId id="266" r:id="rId4"/>
    <p:sldId id="257" r:id="rId5"/>
    <p:sldId id="549" r:id="rId6"/>
    <p:sldId id="546" r:id="rId7"/>
    <p:sldId id="262" r:id="rId8"/>
    <p:sldId id="5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29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Foundations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Markov </a:t>
            </a:r>
            <a:r>
              <a:rPr lang="de-DE" dirty="0" err="1"/>
              <a:t>Decision</a:t>
            </a:r>
            <a:r>
              <a:rPr lang="de-DE" dirty="0"/>
              <a:t> </a:t>
            </a:r>
            <a:r>
              <a:rPr lang="de-DE" dirty="0" err="1"/>
              <a:t>Processes</a:t>
            </a:r>
            <a:endParaRPr lang="de-DE" dirty="0"/>
          </a:p>
          <a:p>
            <a:r>
              <a:rPr lang="de-DE" dirty="0" err="1"/>
              <a:t>Rewards</a:t>
            </a:r>
            <a:r>
              <a:rPr lang="de-DE" dirty="0"/>
              <a:t>, </a:t>
            </a:r>
            <a:r>
              <a:rPr lang="de-DE" dirty="0" err="1"/>
              <a:t>returns</a:t>
            </a:r>
            <a:r>
              <a:rPr lang="de-DE" dirty="0"/>
              <a:t>, </a:t>
            </a:r>
            <a:r>
              <a:rPr lang="de-DE" dirty="0" err="1"/>
              <a:t>horizon</a:t>
            </a:r>
            <a:r>
              <a:rPr lang="de-DE" dirty="0"/>
              <a:t>, </a:t>
            </a:r>
            <a:r>
              <a:rPr lang="de-DE" dirty="0" err="1"/>
              <a:t>discounting</a:t>
            </a:r>
            <a:endParaRPr lang="de-DE" dirty="0"/>
          </a:p>
          <a:p>
            <a:r>
              <a:rPr lang="de-DE" dirty="0" err="1"/>
              <a:t>Policies</a:t>
            </a:r>
            <a:r>
              <a:rPr lang="de-DE" dirty="0"/>
              <a:t> (</a:t>
            </a:r>
            <a:r>
              <a:rPr lang="de-DE" dirty="0" err="1"/>
              <a:t>deterministic</a:t>
            </a:r>
            <a:r>
              <a:rPr lang="de-DE" dirty="0"/>
              <a:t>, </a:t>
            </a:r>
            <a:r>
              <a:rPr lang="de-DE" dirty="0" err="1"/>
              <a:t>stochastic</a:t>
            </a:r>
            <a:r>
              <a:rPr lang="de-DE" dirty="0"/>
              <a:t>)</a:t>
            </a:r>
          </a:p>
          <a:p>
            <a:r>
              <a:rPr lang="de-DE" dirty="0"/>
              <a:t>Exploration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exploitation</a:t>
            </a:r>
            <a:endParaRPr lang="de-DE" dirty="0"/>
          </a:p>
          <a:p>
            <a:r>
              <a:rPr lang="de-DE" dirty="0"/>
              <a:t>On-</a:t>
            </a:r>
            <a:r>
              <a:rPr lang="de-DE" dirty="0" err="1"/>
              <a:t>policy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off-</a:t>
            </a:r>
            <a:r>
              <a:rPr lang="de-DE" dirty="0" err="1"/>
              <a:t>policy</a:t>
            </a:r>
            <a:endParaRPr lang="de-DE" dirty="0"/>
          </a:p>
          <a:p>
            <a:r>
              <a:rPr lang="de-DE" dirty="0" err="1"/>
              <a:t>Episodic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continuing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CE220-F6B8-09A9-4663-EFAB3EE1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Sequential Decision Making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E2608-0A86-BFD4-C06E-1A932596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9382" cy="3671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dirty="0"/>
              <a:t>reinforcement learning (RL): </a:t>
            </a:r>
          </a:p>
          <a:p>
            <a:pPr marL="0" indent="0">
              <a:buNone/>
            </a:pPr>
            <a:r>
              <a:rPr lang="en-GB" sz="2600" dirty="0"/>
              <a:t>formalization of sequential decision making (action policy) of software</a:t>
            </a:r>
            <a:r>
              <a:rPr lang="en-DE" sz="2600" dirty="0"/>
              <a:t> agent interacting with environment</a:t>
            </a:r>
          </a:p>
          <a:p>
            <a:pPr marL="0" indent="0">
              <a:buNone/>
            </a:pPr>
            <a:endParaRPr lang="en-DE" sz="2600" dirty="0"/>
          </a:p>
          <a:p>
            <a:pPr marL="0" indent="0">
              <a:buNone/>
            </a:pPr>
            <a:r>
              <a:rPr lang="en-GB" sz="2600" dirty="0"/>
              <a:t>c</a:t>
            </a:r>
            <a:r>
              <a:rPr lang="en-DE" sz="2600" dirty="0"/>
              <a:t>orresponds to search for best (or rather good) action policy to reach a given goal (e.g., win a game)</a:t>
            </a:r>
          </a:p>
          <a:p>
            <a:pPr marL="0" indent="0">
              <a:buNone/>
            </a:pPr>
            <a:r>
              <a:rPr lang="en-DE" sz="2600" dirty="0"/>
              <a:t>using learning from examples (data) to guide the search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0971B2-FD1C-52C8-1EA4-6B8FB61BD757}"/>
              </a:ext>
            </a:extLst>
          </p:cNvPr>
          <p:cNvGrpSpPr/>
          <p:nvPr/>
        </p:nvGrpSpPr>
        <p:grpSpPr>
          <a:xfrm>
            <a:off x="8610600" y="1916917"/>
            <a:ext cx="2750387" cy="2991600"/>
            <a:chOff x="4623579" y="1771810"/>
            <a:chExt cx="2750387" cy="29862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8F14FA-5CD0-19C2-6EE7-688420177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3579" y="2701661"/>
              <a:ext cx="2750387" cy="134081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438C21-2B0B-B4BD-4B42-6AAD917F6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9482" y="1771810"/>
              <a:ext cx="1021958" cy="9180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1A7730-A865-3E78-2E6A-F69A453B8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5708287" y="4001698"/>
              <a:ext cx="544348" cy="756357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270C63-D3DC-A43C-D62D-538565C1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35EDC-32D6-3BBA-1E46-38F485980525}"/>
              </a:ext>
            </a:extLst>
          </p:cNvPr>
          <p:cNvSpPr txBox="1"/>
          <p:nvPr/>
        </p:nvSpPr>
        <p:spPr>
          <a:xfrm>
            <a:off x="838200" y="5438766"/>
            <a:ext cx="110905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/>
              <a:t>RL usually more difficult (e.g., non-differentiable as a whole) than</a:t>
            </a:r>
            <a:r>
              <a:rPr lang="en-DE" sz="2600" dirty="0"/>
              <a:t> supervised learning (which can be seen as “generalized optimization”, often of proxy metric)</a:t>
            </a:r>
          </a:p>
        </p:txBody>
      </p:sp>
    </p:spTree>
    <p:extLst>
      <p:ext uri="{BB962C8B-B14F-4D97-AF65-F5344CB8AC3E}">
        <p14:creationId xmlns:p14="http://schemas.microsoft.com/office/powerpoint/2010/main" val="12857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21DF-BB12-89F5-C7E1-D4343D4F3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DE" sz="4400" dirty="0"/>
              <a:t>ain </a:t>
            </a:r>
            <a:r>
              <a:rPr lang="en-DE" dirty="0"/>
              <a:t>E</a:t>
            </a:r>
            <a:r>
              <a:rPr lang="en-DE" sz="4400" dirty="0"/>
              <a:t>lements of RL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A3C14-1EE9-A204-B53C-4AE63C8AB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600" dirty="0"/>
              <a:t>goal: find action policy maximizing reward from environment</a:t>
            </a:r>
          </a:p>
          <a:p>
            <a:pPr marL="0" indent="0">
              <a:buNone/>
            </a:pPr>
            <a:endParaRPr lang="en-GB" sz="2600" b="1" dirty="0"/>
          </a:p>
          <a:p>
            <a:pPr marL="0" indent="0">
              <a:buNone/>
            </a:pPr>
            <a:r>
              <a:rPr lang="en-GB" sz="2600" b="1" dirty="0"/>
              <a:t>action p</a:t>
            </a:r>
            <a:r>
              <a:rPr lang="en-DE" sz="2600" b="1" dirty="0"/>
              <a:t>olicy</a:t>
            </a:r>
            <a:r>
              <a:rPr lang="en-DE" sz="2600" dirty="0"/>
              <a:t>: exploration-exploitation trade-off</a:t>
            </a:r>
          </a:p>
          <a:p>
            <a:r>
              <a:rPr lang="en-GB" sz="2600" dirty="0"/>
              <a:t>e.g., e</a:t>
            </a:r>
            <a:r>
              <a:rPr lang="en-DE" sz="2600" dirty="0"/>
              <a:t>psilon-greedy: random exploration at small fraction of the time</a:t>
            </a:r>
          </a:p>
          <a:p>
            <a:r>
              <a:rPr lang="en-DE" sz="2600" dirty="0"/>
              <a:t>off-policy instead of on-policy learning: </a:t>
            </a:r>
            <a:r>
              <a:rPr lang="en-GB" sz="2600" dirty="0"/>
              <a:t>p</a:t>
            </a:r>
            <a:r>
              <a:rPr lang="en-DE" sz="2600" dirty="0"/>
              <a:t>olicy for</a:t>
            </a:r>
            <a:r>
              <a:rPr lang="en-GB" sz="2600" dirty="0"/>
              <a:t> generating observations to learn from (exploration) independent from updated policy (current best)</a:t>
            </a:r>
          </a:p>
          <a:p>
            <a:pPr marL="0" indent="0">
              <a:buNone/>
            </a:pPr>
            <a:r>
              <a:rPr lang="en-GB" sz="2600" b="1" dirty="0"/>
              <a:t>feedback from environment</a:t>
            </a:r>
            <a:r>
              <a:rPr lang="en-GB" sz="2600" dirty="0"/>
              <a:t>: goal-directed, no supervision</a:t>
            </a:r>
          </a:p>
          <a:p>
            <a:r>
              <a:rPr lang="en-GB" sz="2600" dirty="0"/>
              <a:t>scalar r</a:t>
            </a:r>
            <a:r>
              <a:rPr lang="en-DE" sz="2600" dirty="0"/>
              <a:t>eward signal</a:t>
            </a:r>
            <a:endParaRPr lang="en-GB" sz="2600" dirty="0"/>
          </a:p>
          <a:p>
            <a:r>
              <a:rPr lang="en-GB" sz="2600" dirty="0"/>
              <a:t>cumulative and delayed rewards (credit assignment problem)</a:t>
            </a:r>
            <a:endParaRPr lang="en-DE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57DD8-C6E7-34CC-50D9-6100F19F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923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DEDA-AB76-774F-BC78-9FAC7097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Optional Elements of 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8759B-188B-A6C8-FB1F-E82713EC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62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b="1" dirty="0"/>
              <a:t>v</a:t>
            </a:r>
            <a:r>
              <a:rPr lang="en-DE" sz="2800" b="1" dirty="0"/>
              <a:t>alue functions for states or actions</a:t>
            </a:r>
            <a:r>
              <a:rPr lang="en-DE" sz="2800" dirty="0"/>
              <a:t>: improve efficiency of search in vast action policy space (alternative: direct policy search)</a:t>
            </a:r>
          </a:p>
          <a:p>
            <a:pPr marL="0" indent="0">
              <a:buNone/>
            </a:pPr>
            <a:endParaRPr lang="en-GB" sz="2800" b="1" dirty="0"/>
          </a:p>
          <a:p>
            <a:pPr marL="0" indent="0">
              <a:buNone/>
            </a:pPr>
            <a:r>
              <a:rPr lang="en-GB" sz="2800" b="1" dirty="0"/>
              <a:t>m</a:t>
            </a:r>
            <a:r>
              <a:rPr lang="en-DE" sz="2800" b="1" dirty="0"/>
              <a:t>odel of environment</a:t>
            </a:r>
            <a:r>
              <a:rPr lang="en-DE" sz="2800" dirty="0"/>
              <a:t>: </a:t>
            </a:r>
            <a:r>
              <a:rPr lang="en-GB" dirty="0"/>
              <a:t>(model-free) learning from trial-and-error or (model-based) planning</a:t>
            </a:r>
          </a:p>
        </p:txBody>
      </p:sp>
      <p:pic>
        <p:nvPicPr>
          <p:cNvPr id="4" name="Picture 3" descr="A close up of text on a black background&#10;&#10;Description automatically generated">
            <a:extLst>
              <a:ext uri="{FF2B5EF4-FFF2-40B4-BE49-F238E27FC236}">
                <a16:creationId xmlns:a16="http://schemas.microsoft.com/office/drawing/2014/main" id="{2B7EE660-EA8E-7DCA-7B32-53F5CFA81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869" y="3756545"/>
            <a:ext cx="3488728" cy="270819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0F20F-191C-79ED-062D-71B8156F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676442-B723-787F-4E14-CA64210D2A3C}"/>
              </a:ext>
            </a:extLst>
          </p:cNvPr>
          <p:cNvSpPr txBox="1"/>
          <p:nvPr/>
        </p:nvSpPr>
        <p:spPr>
          <a:xfrm>
            <a:off x="8329803" y="6415801"/>
            <a:ext cx="814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 err="1"/>
              <a:t>from</a:t>
            </a:r>
            <a:r>
              <a:rPr lang="de-DE" sz="1000" dirty="0"/>
              <a:t> Sutton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8CC93-2109-5FA9-F4D8-B2E565CF3109}"/>
              </a:ext>
            </a:extLst>
          </p:cNvPr>
          <p:cNvSpPr txBox="1"/>
          <p:nvPr/>
        </p:nvSpPr>
        <p:spPr>
          <a:xfrm>
            <a:off x="838199" y="4187314"/>
            <a:ext cx="76096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sz="2600" dirty="0"/>
              <a:t>model of environment can be used in different ways: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simulate experience from model (for learning)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600" dirty="0"/>
              <a:t>decision-time planning (e.g., heuristic search or model predictive control)</a:t>
            </a:r>
          </a:p>
        </p:txBody>
      </p:sp>
      <p:pic>
        <p:nvPicPr>
          <p:cNvPr id="9" name="Picture 8" descr="A picture containing rectangle&#10;&#10;Description automatically generated">
            <a:extLst>
              <a:ext uri="{FF2B5EF4-FFF2-40B4-BE49-F238E27FC236}">
                <a16:creationId xmlns:a16="http://schemas.microsoft.com/office/drawing/2014/main" id="{89A8F50A-D993-26EE-5182-E92AB1B75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076" y="6016834"/>
            <a:ext cx="4004792" cy="52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7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12A7-8CC3-1B17-2EC8-BCE95006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Markov Decision Process (MDP)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B01E6-E4CA-9628-FD2B-1086F8629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idea: c</a:t>
            </a:r>
            <a:r>
              <a:rPr lang="en-DE" dirty="0"/>
              <a:t>urrent state includes all information about past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DE" dirty="0"/>
              <a:t>transition probabilities between states describe dynamics of given MDP</a:t>
            </a:r>
          </a:p>
          <a:p>
            <a:pPr marL="0" indent="0">
              <a:buNone/>
            </a:pPr>
            <a:endParaRPr lang="en-DE" dirty="0"/>
          </a:p>
          <a:p>
            <a:pPr marL="0" indent="0">
              <a:buNone/>
            </a:pPr>
            <a:r>
              <a:rPr lang="en-GB" dirty="0"/>
              <a:t>action policy: mapping from states to probabilities for selection of different actions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5900-4F95-99EA-6581-98C2619E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2262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4BA3-6670-5516-DB58-BEC0C42E7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States, Actions, and Rewards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2D9BB-C0D7-9AEE-BB75-E5A194324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DE" sz="2800" dirty="0"/>
                  <a:t>transition probabilities (model of environment):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endParaRPr lang="en-DE" sz="2800" dirty="0"/>
              </a:p>
              <a:p>
                <a:pPr marL="0" indent="0">
                  <a:buNone/>
                </a:pPr>
                <a:r>
                  <a:rPr lang="en-GB" sz="2800" dirty="0"/>
                  <a:t>r</a:t>
                </a:r>
                <a:r>
                  <a:rPr lang="en-DE" sz="2800" dirty="0"/>
                  <a:t>eward hypothesis: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800" dirty="0"/>
                  <a:t>reward as scalar signal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800" dirty="0"/>
                  <a:t>goal: m</a:t>
                </a:r>
                <a:r>
                  <a:rPr lang="en-DE" sz="2800" dirty="0"/>
                  <a:t>aximization of expected cumulative sum of received rewards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C2D9BB-C0D7-9AEE-BB75-E5A194324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 b="-29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A76F-6D9B-9744-FB75-68245B43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8</a:t>
            </a:fld>
            <a:endParaRPr lang="en-D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84E601-3CF9-B816-3889-FF6DF242937C}"/>
              </a:ext>
            </a:extLst>
          </p:cNvPr>
          <p:cNvGrpSpPr/>
          <p:nvPr/>
        </p:nvGrpSpPr>
        <p:grpSpPr>
          <a:xfrm>
            <a:off x="3883572" y="2262237"/>
            <a:ext cx="4424855" cy="2501685"/>
            <a:chOff x="3883572" y="2262237"/>
            <a:chExt cx="4424855" cy="2501685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3413B43F-8BC6-12FB-ED74-AFBAB206B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83572" y="2262237"/>
              <a:ext cx="4424855" cy="250168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F09874-FBCF-72EA-9468-B6A3F561867B}"/>
                </a:ext>
              </a:extLst>
            </p:cNvPr>
            <p:cNvSpPr/>
            <p:nvPr/>
          </p:nvSpPr>
          <p:spPr>
            <a:xfrm>
              <a:off x="3883572" y="3552497"/>
              <a:ext cx="898635" cy="1261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3343932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Macintosh PowerPoint</Application>
  <PresentationFormat>Breitbild</PresentationFormat>
  <Paragraphs>71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Foundations</vt:lpstr>
      <vt:lpstr>Course Schedule</vt:lpstr>
      <vt:lpstr>Foundations</vt:lpstr>
      <vt:lpstr>Sequential Decision Making</vt:lpstr>
      <vt:lpstr>Main Elements of RL</vt:lpstr>
      <vt:lpstr>Optional Elements of RL</vt:lpstr>
      <vt:lpstr>Markov Decision Process (MDP)</vt:lpstr>
      <vt:lpstr>States, Actions, and Rewards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51</cp:revision>
  <dcterms:created xsi:type="dcterms:W3CDTF">2025-01-08T09:27:30Z</dcterms:created>
  <dcterms:modified xsi:type="dcterms:W3CDTF">2026-01-26T21:06:33Z</dcterms:modified>
</cp:coreProperties>
</file>