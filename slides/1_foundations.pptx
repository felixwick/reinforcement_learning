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67" r:id="rId3"/>
    <p:sldId id="266" r:id="rId4"/>
    <p:sldId id="257" r:id="rId5"/>
    <p:sldId id="550" r:id="rId6"/>
    <p:sldId id="546" r:id="rId7"/>
    <p:sldId id="262" r:id="rId8"/>
    <p:sldId id="54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Foundations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Tabular</a:t>
            </a:r>
            <a:r>
              <a:rPr lang="de-DE" dirty="0"/>
              <a:t> Methods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Function</a:t>
            </a:r>
            <a:r>
              <a:rPr lang="de-DE" dirty="0"/>
              <a:t> Approximation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Deep Q-Learning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268191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Policy Gradient Methods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Actor-</a:t>
            </a:r>
            <a:r>
              <a:rPr lang="de-DE" dirty="0" err="1"/>
              <a:t>Critic</a:t>
            </a:r>
            <a:r>
              <a:rPr lang="de-DE" dirty="0"/>
              <a:t> Methods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Beyond</a:t>
            </a:r>
            <a:r>
              <a:rPr lang="de-DE" dirty="0"/>
              <a:t> Online Model-Free RL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Embodied</a:t>
            </a:r>
            <a:r>
              <a:rPr lang="de-DE" dirty="0"/>
              <a:t> RL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0290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54CE0-BAFB-F9B0-668F-121821B8B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Foundations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94ABEC-DFA9-E877-8C19-A56BC6A1A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Markov </a:t>
            </a:r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 err="1"/>
              <a:t>Rewards</a:t>
            </a:r>
            <a:r>
              <a:rPr lang="de-DE" dirty="0"/>
              <a:t>, </a:t>
            </a:r>
            <a:r>
              <a:rPr lang="de-DE" dirty="0" err="1"/>
              <a:t>returns</a:t>
            </a:r>
            <a:r>
              <a:rPr lang="de-DE" dirty="0"/>
              <a:t>, </a:t>
            </a:r>
            <a:r>
              <a:rPr lang="de-DE" dirty="0" err="1"/>
              <a:t>horizon</a:t>
            </a:r>
            <a:r>
              <a:rPr lang="de-DE" dirty="0"/>
              <a:t>, </a:t>
            </a:r>
            <a:r>
              <a:rPr lang="de-DE" dirty="0" err="1"/>
              <a:t>discounting</a:t>
            </a:r>
            <a:endParaRPr lang="de-DE" dirty="0"/>
          </a:p>
          <a:p>
            <a:r>
              <a:rPr lang="de-DE" dirty="0" err="1"/>
              <a:t>Policies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,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Exploration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exploitation</a:t>
            </a:r>
            <a:endParaRPr lang="de-DE" dirty="0"/>
          </a:p>
          <a:p>
            <a:r>
              <a:rPr lang="de-DE" dirty="0"/>
              <a:t>On-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off-</a:t>
            </a:r>
            <a:r>
              <a:rPr lang="de-DE" dirty="0" err="1"/>
              <a:t>policy</a:t>
            </a:r>
            <a:endParaRPr lang="de-DE" dirty="0"/>
          </a:p>
          <a:p>
            <a:r>
              <a:rPr lang="de-DE" dirty="0" err="1"/>
              <a:t>Episodic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continuing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2BA8F83-5EF2-341E-9942-5EE099C5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05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CE220-F6B8-09A9-4663-EFAB3EE1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Sequential Decision Making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E2608-0A86-BFD4-C06E-1A9325966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69382" cy="36714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reinforcement learning (RL): </a:t>
            </a:r>
          </a:p>
          <a:p>
            <a:pPr marL="0" indent="0">
              <a:buNone/>
            </a:pPr>
            <a:r>
              <a:rPr lang="en-GB" sz="2600" dirty="0"/>
              <a:t>formalization of sequential decision making (action policy) of software</a:t>
            </a:r>
            <a:r>
              <a:rPr lang="en-DE" sz="2600" dirty="0"/>
              <a:t> agent interacting with environment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c</a:t>
            </a:r>
            <a:r>
              <a:rPr lang="en-DE" sz="2600" dirty="0"/>
              <a:t>orresponds to search for best (or rather good) action policy to reach a given goal (e.g., win a game)</a:t>
            </a:r>
          </a:p>
          <a:p>
            <a:pPr marL="0" indent="0">
              <a:buNone/>
            </a:pPr>
            <a:r>
              <a:rPr lang="en-DE" sz="2600" dirty="0"/>
              <a:t>using learning from examples (data) to guide the search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0971B2-FD1C-52C8-1EA4-6B8FB61BD757}"/>
              </a:ext>
            </a:extLst>
          </p:cNvPr>
          <p:cNvGrpSpPr/>
          <p:nvPr/>
        </p:nvGrpSpPr>
        <p:grpSpPr>
          <a:xfrm>
            <a:off x="8610600" y="1916917"/>
            <a:ext cx="2750387" cy="2991600"/>
            <a:chOff x="4623579" y="1771810"/>
            <a:chExt cx="2750387" cy="298624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48F14FA-5CD0-19C2-6EE7-688420177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23579" y="2701661"/>
              <a:ext cx="2750387" cy="1340814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438C21-2B0B-B4BD-4B42-6AAD917F62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69482" y="1771810"/>
              <a:ext cx="1021958" cy="9180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31A7730-A865-3E78-2E6A-F69A453B8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708287" y="4001698"/>
              <a:ext cx="544348" cy="756357"/>
            </a:xfrm>
            <a:prstGeom prst="rect">
              <a:avLst/>
            </a:prstGeom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1270C63-D3DC-A43C-D62D-538565C1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4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C35EDC-32D6-3BBA-1E46-38F485980525}"/>
              </a:ext>
            </a:extLst>
          </p:cNvPr>
          <p:cNvSpPr txBox="1"/>
          <p:nvPr/>
        </p:nvSpPr>
        <p:spPr>
          <a:xfrm>
            <a:off x="838200" y="5438766"/>
            <a:ext cx="1109056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RL usually more difficult (e.g., non-differentiable as a whole) than</a:t>
            </a:r>
            <a:r>
              <a:rPr lang="en-DE" sz="2600" dirty="0"/>
              <a:t> supervised learning (which can be seen as “generalized optimization”, often of proxy metric)</a:t>
            </a:r>
          </a:p>
        </p:txBody>
      </p:sp>
    </p:spTree>
    <p:extLst>
      <p:ext uri="{BB962C8B-B14F-4D97-AF65-F5344CB8AC3E}">
        <p14:creationId xmlns:p14="http://schemas.microsoft.com/office/powerpoint/2010/main" val="128577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921DF-BB12-89F5-C7E1-D4343D4F3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sz="4400" dirty="0"/>
              <a:t>ain </a:t>
            </a:r>
            <a:r>
              <a:rPr lang="en-DE" dirty="0"/>
              <a:t>E</a:t>
            </a:r>
            <a:r>
              <a:rPr lang="en-DE" sz="4400" dirty="0"/>
              <a:t>lements of RL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A3C14-1EE9-A204-B53C-4AE63C8AB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600" dirty="0"/>
              <a:t>goal: find action policy maximizing reward from environment</a:t>
            </a:r>
          </a:p>
          <a:p>
            <a:pPr marL="0" indent="0">
              <a:buNone/>
            </a:pPr>
            <a:endParaRPr lang="en-GB" sz="2600" b="1" dirty="0"/>
          </a:p>
          <a:p>
            <a:pPr marL="0" indent="0">
              <a:buNone/>
            </a:pPr>
            <a:r>
              <a:rPr lang="en-GB" sz="2600" b="1" dirty="0"/>
              <a:t>action p</a:t>
            </a:r>
            <a:r>
              <a:rPr lang="en-DE" sz="2600" b="1"/>
              <a:t>olicy</a:t>
            </a:r>
            <a:endParaRPr lang="de-DE" sz="2600" dirty="0"/>
          </a:p>
          <a:p>
            <a:r>
              <a:rPr lang="en-DE" sz="2600"/>
              <a:t>exploration-exploitation </a:t>
            </a:r>
            <a:r>
              <a:rPr lang="en-DE" sz="2600" dirty="0"/>
              <a:t>trade-off</a:t>
            </a:r>
          </a:p>
          <a:p>
            <a:r>
              <a:rPr lang="en-GB" sz="2600" dirty="0"/>
              <a:t>e.g., e</a:t>
            </a:r>
            <a:r>
              <a:rPr lang="en-DE" sz="2600" dirty="0"/>
              <a:t>psilon-greedy: random exploration at small fraction of the time</a:t>
            </a:r>
          </a:p>
          <a:p>
            <a:pPr marL="0" indent="0">
              <a:buNone/>
            </a:pPr>
            <a:endParaRPr lang="en-GB" sz="2600" b="1" dirty="0"/>
          </a:p>
          <a:p>
            <a:pPr marL="0" indent="0">
              <a:buNone/>
            </a:pPr>
            <a:r>
              <a:rPr lang="en-GB" sz="2600" b="1" dirty="0"/>
              <a:t>feedback from environment</a:t>
            </a:r>
            <a:endParaRPr lang="en-GB" sz="2600" dirty="0"/>
          </a:p>
          <a:p>
            <a:r>
              <a:rPr lang="en-GB" sz="2600" dirty="0"/>
              <a:t>goal-directed, no supervision</a:t>
            </a:r>
          </a:p>
          <a:p>
            <a:r>
              <a:rPr lang="en-GB" sz="2600" dirty="0"/>
              <a:t>scalar r</a:t>
            </a:r>
            <a:r>
              <a:rPr lang="en-DE" sz="2600"/>
              <a:t>eward signal</a:t>
            </a:r>
            <a:r>
              <a:rPr lang="en-GB" sz="2600" dirty="0"/>
              <a:t>, cumulative and delayed (credit assignment problem)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57DD8-C6E7-34CC-50D9-6100F19FE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5741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8DEDA-AB76-774F-BC78-9FAC7097A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Elements of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8759B-188B-A6C8-FB1F-E82713ECC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2626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v</a:t>
            </a:r>
            <a:r>
              <a:rPr lang="en-DE" sz="2800" b="1" dirty="0"/>
              <a:t>alue functions for states or actions</a:t>
            </a:r>
            <a:r>
              <a:rPr lang="en-DE" sz="2800" dirty="0"/>
              <a:t>: improve efficiency of search in vast action policy space (alternative: direct policy search)</a:t>
            </a:r>
          </a:p>
          <a:p>
            <a:pPr marL="0" indent="0">
              <a:buNone/>
            </a:pPr>
            <a:endParaRPr lang="en-GB" sz="2800" b="1" dirty="0"/>
          </a:p>
          <a:p>
            <a:pPr marL="0" indent="0">
              <a:buNone/>
            </a:pPr>
            <a:r>
              <a:rPr lang="en-GB" sz="2800" b="1" dirty="0"/>
              <a:t>m</a:t>
            </a:r>
            <a:r>
              <a:rPr lang="en-DE" sz="2800" b="1" dirty="0"/>
              <a:t>odel of environment</a:t>
            </a:r>
            <a:r>
              <a:rPr lang="en-DE" sz="2800" dirty="0"/>
              <a:t>: </a:t>
            </a:r>
            <a:r>
              <a:rPr lang="en-GB" dirty="0"/>
              <a:t>(model-free) learning from trial-and-error or (model-based) planning</a:t>
            </a:r>
          </a:p>
        </p:txBody>
      </p:sp>
      <p:pic>
        <p:nvPicPr>
          <p:cNvPr id="4" name="Picture 3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2B7EE660-EA8E-7DCA-7B32-53F5CFA81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869" y="3756545"/>
            <a:ext cx="3488728" cy="270819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20F20F-191C-79ED-062D-71B8156F7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6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76442-B723-787F-4E14-CA64210D2A3C}"/>
              </a:ext>
            </a:extLst>
          </p:cNvPr>
          <p:cNvSpPr txBox="1"/>
          <p:nvPr/>
        </p:nvSpPr>
        <p:spPr>
          <a:xfrm>
            <a:off x="8329803" y="6415801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8CC93-2109-5FA9-F4D8-B2E565CF3109}"/>
              </a:ext>
            </a:extLst>
          </p:cNvPr>
          <p:cNvSpPr txBox="1"/>
          <p:nvPr/>
        </p:nvSpPr>
        <p:spPr>
          <a:xfrm>
            <a:off x="838199" y="4187314"/>
            <a:ext cx="760961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600" dirty="0"/>
              <a:t>model of environment can be used in different ways: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600" dirty="0"/>
              <a:t>simulate experience from model (for learning)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600" dirty="0"/>
              <a:t>decision-time planning (e.g., heuristic search or model predictive control)</a:t>
            </a:r>
          </a:p>
        </p:txBody>
      </p:sp>
      <p:pic>
        <p:nvPicPr>
          <p:cNvPr id="9" name="Picture 8" descr="A picture containing rectangle&#10;&#10;Description automatically generated">
            <a:extLst>
              <a:ext uri="{FF2B5EF4-FFF2-40B4-BE49-F238E27FC236}">
                <a16:creationId xmlns:a16="http://schemas.microsoft.com/office/drawing/2014/main" id="{89A8F50A-D993-26EE-5182-E92AB1B75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076" y="6016834"/>
            <a:ext cx="4004792" cy="52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71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312A7-8CC3-1B17-2EC8-BCE950066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Markov Decision Process (MDP)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B01E6-E4CA-9628-FD2B-1086F8629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c</a:t>
            </a:r>
            <a:r>
              <a:rPr lang="en-DE" dirty="0"/>
              <a:t>urrent state includes all information about past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/>
              <a:t>transition probabilities between states describe dynamics of given MDP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action policy: mapping from states to probabilities for selection of different actions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15900-4F95-99EA-6581-98C2619EB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12262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84BA3-6670-5516-DB58-BEC0C42E7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States, Actions, and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C2D9BB-C0D7-9AEE-BB75-E5A194324E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DE" sz="2800" dirty="0"/>
                  <a:t>transition probabilities (model of environment):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r>
                  <a:rPr lang="en-GB" sz="2800" dirty="0"/>
                  <a:t>r</a:t>
                </a:r>
                <a:r>
                  <a:rPr lang="en-DE" sz="2800" dirty="0"/>
                  <a:t>eward hypothesis: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reward as scalar signal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goal: m</a:t>
                </a:r>
                <a:r>
                  <a:rPr lang="en-DE" sz="2800" dirty="0"/>
                  <a:t>aximization of expected cumulative sum of received rewards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C2D9BB-C0D7-9AEE-BB75-E5A194324E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8A76F-6D9B-9744-FB75-68245B43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8</a:t>
            </a:fld>
            <a:endParaRPr lang="en-DE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84E601-3CF9-B816-3889-FF6DF242937C}"/>
              </a:ext>
            </a:extLst>
          </p:cNvPr>
          <p:cNvGrpSpPr/>
          <p:nvPr/>
        </p:nvGrpSpPr>
        <p:grpSpPr>
          <a:xfrm>
            <a:off x="3883572" y="2262237"/>
            <a:ext cx="4424855" cy="2501685"/>
            <a:chOff x="3883572" y="2262237"/>
            <a:chExt cx="4424855" cy="2501685"/>
          </a:xfrm>
        </p:grpSpPr>
        <p:pic>
          <p:nvPicPr>
            <p:cNvPr id="8" name="Picture 7" descr="A picture containing drawing&#10;&#10;Description automatically generated">
              <a:extLst>
                <a:ext uri="{FF2B5EF4-FFF2-40B4-BE49-F238E27FC236}">
                  <a16:creationId xmlns:a16="http://schemas.microsoft.com/office/drawing/2014/main" id="{3413B43F-8BC6-12FB-ED74-AFBAB206B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3572" y="2262237"/>
              <a:ext cx="4424855" cy="25016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F09874-FBCF-72EA-9468-B6A3F561867B}"/>
                </a:ext>
              </a:extLst>
            </p:cNvPr>
            <p:cNvSpPr/>
            <p:nvPr/>
          </p:nvSpPr>
          <p:spPr>
            <a:xfrm>
              <a:off x="3883572" y="3552497"/>
              <a:ext cx="898635" cy="12612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</p:spTree>
    <p:extLst>
      <p:ext uri="{BB962C8B-B14F-4D97-AF65-F5344CB8AC3E}">
        <p14:creationId xmlns:p14="http://schemas.microsoft.com/office/powerpoint/2010/main" val="3343932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354</Words>
  <Application>Microsoft Macintosh PowerPoint</Application>
  <PresentationFormat>Breitbild</PresentationFormat>
  <Paragraphs>72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Foundations</vt:lpstr>
      <vt:lpstr>Course Schedule</vt:lpstr>
      <vt:lpstr>Foundations</vt:lpstr>
      <vt:lpstr>Sequential Decision Making</vt:lpstr>
      <vt:lpstr>Main Elements of RL</vt:lpstr>
      <vt:lpstr>Optional Elements of RL</vt:lpstr>
      <vt:lpstr>Markov Decision Process (MDP)</vt:lpstr>
      <vt:lpstr>States, Actions, and Rewards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52</cp:revision>
  <dcterms:created xsi:type="dcterms:W3CDTF">2025-01-08T09:27:30Z</dcterms:created>
  <dcterms:modified xsi:type="dcterms:W3CDTF">2026-03-02T10:27:25Z</dcterms:modified>
</cp:coreProperties>
</file>