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58" r:id="rId4"/>
    <p:sldId id="267" r:id="rId5"/>
    <p:sldId id="290" r:id="rId6"/>
    <p:sldId id="269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75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tiff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ncompleteideas.net/book/the-book.html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arxiv.org/abs/2412.05265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python/environments" TargetMode="External"/><Relationship Id="rId2" Type="http://schemas.openxmlformats.org/officeDocument/2006/relationships/hyperlink" Target="https://docs.python.org/3/tutorial/venv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code.visualstudio.com/docs/datascience/jupyter-notebook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44F7-861D-5F7F-A3C4-DC4382499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Main Areas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r>
              <a:rPr lang="de-DE" dirty="0"/>
              <a:t> (AI)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8EC6-3F79-485E-71D3-142E1593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461BE-CBBC-633F-BF4F-AD6554B61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641" y="2211647"/>
            <a:ext cx="5603963" cy="921243"/>
          </a:xfrm>
          <a:prstGeom prst="rect">
            <a:avLst/>
          </a:prstGeom>
        </p:spPr>
      </p:pic>
      <p:pic>
        <p:nvPicPr>
          <p:cNvPr id="6" name="Picture 5" descr="A collage of many images&#10;&#10;Description automatically generated">
            <a:extLst>
              <a:ext uri="{FF2B5EF4-FFF2-40B4-BE49-F238E27FC236}">
                <a16:creationId xmlns:a16="http://schemas.microsoft.com/office/drawing/2014/main" id="{029F3378-177B-1DEF-9328-6E0FCD05D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38" y="4525129"/>
            <a:ext cx="2078016" cy="20780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5A4FFF-1D36-AC9C-C62A-4BAEB008B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278" y="2762516"/>
            <a:ext cx="1841655" cy="19987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D89D0-9E61-6800-832F-2640E2937535}"/>
              </a:ext>
            </a:extLst>
          </p:cNvPr>
          <p:cNvSpPr txBox="1"/>
          <p:nvPr/>
        </p:nvSpPr>
        <p:spPr>
          <a:xfrm>
            <a:off x="1005641" y="1688427"/>
            <a:ext cx="20638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tabular data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F4D34-236A-5C86-228F-99672208DBD8}"/>
              </a:ext>
            </a:extLst>
          </p:cNvPr>
          <p:cNvSpPr txBox="1"/>
          <p:nvPr/>
        </p:nvSpPr>
        <p:spPr>
          <a:xfrm>
            <a:off x="348339" y="4001909"/>
            <a:ext cx="26804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computer vision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19B08-DDB6-BE91-ADEA-700B82E1A498}"/>
              </a:ext>
            </a:extLst>
          </p:cNvPr>
          <p:cNvSpPr txBox="1"/>
          <p:nvPr/>
        </p:nvSpPr>
        <p:spPr>
          <a:xfrm>
            <a:off x="7773006" y="2239296"/>
            <a:ext cx="2830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language models</a:t>
            </a:r>
            <a:endParaRPr lang="en-GB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25F8-AE37-1ACB-BA8E-33CFFD038092}"/>
              </a:ext>
            </a:extLst>
          </p:cNvPr>
          <p:cNvSpPr txBox="1"/>
          <p:nvPr/>
        </p:nvSpPr>
        <p:spPr>
          <a:xfrm>
            <a:off x="4423421" y="3517961"/>
            <a:ext cx="12922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control</a:t>
            </a:r>
            <a:endParaRPr lang="en-GB" sz="2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8E3C93-9BB5-54EC-0C68-41D872F0A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3421" y="4041181"/>
            <a:ext cx="2750387" cy="13432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545444-0F88-D652-43F5-7AB41F39A7A8}"/>
              </a:ext>
            </a:extLst>
          </p:cNvPr>
          <p:cNvSpPr txBox="1"/>
          <p:nvPr/>
        </p:nvSpPr>
        <p:spPr>
          <a:xfrm>
            <a:off x="5400879" y="5769471"/>
            <a:ext cx="5506279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/>
              <a:t>all </a:t>
            </a:r>
            <a:r>
              <a:rPr lang="de-DE" sz="2200" dirty="0" err="1"/>
              <a:t>empowered</a:t>
            </a:r>
            <a:r>
              <a:rPr lang="de-DE" sz="2200" dirty="0"/>
              <a:t> by one key component: learning from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</a:t>
            </a:r>
            <a:r>
              <a:rPr lang="de-DE" sz="2200" dirty="0" err="1"/>
              <a:t>achine</a:t>
            </a:r>
            <a:r>
              <a:rPr lang="de-DE" sz="2200" dirty="0"/>
              <a:t> Learning (ML)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20484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Motivation: Control vs. Learning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Foundations: </a:t>
            </a:r>
            <a:r>
              <a:rPr lang="de-DE" dirty="0" err="1"/>
              <a:t>Tabular</a:t>
            </a:r>
            <a:r>
              <a:rPr lang="de-DE" dirty="0"/>
              <a:t> Methods</a:t>
            </a:r>
            <a:endParaRPr lang="de-DE" sz="1500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Function</a:t>
            </a:r>
            <a:r>
              <a:rPr lang="de-DE" dirty="0"/>
              <a:t> Approximation: </a:t>
            </a:r>
            <a:r>
              <a:rPr lang="de-DE" dirty="0" err="1"/>
              <a:t>Supervised</a:t>
            </a:r>
            <a:r>
              <a:rPr lang="de-DE" dirty="0"/>
              <a:t> Learning </a:t>
            </a:r>
            <a:r>
              <a:rPr lang="de-DE" dirty="0" err="1"/>
              <a:t>Overview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Deep Reinforcement Learning</a:t>
            </a:r>
            <a:endParaRPr lang="de-DE" sz="1500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Outlook: </a:t>
            </a:r>
            <a:r>
              <a:rPr lang="de-DE" dirty="0" err="1"/>
              <a:t>Advanced</a:t>
            </a:r>
            <a:r>
              <a:rPr lang="de-DE" dirty="0"/>
              <a:t> &amp; Emerging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02904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33BC0-C50E-78C6-DAB3-097E1A687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Literature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960E1-B61E-A9E9-A576-97D1BBF49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5</a:t>
            </a:fld>
            <a:endParaRPr lang="en-DE"/>
          </a:p>
        </p:txBody>
      </p:sp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38FA8115-CB62-6F54-6E5C-CF5B29A14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827" y="4086728"/>
            <a:ext cx="1946564" cy="25059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B64FEC-57FA-9373-72E9-56DFAB58EA12}"/>
              </a:ext>
            </a:extLst>
          </p:cNvPr>
          <p:cNvSpPr txBox="1"/>
          <p:nvPr/>
        </p:nvSpPr>
        <p:spPr>
          <a:xfrm>
            <a:off x="838200" y="1839960"/>
            <a:ext cx="398801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3"/>
              </a:rPr>
              <a:t>Reinforcement Learning:</a:t>
            </a:r>
          </a:p>
          <a:p>
            <a:r>
              <a:rPr lang="en-GB" sz="2800" dirty="0">
                <a:hlinkClick r:id="rId3"/>
              </a:rPr>
              <a:t>An Introduction</a:t>
            </a:r>
            <a:endParaRPr lang="en-GB" sz="2800" dirty="0"/>
          </a:p>
          <a:p>
            <a:endParaRPr lang="en-GB" sz="2800" dirty="0"/>
          </a:p>
          <a:p>
            <a:r>
              <a:rPr lang="en-GB" sz="2800" dirty="0"/>
              <a:t>classic textbook covering the foundations</a:t>
            </a:r>
            <a:endParaRPr lang="en-DE" sz="2800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C15F39B-7F4E-25EB-EAAD-B2EC3D5D768D}"/>
              </a:ext>
            </a:extLst>
          </p:cNvPr>
          <p:cNvSpPr txBox="1"/>
          <p:nvPr/>
        </p:nvSpPr>
        <p:spPr>
          <a:xfrm>
            <a:off x="7365785" y="1839959"/>
            <a:ext cx="398801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hlinkClick r:id="rId4"/>
              </a:rPr>
              <a:t>Reinforcement Learning:</a:t>
            </a:r>
          </a:p>
          <a:p>
            <a:r>
              <a:rPr lang="de-DE" sz="2800" dirty="0">
                <a:hlinkClick r:id="rId4"/>
              </a:rPr>
              <a:t>An Overview</a:t>
            </a:r>
            <a:endParaRPr lang="de-DE" sz="2800" dirty="0"/>
          </a:p>
          <a:p>
            <a:endParaRPr lang="de-DE" sz="2800" dirty="0"/>
          </a:p>
          <a:p>
            <a:r>
              <a:rPr lang="de-DE" sz="2800" dirty="0" err="1"/>
              <a:t>includes</a:t>
            </a:r>
            <a:r>
              <a:rPr lang="de-DE" sz="2800" dirty="0"/>
              <a:t> Deep RL and </a:t>
            </a:r>
            <a:r>
              <a:rPr lang="de-DE" sz="2800" dirty="0" err="1"/>
              <a:t>some</a:t>
            </a:r>
            <a:r>
              <a:rPr lang="de-DE" sz="2800" dirty="0"/>
              <a:t> </a:t>
            </a:r>
            <a:r>
              <a:rPr lang="de-DE" sz="2800" dirty="0" err="1"/>
              <a:t>advanced</a:t>
            </a:r>
            <a:r>
              <a:rPr lang="de-DE" sz="2800" dirty="0"/>
              <a:t> </a:t>
            </a:r>
            <a:r>
              <a:rPr lang="de-DE" sz="2800" dirty="0" err="1"/>
              <a:t>topics</a:t>
            </a:r>
            <a:endParaRPr lang="de-DE" sz="28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4CE2A4C-5A75-5BC2-6518-6F13A11A6B4F}"/>
              </a:ext>
            </a:extLst>
          </p:cNvPr>
          <p:cNvSpPr txBox="1"/>
          <p:nvPr/>
        </p:nvSpPr>
        <p:spPr>
          <a:xfrm>
            <a:off x="4675258" y="5495585"/>
            <a:ext cx="284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both</a:t>
            </a:r>
            <a:r>
              <a:rPr lang="de-DE" dirty="0"/>
              <a:t> </a:t>
            </a:r>
            <a:r>
              <a:rPr lang="de-DE" dirty="0" err="1"/>
              <a:t>freely</a:t>
            </a:r>
            <a:r>
              <a:rPr lang="de-DE" dirty="0"/>
              <a:t> </a:t>
            </a:r>
            <a:r>
              <a:rPr lang="de-DE" dirty="0" err="1"/>
              <a:t>available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pdf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3178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70834-2630-CF53-46B9-4A5595D2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Programming Language: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C0850-2155-3201-EF3C-EFB7157E6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good compromise between rapid prototyping and production</a:t>
            </a:r>
          </a:p>
          <a:p>
            <a:r>
              <a:rPr lang="en-GB" dirty="0"/>
              <a:t>vast ecosystem</a:t>
            </a:r>
          </a:p>
          <a:p>
            <a:r>
              <a:rPr lang="en-GB" dirty="0"/>
              <a:t>very popular for data processing and ML: scientific Python stack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14FD3-2384-341A-0192-D9784F9F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6</a:t>
            </a:fld>
            <a:endParaRPr lang="en-GB"/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558D5A92-0B5B-7717-CB3F-2D03E1B52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950" y="86276"/>
            <a:ext cx="1667700" cy="1827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undefined">
            <a:extLst>
              <a:ext uri="{FF2B5EF4-FFF2-40B4-BE49-F238E27FC236}">
                <a16:creationId xmlns:a16="http://schemas.microsoft.com/office/drawing/2014/main" id="{36547C17-E21D-FBD0-2391-DA367A29E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246" y="3932953"/>
            <a:ext cx="3394103" cy="1527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undefined">
            <a:extLst>
              <a:ext uri="{FF2B5EF4-FFF2-40B4-BE49-F238E27FC236}">
                <a16:creationId xmlns:a16="http://schemas.microsoft.com/office/drawing/2014/main" id="{2F91ED10-6934-AB74-9C86-B13644E90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341" y="5284909"/>
            <a:ext cx="3230880" cy="130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undefined">
            <a:extLst>
              <a:ext uri="{FF2B5EF4-FFF2-40B4-BE49-F238E27FC236}">
                <a16:creationId xmlns:a16="http://schemas.microsoft.com/office/drawing/2014/main" id="{2EF0CA0C-5B15-EA29-7463-7C51B00F0F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4404" y="5284909"/>
            <a:ext cx="2075592" cy="111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undefined">
            <a:extLst>
              <a:ext uri="{FF2B5EF4-FFF2-40B4-BE49-F238E27FC236}">
                <a16:creationId xmlns:a16="http://schemas.microsoft.com/office/drawing/2014/main" id="{F1B7597C-6369-5514-7976-9E48A1316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1184" y="4390882"/>
            <a:ext cx="2984390" cy="547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yTorch is evolving fast. Listen to this podcast to find out how!">
            <a:extLst>
              <a:ext uri="{FF2B5EF4-FFF2-40B4-BE49-F238E27FC236}">
                <a16:creationId xmlns:a16="http://schemas.microsoft.com/office/drawing/2014/main" id="{CF13D292-AB33-3C1E-39B2-A7385966E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4651" y="4301787"/>
            <a:ext cx="3701716" cy="78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Gymnasium Documentation">
            <a:extLst>
              <a:ext uri="{FF2B5EF4-FFF2-40B4-BE49-F238E27FC236}">
                <a16:creationId xmlns:a16="http://schemas.microsoft.com/office/drawing/2014/main" id="{2998F2D8-8E3B-2835-9EB9-4FF5FEE84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930" y="5284909"/>
            <a:ext cx="4496602" cy="1199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720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31D7-F116-6FF9-9B2A-660AE0271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Programming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2A4C1-FFFD-3C44-E2CA-D30093EF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locally, best use</a:t>
            </a:r>
          </a:p>
          <a:p>
            <a:r>
              <a:rPr lang="en-GB" dirty="0"/>
              <a:t>a virtual environment to flexibly install packages (e.g., </a:t>
            </a:r>
            <a:r>
              <a:rPr lang="en-GB" dirty="0" err="1">
                <a:hlinkClick r:id="rId2"/>
              </a:rPr>
              <a:t>venv</a:t>
            </a:r>
            <a:r>
              <a:rPr lang="en-GB" dirty="0"/>
              <a:t>)</a:t>
            </a:r>
          </a:p>
          <a:p>
            <a:r>
              <a:rPr lang="en-GB" dirty="0"/>
              <a:t>an IDE of your choice (e.g., </a:t>
            </a:r>
            <a:r>
              <a:rPr lang="en-GB" dirty="0">
                <a:hlinkClick r:id="rId3"/>
              </a:rPr>
              <a:t>VS Code</a:t>
            </a:r>
            <a:r>
              <a:rPr lang="en-GB" dirty="0"/>
              <a:t>)</a:t>
            </a:r>
          </a:p>
          <a:p>
            <a:r>
              <a:rPr lang="en-GB" dirty="0"/>
              <a:t>both plain Python files or </a:t>
            </a:r>
            <a:r>
              <a:rPr lang="en-GB" dirty="0" err="1">
                <a:hlinkClick r:id="rId4"/>
              </a:rPr>
              <a:t>Jupyter</a:t>
            </a:r>
            <a:r>
              <a:rPr lang="en-GB" dirty="0">
                <a:hlinkClick r:id="rId4"/>
              </a:rPr>
              <a:t> notebooks</a:t>
            </a:r>
            <a:r>
              <a:rPr lang="en-GB" dirty="0"/>
              <a:t> are fine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cloud-based environments also fine (e.g., </a:t>
            </a:r>
            <a:r>
              <a:rPr lang="en-GB" dirty="0">
                <a:hlinkClick r:id="rId5"/>
              </a:rPr>
              <a:t>Google </a:t>
            </a:r>
            <a:r>
              <a:rPr lang="en-GB" dirty="0" err="1">
                <a:hlinkClick r:id="rId5"/>
              </a:rPr>
              <a:t>Colab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EB8C7-7F0B-BA44-36D2-4511056C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3728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242</Words>
  <Application>Microsoft Macintosh PowerPoint</Application>
  <PresentationFormat>Breitbild</PresentationFormat>
  <Paragraphs>67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3" baseType="lpstr">
      <vt:lpstr>AccordAlternate</vt:lpstr>
      <vt:lpstr>Aptos</vt:lpstr>
      <vt:lpstr>Aptos Display</vt:lpstr>
      <vt:lpstr>Arial</vt:lpstr>
      <vt:lpstr>Wingdings</vt:lpstr>
      <vt:lpstr>Office Theme</vt:lpstr>
      <vt:lpstr>Introduction</vt:lpstr>
      <vt:lpstr>Main Areas of Artificial Intelligence (AI)</vt:lpstr>
      <vt:lpstr>PowerPoint-Präsentation</vt:lpstr>
      <vt:lpstr>Course Schedule</vt:lpstr>
      <vt:lpstr>Literature</vt:lpstr>
      <vt:lpstr>Used Programming Language: Python</vt:lpstr>
      <vt:lpstr>Programming Environments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97</cp:revision>
  <dcterms:created xsi:type="dcterms:W3CDTF">2025-01-08T09:27:30Z</dcterms:created>
  <dcterms:modified xsi:type="dcterms:W3CDTF">2026-04-23T05:47:58Z</dcterms:modified>
</cp:coreProperties>
</file>