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62" r:id="rId3"/>
    <p:sldId id="258" r:id="rId4"/>
    <p:sldId id="267" r:id="rId5"/>
    <p:sldId id="290" r:id="rId6"/>
    <p:sldId id="269" r:id="rId7"/>
    <p:sldId id="27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22/04/2026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22/04/2026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22/04/2026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22/04/2026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22/04/2026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22/04/2026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fi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tiff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completeideas.net/book/the-book.html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arxiv.org/abs/2412.05265" TargetMode="Externa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cs/python/environments" TargetMode="External"/><Relationship Id="rId2" Type="http://schemas.openxmlformats.org/officeDocument/2006/relationships/hyperlink" Target="https://docs.python.org/3/tutorial/venv.htm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olab.research.google.com/" TargetMode="External"/><Relationship Id="rId4" Type="http://schemas.openxmlformats.org/officeDocument/2006/relationships/hyperlink" Target="https://code.visualstudio.com/docs/datascience/jupyter-notebook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B44F7-861D-5F7F-A3C4-DC4382499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Main Areas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Artificial</a:t>
            </a:r>
            <a:r>
              <a:rPr lang="de-DE" dirty="0"/>
              <a:t> </a:t>
            </a:r>
            <a:r>
              <a:rPr lang="de-DE" dirty="0" err="1"/>
              <a:t>Intelligence</a:t>
            </a:r>
            <a:r>
              <a:rPr lang="de-DE" dirty="0"/>
              <a:t> (AI)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CC8EC6-3F79-485E-71D3-142E1593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0461BE-CBBC-633F-BF4F-AD6554B61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641" y="2211647"/>
            <a:ext cx="5603963" cy="921243"/>
          </a:xfrm>
          <a:prstGeom prst="rect">
            <a:avLst/>
          </a:prstGeom>
        </p:spPr>
      </p:pic>
      <p:pic>
        <p:nvPicPr>
          <p:cNvPr id="6" name="Picture 5" descr="A collage of many images&#10;&#10;Description automatically generated">
            <a:extLst>
              <a:ext uri="{FF2B5EF4-FFF2-40B4-BE49-F238E27FC236}">
                <a16:creationId xmlns:a16="http://schemas.microsoft.com/office/drawing/2014/main" id="{029F3378-177B-1DEF-9328-6E0FCD05D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38" y="4525129"/>
            <a:ext cx="2078016" cy="207801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25A4FFF-1D36-AC9C-C62A-4BAEB008BB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278" y="2762516"/>
            <a:ext cx="1841655" cy="19987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BAD89D0-9E61-6800-832F-2640E2937535}"/>
              </a:ext>
            </a:extLst>
          </p:cNvPr>
          <p:cNvSpPr txBox="1"/>
          <p:nvPr/>
        </p:nvSpPr>
        <p:spPr>
          <a:xfrm>
            <a:off x="1005641" y="1688427"/>
            <a:ext cx="206383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tabular data</a:t>
            </a:r>
            <a:endParaRPr lang="en-GB" sz="2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F4D34-236A-5C86-228F-99672208DBD8}"/>
              </a:ext>
            </a:extLst>
          </p:cNvPr>
          <p:cNvSpPr txBox="1"/>
          <p:nvPr/>
        </p:nvSpPr>
        <p:spPr>
          <a:xfrm>
            <a:off x="348339" y="4001909"/>
            <a:ext cx="268041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computer vision</a:t>
            </a:r>
            <a:endParaRPr lang="en-GB" sz="28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D119B08-DDB6-BE91-ADEA-700B82E1A498}"/>
              </a:ext>
            </a:extLst>
          </p:cNvPr>
          <p:cNvSpPr txBox="1"/>
          <p:nvPr/>
        </p:nvSpPr>
        <p:spPr>
          <a:xfrm>
            <a:off x="7773006" y="2239296"/>
            <a:ext cx="283019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language models</a:t>
            </a:r>
            <a:endParaRPr lang="en-GB" sz="28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CB25F8-AE37-1ACB-BA8E-33CFFD038092}"/>
              </a:ext>
            </a:extLst>
          </p:cNvPr>
          <p:cNvSpPr txBox="1"/>
          <p:nvPr/>
        </p:nvSpPr>
        <p:spPr>
          <a:xfrm>
            <a:off x="4423421" y="3517961"/>
            <a:ext cx="12922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800" dirty="0"/>
              <a:t>control</a:t>
            </a:r>
            <a:endParaRPr lang="en-GB" sz="28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28E3C93-9BB5-54EC-0C68-41D872F0A9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3421" y="4041181"/>
            <a:ext cx="2750387" cy="134321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B545444-0F88-D652-43F5-7AB41F39A7A8}"/>
              </a:ext>
            </a:extLst>
          </p:cNvPr>
          <p:cNvSpPr txBox="1"/>
          <p:nvPr/>
        </p:nvSpPr>
        <p:spPr>
          <a:xfrm>
            <a:off x="5400879" y="5769471"/>
            <a:ext cx="5506279" cy="7694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de-DE" sz="2200" dirty="0"/>
              <a:t>all </a:t>
            </a:r>
            <a:r>
              <a:rPr lang="de-DE" sz="2200" dirty="0" err="1"/>
              <a:t>empowered</a:t>
            </a:r>
            <a:r>
              <a:rPr lang="de-DE" sz="2200" dirty="0"/>
              <a:t> by one key component: learning from </a:t>
            </a:r>
            <a:r>
              <a:rPr lang="de-DE" sz="2200" dirty="0" err="1"/>
              <a:t>data</a:t>
            </a:r>
            <a:r>
              <a:rPr lang="de-DE" sz="2200" dirty="0"/>
              <a:t> </a:t>
            </a:r>
            <a:r>
              <a:rPr lang="de-DE" sz="2200" dirty="0">
                <a:sym typeface="Wingdings" pitchFamily="2" charset="2"/>
              </a:rPr>
              <a:t> </a:t>
            </a:r>
            <a:r>
              <a:rPr lang="de-DE" sz="2200" dirty="0" err="1">
                <a:sym typeface="Wingdings" pitchFamily="2" charset="2"/>
              </a:rPr>
              <a:t>M</a:t>
            </a:r>
            <a:r>
              <a:rPr lang="de-DE" sz="2200" dirty="0" err="1"/>
              <a:t>achine</a:t>
            </a:r>
            <a:r>
              <a:rPr lang="de-DE" sz="2200" dirty="0"/>
              <a:t> Learning (ML)</a:t>
            </a:r>
            <a:endParaRPr lang="en-GB" sz="2200" dirty="0"/>
          </a:p>
        </p:txBody>
      </p:sp>
    </p:spTree>
    <p:extLst>
      <p:ext uri="{BB962C8B-B14F-4D97-AF65-F5344CB8AC3E}">
        <p14:creationId xmlns:p14="http://schemas.microsoft.com/office/powerpoint/2010/main" val="1120484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068474-B64E-C6EC-6B3C-9C843D4BE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4C94FE-FF23-4504-88E9-14D481113291}" type="slidenum">
              <a:rPr lang="en-GB" smtClean="0"/>
              <a:t>3</a:t>
            </a:fld>
            <a:endParaRPr lang="en-GB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CA50E04-3D60-66D2-8638-F7F57EDDA6DA}"/>
              </a:ext>
            </a:extLst>
          </p:cNvPr>
          <p:cNvGrpSpPr/>
          <p:nvPr/>
        </p:nvGrpSpPr>
        <p:grpSpPr>
          <a:xfrm>
            <a:off x="71915" y="85725"/>
            <a:ext cx="12048169" cy="5927675"/>
            <a:chOff x="175321" y="218621"/>
            <a:chExt cx="12048169" cy="5927675"/>
          </a:xfrm>
        </p:grpSpPr>
        <p:pic>
          <p:nvPicPr>
            <p:cNvPr id="6" name="Picture 5" descr="Diagram&#10;&#10;Description automatically generated">
              <a:extLst>
                <a:ext uri="{FF2B5EF4-FFF2-40B4-BE49-F238E27FC236}">
                  <a16:creationId xmlns:a16="http://schemas.microsoft.com/office/drawing/2014/main" id="{C1A1B37E-59B0-ADDA-B17A-FAA0ECBDD4C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49909" t="53477" r="35242" b="29747"/>
            <a:stretch/>
          </p:blipFill>
          <p:spPr>
            <a:xfrm>
              <a:off x="4093771" y="3339970"/>
              <a:ext cx="1120291" cy="872729"/>
            </a:xfrm>
            <a:prstGeom prst="rect">
              <a:avLst/>
            </a:prstGeom>
          </p:spPr>
        </p:pic>
        <p:pic>
          <p:nvPicPr>
            <p:cNvPr id="7" name="Picture 2" descr="Building Autoencoders in Keras">
              <a:extLst>
                <a:ext uri="{FF2B5EF4-FFF2-40B4-BE49-F238E27FC236}">
                  <a16:creationId xmlns:a16="http://schemas.microsoft.com/office/drawing/2014/main" id="{D9E6DDD4-A04F-E58B-F433-3EDEF323E3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3489" y="4389758"/>
              <a:ext cx="1410036" cy="4431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37D2F8F-5EDD-6B7E-7313-970BD358220C}"/>
                </a:ext>
              </a:extLst>
            </p:cNvPr>
            <p:cNvSpPr txBox="1"/>
            <p:nvPr/>
          </p:nvSpPr>
          <p:spPr>
            <a:xfrm>
              <a:off x="2456981" y="218621"/>
              <a:ext cx="43194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b="1" dirty="0">
                  <a:latin typeface="AccordAlternate" panose="02000000000000000000" pitchFamily="50" charset="0"/>
                </a:rPr>
                <a:t>MACHINE LEARNING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7BA05BF-16E7-77F0-11E9-87A50BCD665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26967" y="824266"/>
              <a:ext cx="763649" cy="981135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3805CF5-4013-AFDB-E7AD-55773D741F17}"/>
                </a:ext>
              </a:extLst>
            </p:cNvPr>
            <p:cNvSpPr txBox="1"/>
            <p:nvPr/>
          </p:nvSpPr>
          <p:spPr>
            <a:xfrm>
              <a:off x="175321" y="1823259"/>
              <a:ext cx="431945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SUPERVISED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40FB2E7-5829-7A0B-E39B-9367288B1712}"/>
                </a:ext>
              </a:extLst>
            </p:cNvPr>
            <p:cNvSpPr txBox="1"/>
            <p:nvPr/>
          </p:nvSpPr>
          <p:spPr>
            <a:xfrm>
              <a:off x="708719" y="1126039"/>
              <a:ext cx="217877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200" i="1" dirty="0"/>
                <a:t>training target available (labeled or past data)</a:t>
              </a:r>
            </a:p>
          </p:txBody>
        </p:sp>
        <p:sp>
          <p:nvSpPr>
            <p:cNvPr id="12" name="Freeform: Shape 13">
              <a:extLst>
                <a:ext uri="{FF2B5EF4-FFF2-40B4-BE49-F238E27FC236}">
                  <a16:creationId xmlns:a16="http://schemas.microsoft.com/office/drawing/2014/main" id="{2778DC91-FE00-BC3E-E08B-55CE2285DF86}"/>
                </a:ext>
              </a:extLst>
            </p:cNvPr>
            <p:cNvSpPr/>
            <p:nvPr/>
          </p:nvSpPr>
          <p:spPr>
            <a:xfrm>
              <a:off x="1416083" y="2189803"/>
              <a:ext cx="535450" cy="666750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36DE158-2CB9-4E5E-CB86-3EE1CB683BFB}"/>
                </a:ext>
              </a:extLst>
            </p:cNvPr>
            <p:cNvSpPr txBox="1"/>
            <p:nvPr/>
          </p:nvSpPr>
          <p:spPr>
            <a:xfrm>
              <a:off x="218591" y="290447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CLASSIFICATION</a:t>
              </a:r>
            </a:p>
          </p:txBody>
        </p:sp>
        <p:sp>
          <p:nvSpPr>
            <p:cNvPr id="14" name="Freeform: Shape 17">
              <a:extLst>
                <a:ext uri="{FF2B5EF4-FFF2-40B4-BE49-F238E27FC236}">
                  <a16:creationId xmlns:a16="http://schemas.microsoft.com/office/drawing/2014/main" id="{2656966F-ABA6-3D2B-CA9F-2C680600270D}"/>
                </a:ext>
              </a:extLst>
            </p:cNvPr>
            <p:cNvSpPr/>
            <p:nvPr/>
          </p:nvSpPr>
          <p:spPr>
            <a:xfrm flipH="1">
              <a:off x="2585690" y="2230474"/>
              <a:ext cx="535450" cy="15194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341A73B-65A1-834D-E2F6-972096888130}"/>
                </a:ext>
              </a:extLst>
            </p:cNvPr>
            <p:cNvSpPr txBox="1"/>
            <p:nvPr/>
          </p:nvSpPr>
          <p:spPr>
            <a:xfrm>
              <a:off x="2039499" y="386213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70C0"/>
                  </a:solidFill>
                  <a:latin typeface="AccordAlternate" panose="02000000000000000000" pitchFamily="50" charset="0"/>
                </a:rPr>
                <a:t>REGRESSION</a:t>
              </a:r>
            </a:p>
          </p:txBody>
        </p:sp>
        <p:pic>
          <p:nvPicPr>
            <p:cNvPr id="16" name="Picture 15" descr="Diagram&#10;&#10;Description automatically generated">
              <a:extLst>
                <a:ext uri="{FF2B5EF4-FFF2-40B4-BE49-F238E27FC236}">
                  <a16:creationId xmlns:a16="http://schemas.microsoft.com/office/drawing/2014/main" id="{1AC57D1E-86B8-94B6-954C-A7F1ED7AAE1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1831" r="83312" b="27845"/>
            <a:stretch/>
          </p:blipFill>
          <p:spPr>
            <a:xfrm>
              <a:off x="578937" y="3230147"/>
              <a:ext cx="1259094" cy="1057275"/>
            </a:xfrm>
            <a:prstGeom prst="rect">
              <a:avLst/>
            </a:prstGeom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BD5FB5A8-B936-EEAC-5DB2-F776F2811DB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838232" y="852611"/>
              <a:ext cx="727413" cy="1085381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84E9DCE-D052-2EF3-C9DA-047B794C812C}"/>
                </a:ext>
              </a:extLst>
            </p:cNvPr>
            <p:cNvSpPr txBox="1"/>
            <p:nvPr/>
          </p:nvSpPr>
          <p:spPr>
            <a:xfrm>
              <a:off x="4718386" y="1898003"/>
              <a:ext cx="189475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UNSUPERVISED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86F7B23-911D-8AED-D2A4-B4E1D83C37D7}"/>
                </a:ext>
              </a:extLst>
            </p:cNvPr>
            <p:cNvSpPr txBox="1"/>
            <p:nvPr/>
          </p:nvSpPr>
          <p:spPr>
            <a:xfrm>
              <a:off x="5321765" y="1227328"/>
              <a:ext cx="129137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data not labeled in any way</a:t>
              </a:r>
            </a:p>
          </p:txBody>
        </p:sp>
        <p:sp>
          <p:nvSpPr>
            <p:cNvPr id="20" name="Freeform: Shape 27">
              <a:extLst>
                <a:ext uri="{FF2B5EF4-FFF2-40B4-BE49-F238E27FC236}">
                  <a16:creationId xmlns:a16="http://schemas.microsoft.com/office/drawing/2014/main" id="{5DD312DA-D75C-143A-2CC8-EA04CF03853E}"/>
                </a:ext>
              </a:extLst>
            </p:cNvPr>
            <p:cNvSpPr/>
            <p:nvPr/>
          </p:nvSpPr>
          <p:spPr>
            <a:xfrm>
              <a:off x="4919093" y="2312708"/>
              <a:ext cx="535450" cy="650613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D6A2B84-33E1-982F-840A-7515D558328F}"/>
                </a:ext>
              </a:extLst>
            </p:cNvPr>
            <p:cNvSpPr txBox="1"/>
            <p:nvPr/>
          </p:nvSpPr>
          <p:spPr>
            <a:xfrm>
              <a:off x="3573072" y="3016605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CLUSTERING</a:t>
              </a:r>
            </a:p>
          </p:txBody>
        </p:sp>
        <p:sp>
          <p:nvSpPr>
            <p:cNvPr id="22" name="Freeform: Shape 30">
              <a:extLst>
                <a:ext uri="{FF2B5EF4-FFF2-40B4-BE49-F238E27FC236}">
                  <a16:creationId xmlns:a16="http://schemas.microsoft.com/office/drawing/2014/main" id="{BBDAE37F-A813-3AE8-FD0D-56F014BCFAEC}"/>
                </a:ext>
              </a:extLst>
            </p:cNvPr>
            <p:cNvSpPr/>
            <p:nvPr/>
          </p:nvSpPr>
          <p:spPr>
            <a:xfrm rot="20668895" flipH="1">
              <a:off x="6093685" y="2204099"/>
              <a:ext cx="437918" cy="196429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484300 w 484300"/>
                <a:gd name="connsiteY0" fmla="*/ 0 h 1387358"/>
                <a:gd name="connsiteX1" fmla="*/ 17575 w 484300"/>
                <a:gd name="connsiteY1" fmla="*/ 466725 h 1387358"/>
                <a:gd name="connsiteX2" fmla="*/ 210979 w 484300"/>
                <a:gd name="connsiteY2" fmla="*/ 1387358 h 1387358"/>
                <a:gd name="connsiteX0" fmla="*/ 277301 w 277301"/>
                <a:gd name="connsiteY0" fmla="*/ 0 h 1387358"/>
                <a:gd name="connsiteX1" fmla="*/ 102889 w 277301"/>
                <a:gd name="connsiteY1" fmla="*/ 637638 h 1387358"/>
                <a:gd name="connsiteX2" fmla="*/ 3980 w 277301"/>
                <a:gd name="connsiteY2" fmla="*/ 1387358 h 1387358"/>
                <a:gd name="connsiteX0" fmla="*/ 274461 w 274461"/>
                <a:gd name="connsiteY0" fmla="*/ 0 h 1387358"/>
                <a:gd name="connsiteX1" fmla="*/ 100049 w 274461"/>
                <a:gd name="connsiteY1" fmla="*/ 637638 h 1387358"/>
                <a:gd name="connsiteX2" fmla="*/ 1140 w 27446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  <a:gd name="connsiteX0" fmla="*/ 274271 w 274271"/>
                <a:gd name="connsiteY0" fmla="*/ 0 h 1387358"/>
                <a:gd name="connsiteX1" fmla="*/ 129687 w 274271"/>
                <a:gd name="connsiteY1" fmla="*/ 642257 h 1387358"/>
                <a:gd name="connsiteX2" fmla="*/ 950 w 274271"/>
                <a:gd name="connsiteY2" fmla="*/ 1387358 h 13873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74271" h="1387358">
                  <a:moveTo>
                    <a:pt x="274271" y="0"/>
                  </a:moveTo>
                  <a:cubicBezTo>
                    <a:pt x="84564" y="177800"/>
                    <a:pt x="145413" y="526513"/>
                    <a:pt x="129687" y="642257"/>
                  </a:cubicBezTo>
                  <a:cubicBezTo>
                    <a:pt x="155721" y="808814"/>
                    <a:pt x="-14131" y="1342908"/>
                    <a:pt x="950" y="13873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8ABBDFE6-03DC-E3D6-B263-C71FF990B7E6}"/>
                </a:ext>
              </a:extLst>
            </p:cNvPr>
            <p:cNvSpPr txBox="1"/>
            <p:nvPr/>
          </p:nvSpPr>
          <p:spPr>
            <a:xfrm>
              <a:off x="5881412" y="4057574"/>
              <a:ext cx="282135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DIMENSIONALITY REDUCTION</a:t>
              </a:r>
            </a:p>
          </p:txBody>
        </p:sp>
        <p:pic>
          <p:nvPicPr>
            <p:cNvPr id="24" name="Picture 23" descr="Diagram&#10;&#10;Description automatically generated">
              <a:extLst>
                <a:ext uri="{FF2B5EF4-FFF2-40B4-BE49-F238E27FC236}">
                  <a16:creationId xmlns:a16="http://schemas.microsoft.com/office/drawing/2014/main" id="{961DCB45-D699-7724-4A20-3DD518F6E43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60107" t="85514" r="25013" b="-26"/>
            <a:stretch/>
          </p:blipFill>
          <p:spPr>
            <a:xfrm>
              <a:off x="6029678" y="4391815"/>
              <a:ext cx="907593" cy="610367"/>
            </a:xfrm>
            <a:prstGeom prst="rect">
              <a:avLst/>
            </a:prstGeom>
          </p:spPr>
        </p:pic>
        <p:sp>
          <p:nvSpPr>
            <p:cNvPr id="25" name="Freeform: Shape 36">
              <a:extLst>
                <a:ext uri="{FF2B5EF4-FFF2-40B4-BE49-F238E27FC236}">
                  <a16:creationId xmlns:a16="http://schemas.microsoft.com/office/drawing/2014/main" id="{4CAE65A6-0263-B75A-37D3-871BCEF91887}"/>
                </a:ext>
              </a:extLst>
            </p:cNvPr>
            <p:cNvSpPr/>
            <p:nvPr/>
          </p:nvSpPr>
          <p:spPr>
            <a:xfrm flipH="1">
              <a:off x="6051333" y="2285243"/>
              <a:ext cx="1271385" cy="46166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3D24E2C-B288-8873-2608-F5E4F08869BA}"/>
                </a:ext>
              </a:extLst>
            </p:cNvPr>
            <p:cNvSpPr txBox="1"/>
            <p:nvPr/>
          </p:nvSpPr>
          <p:spPr>
            <a:xfrm>
              <a:off x="6426061" y="2800558"/>
              <a:ext cx="225083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ASSOCIATION</a:t>
              </a:r>
            </a:p>
          </p:txBody>
        </p:sp>
        <p:pic>
          <p:nvPicPr>
            <p:cNvPr id="27" name="Picture 26" descr="Diagram&#10;&#10;Description automatically generated">
              <a:extLst>
                <a:ext uri="{FF2B5EF4-FFF2-40B4-BE49-F238E27FC236}">
                  <a16:creationId xmlns:a16="http://schemas.microsoft.com/office/drawing/2014/main" id="{93AD1EB2-A1EF-D17E-62B8-2F3C8894EF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83332" t="61907" r="4206" b="25639"/>
            <a:stretch/>
          </p:blipFill>
          <p:spPr>
            <a:xfrm>
              <a:off x="7190512" y="3125401"/>
              <a:ext cx="940142" cy="647941"/>
            </a:xfrm>
            <a:prstGeom prst="rect">
              <a:avLst/>
            </a:prstGeom>
          </p:spPr>
        </p:pic>
        <p:sp>
          <p:nvSpPr>
            <p:cNvPr id="28" name="Freeform: Shape 42">
              <a:extLst>
                <a:ext uri="{FF2B5EF4-FFF2-40B4-BE49-F238E27FC236}">
                  <a16:creationId xmlns:a16="http://schemas.microsoft.com/office/drawing/2014/main" id="{A83BDB6A-E5B0-EB3E-5DD2-F3B3170C4926}"/>
                </a:ext>
              </a:extLst>
            </p:cNvPr>
            <p:cNvSpPr/>
            <p:nvPr/>
          </p:nvSpPr>
          <p:spPr>
            <a:xfrm flipH="1">
              <a:off x="6029678" y="800810"/>
              <a:ext cx="3296460" cy="896554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  <a:gd name="connsiteX0" fmla="*/ 537576 w 537576"/>
                <a:gd name="connsiteY0" fmla="*/ 0 h 593458"/>
                <a:gd name="connsiteX1" fmla="*/ 70851 w 537576"/>
                <a:gd name="connsiteY1" fmla="*/ 466725 h 593458"/>
                <a:gd name="connsiteX2" fmla="*/ 10594 w 537576"/>
                <a:gd name="connsiteY2" fmla="*/ 593458 h 593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7576" h="593458">
                  <a:moveTo>
                    <a:pt x="537576" y="0"/>
                  </a:moveTo>
                  <a:cubicBezTo>
                    <a:pt x="347869" y="177800"/>
                    <a:pt x="158163" y="355600"/>
                    <a:pt x="70851" y="466725"/>
                  </a:cubicBezTo>
                  <a:cubicBezTo>
                    <a:pt x="-16461" y="577850"/>
                    <a:pt x="-4487" y="549008"/>
                    <a:pt x="10594" y="593458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FADC13BA-CFFF-F2AB-21DA-4BF835835863}"/>
                </a:ext>
              </a:extLst>
            </p:cNvPr>
            <p:cNvSpPr txBox="1"/>
            <p:nvPr/>
          </p:nvSpPr>
          <p:spPr>
            <a:xfrm>
              <a:off x="8437375" y="1705111"/>
              <a:ext cx="32964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REINFORCEMENT LEARNING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8DBF41B-A02D-99FB-E578-AA090619F277}"/>
                </a:ext>
              </a:extLst>
            </p:cNvPr>
            <p:cNvSpPr txBox="1"/>
            <p:nvPr/>
          </p:nvSpPr>
          <p:spPr>
            <a:xfrm>
              <a:off x="8483719" y="878384"/>
              <a:ext cx="224400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i="1" dirty="0"/>
                <a:t>no supervision, but goal-based interaction with environment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7EA3C98-2E91-E35E-A600-9903FE1EC405}"/>
                </a:ext>
              </a:extLst>
            </p:cNvPr>
            <p:cNvSpPr/>
            <p:nvPr/>
          </p:nvSpPr>
          <p:spPr>
            <a:xfrm>
              <a:off x="8676891" y="5556559"/>
              <a:ext cx="3252350" cy="584775"/>
            </a:xfrm>
            <a:prstGeom prst="rect">
              <a:avLst/>
            </a:prstGeom>
            <a:solidFill>
              <a:srgbClr val="FF000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GB" sz="1600" b="1" dirty="0"/>
                <a:t>learning by trial-and-error</a:t>
              </a:r>
            </a:p>
            <a:p>
              <a:pPr indent="-228600" algn="ctr"/>
              <a:r>
                <a:rPr lang="en-GB" sz="1600" b="1" dirty="0"/>
                <a:t>(sequential decision making)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CBC8E22A-2FAB-C37C-FECC-32879863F722}"/>
                </a:ext>
              </a:extLst>
            </p:cNvPr>
            <p:cNvSpPr/>
            <p:nvPr/>
          </p:nvSpPr>
          <p:spPr>
            <a:xfrm>
              <a:off x="4617646" y="5561521"/>
              <a:ext cx="3171744" cy="584775"/>
            </a:xfrm>
            <a:prstGeom prst="rect">
              <a:avLst/>
            </a:prstGeom>
            <a:solidFill>
              <a:srgbClr val="92D05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observation</a:t>
              </a:r>
            </a:p>
            <a:p>
              <a:pPr indent="-228600" algn="ctr"/>
              <a:r>
                <a:rPr lang="en-US" sz="1600" b="1" dirty="0"/>
                <a:t>(pattern recognition)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75B146D8-ADDB-5E2C-F2D2-B6C2AFFF7293}"/>
                </a:ext>
              </a:extLst>
            </p:cNvPr>
            <p:cNvSpPr/>
            <p:nvPr/>
          </p:nvSpPr>
          <p:spPr>
            <a:xfrm>
              <a:off x="578937" y="5556559"/>
              <a:ext cx="3151208" cy="584775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>
              <a:spAutoFit/>
            </a:bodyPr>
            <a:lstStyle/>
            <a:p>
              <a:pPr indent="-228600" algn="ctr"/>
              <a:r>
                <a:rPr lang="en-US" sz="1600" b="1" dirty="0"/>
                <a:t>learning by teacher </a:t>
              </a:r>
            </a:p>
            <a:p>
              <a:pPr indent="-228600" algn="ctr"/>
              <a:r>
                <a:rPr lang="en-US" sz="1600" b="1" dirty="0"/>
                <a:t>(high-dimensional curve fitting)</a:t>
              </a:r>
            </a:p>
          </p:txBody>
        </p:sp>
        <p:sp>
          <p:nvSpPr>
            <p:cNvPr id="34" name="Freeform: Shape 44">
              <a:extLst>
                <a:ext uri="{FF2B5EF4-FFF2-40B4-BE49-F238E27FC236}">
                  <a16:creationId xmlns:a16="http://schemas.microsoft.com/office/drawing/2014/main" id="{31F79D89-FD19-5BCE-89CD-FBE1F5B82566}"/>
                </a:ext>
              </a:extLst>
            </p:cNvPr>
            <p:cNvSpPr/>
            <p:nvPr/>
          </p:nvSpPr>
          <p:spPr>
            <a:xfrm rot="16780113" flipV="1">
              <a:off x="9126569" y="2460533"/>
              <a:ext cx="748260" cy="45719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23F74E0-97B2-1B63-1A18-907E0E269C69}"/>
                </a:ext>
              </a:extLst>
            </p:cNvPr>
            <p:cNvSpPr txBox="1"/>
            <p:nvPr/>
          </p:nvSpPr>
          <p:spPr>
            <a:xfrm>
              <a:off x="8640864" y="2960609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STATE OR ACTION VALUES</a:t>
              </a:r>
            </a:p>
          </p:txBody>
        </p:sp>
        <p:sp>
          <p:nvSpPr>
            <p:cNvPr id="36" name="Freeform: Shape 55">
              <a:extLst>
                <a:ext uri="{FF2B5EF4-FFF2-40B4-BE49-F238E27FC236}">
                  <a16:creationId xmlns:a16="http://schemas.microsoft.com/office/drawing/2014/main" id="{0A770BE1-8426-B62A-37AD-B905AFA21D63}"/>
                </a:ext>
              </a:extLst>
            </p:cNvPr>
            <p:cNvSpPr/>
            <p:nvPr/>
          </p:nvSpPr>
          <p:spPr>
            <a:xfrm flipH="1">
              <a:off x="9985125" y="2105221"/>
              <a:ext cx="1490090" cy="1419215"/>
            </a:xfrm>
            <a:custGeom>
              <a:avLst/>
              <a:gdLst>
                <a:gd name="connsiteX0" fmla="*/ 535450 w 535450"/>
                <a:gd name="connsiteY0" fmla="*/ 0 h 666750"/>
                <a:gd name="connsiteX1" fmla="*/ 68725 w 535450"/>
                <a:gd name="connsiteY1" fmla="*/ 466725 h 666750"/>
                <a:gd name="connsiteX2" fmla="*/ 11575 w 535450"/>
                <a:gd name="connsiteY2" fmla="*/ 666750 h 666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35450" h="666750">
                  <a:moveTo>
                    <a:pt x="535450" y="0"/>
                  </a:moveTo>
                  <a:cubicBezTo>
                    <a:pt x="345743" y="177800"/>
                    <a:pt x="156037" y="355600"/>
                    <a:pt x="68725" y="466725"/>
                  </a:cubicBezTo>
                  <a:cubicBezTo>
                    <a:pt x="-18587" y="577850"/>
                    <a:pt x="-3506" y="622300"/>
                    <a:pt x="11575" y="666750"/>
                  </a:cubicBezTo>
                </a:path>
              </a:pathLst>
            </a:custGeom>
            <a:noFill/>
            <a:ln w="38100">
              <a:solidFill>
                <a:schemeClr val="accent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B187C2-E5F5-3E8D-6CEE-E5A492F05D5D}"/>
                </a:ext>
              </a:extLst>
            </p:cNvPr>
            <p:cNvSpPr txBox="1"/>
            <p:nvPr/>
          </p:nvSpPr>
          <p:spPr>
            <a:xfrm>
              <a:off x="10328735" y="3625432"/>
              <a:ext cx="189475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C00000"/>
                  </a:solidFill>
                  <a:latin typeface="AccordAlternate" panose="02000000000000000000" pitchFamily="50" charset="0"/>
                </a:rPr>
                <a:t>LEARN POLICY DIRECTLY</a:t>
              </a:r>
            </a:p>
          </p:txBody>
        </p:sp>
        <p:pic>
          <p:nvPicPr>
            <p:cNvPr id="38" name="Picture 6" descr="Three Things to Know About Reinforcement Learning - KDnuggets">
              <a:extLst>
                <a:ext uri="{FF2B5EF4-FFF2-40B4-BE49-F238E27FC236}">
                  <a16:creationId xmlns:a16="http://schemas.microsoft.com/office/drawing/2014/main" id="{5A07FD57-AB36-D315-0803-61EC9D6005B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67181" y="4210234"/>
              <a:ext cx="2012950" cy="101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9" name="Picture 2">
              <a:extLst>
                <a:ext uri="{FF2B5EF4-FFF2-40B4-BE49-F238E27FC236}">
                  <a16:creationId xmlns:a16="http://schemas.microsoft.com/office/drawing/2014/main" id="{577DC3E1-B1A6-589C-A746-70239E53BC5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7298"/>
            <a:stretch/>
          </p:blipFill>
          <p:spPr bwMode="auto">
            <a:xfrm>
              <a:off x="2535366" y="4179415"/>
              <a:ext cx="1259095" cy="687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F9648B0-1D8D-FCC6-CD96-C7A66123BF25}"/>
                </a:ext>
              </a:extLst>
            </p:cNvPr>
            <p:cNvSpPr txBox="1"/>
            <p:nvPr/>
          </p:nvSpPr>
          <p:spPr>
            <a:xfrm>
              <a:off x="3983202" y="4674063"/>
              <a:ext cx="209590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00B050"/>
                  </a:solidFill>
                  <a:latin typeface="AccordAlternate" panose="02000000000000000000" pitchFamily="50" charset="0"/>
                </a:rPr>
                <a:t>SELF-SUPERVISED</a:t>
              </a:r>
            </a:p>
          </p:txBody>
        </p: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F3FC286-A669-F959-2B90-91B42040EE70}"/>
                </a:ext>
              </a:extLst>
            </p:cNvPr>
            <p:cNvCxnSpPr>
              <a:cxnSpLocks/>
              <a:stCxn id="40" idx="0"/>
              <a:endCxn id="18" idx="2"/>
            </p:cNvCxnSpPr>
            <p:nvPr/>
          </p:nvCxnSpPr>
          <p:spPr>
            <a:xfrm flipV="1">
              <a:off x="5031154" y="2298113"/>
              <a:ext cx="634610" cy="2375950"/>
            </a:xfrm>
            <a:prstGeom prst="line">
              <a:avLst/>
            </a:prstGeom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76514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099" y="1690688"/>
            <a:ext cx="11353801" cy="4665662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Motivation: Control vs. Learning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Foundations: </a:t>
            </a:r>
            <a:r>
              <a:rPr lang="de-DE" dirty="0" err="1"/>
              <a:t>Tabular</a:t>
            </a:r>
            <a:r>
              <a:rPr lang="de-DE" dirty="0"/>
              <a:t> Methods</a:t>
            </a:r>
            <a:endParaRPr lang="de-DE" sz="1500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Approximation: </a:t>
            </a:r>
            <a:r>
              <a:rPr lang="de-DE" dirty="0" err="1"/>
              <a:t>Supervised</a:t>
            </a:r>
            <a:r>
              <a:rPr lang="de-DE" dirty="0"/>
              <a:t> Learning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Reinforcement Learning</a:t>
            </a:r>
            <a:endParaRPr lang="de-DE" sz="1500" dirty="0"/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Outlook: </a:t>
            </a:r>
            <a:r>
              <a:rPr lang="de-DE" dirty="0" err="1"/>
              <a:t>Advanced</a:t>
            </a:r>
            <a:r>
              <a:rPr lang="de-DE" dirty="0"/>
              <a:t> &amp; Emerging Methods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0290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3BC0-C50E-78C6-DAB3-097E1A68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60E1-B61E-A9E9-A576-97D1BBF4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5</a:t>
            </a:fld>
            <a:endParaRPr lang="en-DE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8FA8115-CB62-6F54-6E5C-CF5B29A14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827" y="4086728"/>
            <a:ext cx="1946564" cy="250598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B64FEC-57FA-9373-72E9-56DFAB58EA12}"/>
              </a:ext>
            </a:extLst>
          </p:cNvPr>
          <p:cNvSpPr txBox="1"/>
          <p:nvPr/>
        </p:nvSpPr>
        <p:spPr>
          <a:xfrm>
            <a:off x="838200" y="1839960"/>
            <a:ext cx="39880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hlinkClick r:id="rId3"/>
              </a:rPr>
              <a:t>Reinforcement Learning:</a:t>
            </a:r>
          </a:p>
          <a:p>
            <a:r>
              <a:rPr lang="en-GB" sz="2800" dirty="0">
                <a:hlinkClick r:id="rId3"/>
              </a:rPr>
              <a:t>An Introduction</a:t>
            </a:r>
            <a:endParaRPr lang="en-GB" sz="2800" dirty="0"/>
          </a:p>
          <a:p>
            <a:endParaRPr lang="en-GB" sz="2800" dirty="0"/>
          </a:p>
          <a:p>
            <a:r>
              <a:rPr lang="en-GB" sz="2800" dirty="0"/>
              <a:t>classic textbook covering the foundations</a:t>
            </a:r>
            <a:endParaRPr lang="en-DE" sz="2800" dirty="0"/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C15F39B-7F4E-25EB-EAAD-B2EC3D5D768D}"/>
              </a:ext>
            </a:extLst>
          </p:cNvPr>
          <p:cNvSpPr txBox="1"/>
          <p:nvPr/>
        </p:nvSpPr>
        <p:spPr>
          <a:xfrm>
            <a:off x="7365785" y="1839959"/>
            <a:ext cx="3988015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hlinkClick r:id="rId4"/>
              </a:rPr>
              <a:t>Reinforcement Learning:</a:t>
            </a:r>
          </a:p>
          <a:p>
            <a:r>
              <a:rPr lang="de-DE" sz="2800" dirty="0">
                <a:hlinkClick r:id="rId4"/>
              </a:rPr>
              <a:t>An Overview</a:t>
            </a:r>
            <a:endParaRPr lang="de-DE" sz="2800" dirty="0"/>
          </a:p>
          <a:p>
            <a:endParaRPr lang="de-DE" sz="2800" dirty="0"/>
          </a:p>
          <a:p>
            <a:r>
              <a:rPr lang="de-DE" sz="2800" dirty="0" err="1"/>
              <a:t>includes</a:t>
            </a:r>
            <a:r>
              <a:rPr lang="de-DE" sz="2800" dirty="0"/>
              <a:t> Deep RL and </a:t>
            </a:r>
            <a:r>
              <a:rPr lang="de-DE" sz="2800" dirty="0" err="1"/>
              <a:t>some</a:t>
            </a:r>
            <a:r>
              <a:rPr lang="de-DE" sz="2800" dirty="0"/>
              <a:t> </a:t>
            </a:r>
            <a:r>
              <a:rPr lang="de-DE" sz="2800" dirty="0" err="1"/>
              <a:t>advanced</a:t>
            </a:r>
            <a:r>
              <a:rPr lang="de-DE" sz="2800" dirty="0"/>
              <a:t> </a:t>
            </a:r>
            <a:r>
              <a:rPr lang="de-DE" sz="2800" dirty="0" err="1"/>
              <a:t>topics</a:t>
            </a:r>
            <a:endParaRPr lang="de-DE" sz="28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64CE2A4C-5A75-5BC2-6518-6F13A11A6B4F}"/>
              </a:ext>
            </a:extLst>
          </p:cNvPr>
          <p:cNvSpPr txBox="1"/>
          <p:nvPr/>
        </p:nvSpPr>
        <p:spPr>
          <a:xfrm>
            <a:off x="4675258" y="5495585"/>
            <a:ext cx="28414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both</a:t>
            </a:r>
            <a:r>
              <a:rPr lang="de-DE" dirty="0"/>
              <a:t> </a:t>
            </a:r>
            <a:r>
              <a:rPr lang="de-DE" dirty="0" err="1"/>
              <a:t>freely</a:t>
            </a:r>
            <a:r>
              <a:rPr lang="de-DE" dirty="0"/>
              <a:t> </a:t>
            </a:r>
            <a:r>
              <a:rPr lang="de-DE" dirty="0" err="1"/>
              <a:t>available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pdf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3178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38E70834-2630-CF53-46B9-4A5595D21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Used Programming Language: Python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C0850-2155-3201-EF3C-EFB7157E6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  <a:p>
            <a:r>
              <a:rPr lang="en-GB" dirty="0"/>
              <a:t>good compromise between rapid prototyping and production</a:t>
            </a:r>
          </a:p>
          <a:p>
            <a:r>
              <a:rPr lang="en-GB" dirty="0"/>
              <a:t>vast ecosystem</a:t>
            </a:r>
          </a:p>
          <a:p>
            <a:r>
              <a:rPr lang="en-GB" dirty="0"/>
              <a:t>very popular for data processing and ML: scientific Python stack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014FD3-2384-341A-0192-D9784F9FF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6</a:t>
            </a:fld>
            <a:endParaRPr lang="en-GB"/>
          </a:p>
        </p:txBody>
      </p:sp>
      <p:pic>
        <p:nvPicPr>
          <p:cNvPr id="8" name="Picture 2" descr="undefined">
            <a:extLst>
              <a:ext uri="{FF2B5EF4-FFF2-40B4-BE49-F238E27FC236}">
                <a16:creationId xmlns:a16="http://schemas.microsoft.com/office/drawing/2014/main" id="{558D5A92-0B5B-7717-CB3F-2D03E1B522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9950" y="86276"/>
            <a:ext cx="1667700" cy="182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undefined">
            <a:extLst>
              <a:ext uri="{FF2B5EF4-FFF2-40B4-BE49-F238E27FC236}">
                <a16:creationId xmlns:a16="http://schemas.microsoft.com/office/drawing/2014/main" id="{36547C17-E21D-FBD0-2391-DA367A29E0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46" y="3932953"/>
            <a:ext cx="3394103" cy="1527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8" descr="undefined">
            <a:extLst>
              <a:ext uri="{FF2B5EF4-FFF2-40B4-BE49-F238E27FC236}">
                <a16:creationId xmlns:a16="http://schemas.microsoft.com/office/drawing/2014/main" id="{2F91ED10-6934-AB74-9C86-B13644E900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5341" y="5284909"/>
            <a:ext cx="3230880" cy="13058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0" descr="undefined">
            <a:extLst>
              <a:ext uri="{FF2B5EF4-FFF2-40B4-BE49-F238E27FC236}">
                <a16:creationId xmlns:a16="http://schemas.microsoft.com/office/drawing/2014/main" id="{2EF0CA0C-5B15-EA29-7463-7C51B00F0F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44404" y="5284909"/>
            <a:ext cx="2075592" cy="1117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6" descr="undefined">
            <a:extLst>
              <a:ext uri="{FF2B5EF4-FFF2-40B4-BE49-F238E27FC236}">
                <a16:creationId xmlns:a16="http://schemas.microsoft.com/office/drawing/2014/main" id="{F1B7597C-6369-5514-7976-9E48A1316F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1184" y="4390882"/>
            <a:ext cx="2984390" cy="5471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2" descr="PyTorch is evolving fast. Listen to this podcast to find out how!">
            <a:extLst>
              <a:ext uri="{FF2B5EF4-FFF2-40B4-BE49-F238E27FC236}">
                <a16:creationId xmlns:a16="http://schemas.microsoft.com/office/drawing/2014/main" id="{CF13D292-AB33-3C1E-39B2-A7385966E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4651" y="4301787"/>
            <a:ext cx="3701716" cy="7896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Gymnasium Documentation">
            <a:extLst>
              <a:ext uri="{FF2B5EF4-FFF2-40B4-BE49-F238E27FC236}">
                <a16:creationId xmlns:a16="http://schemas.microsoft.com/office/drawing/2014/main" id="{2998F2D8-8E3B-2835-9EB9-4FF5FEE84F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8930" y="5284909"/>
            <a:ext cx="4496602" cy="1199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27205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931D7-F116-6FF9-9B2A-660AE0271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Programming Environments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2A4C1-FFFD-3C44-E2CA-D30093EF7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locally, best use</a:t>
            </a:r>
          </a:p>
          <a:p>
            <a:r>
              <a:rPr lang="en-GB" dirty="0"/>
              <a:t>a virtual environment to flexibly install packages (e.g., </a:t>
            </a:r>
            <a:r>
              <a:rPr lang="en-GB" dirty="0" err="1">
                <a:hlinkClick r:id="rId2"/>
              </a:rPr>
              <a:t>venv</a:t>
            </a:r>
            <a:r>
              <a:rPr lang="en-GB" dirty="0"/>
              <a:t>)</a:t>
            </a:r>
          </a:p>
          <a:p>
            <a:r>
              <a:rPr lang="en-GB" dirty="0"/>
              <a:t>an IDE of your choice (e.g., </a:t>
            </a:r>
            <a:r>
              <a:rPr lang="en-GB" dirty="0">
                <a:hlinkClick r:id="rId3"/>
              </a:rPr>
              <a:t>VS Code</a:t>
            </a:r>
            <a:r>
              <a:rPr lang="en-GB" dirty="0"/>
              <a:t>)</a:t>
            </a:r>
          </a:p>
          <a:p>
            <a:r>
              <a:rPr lang="en-GB" dirty="0"/>
              <a:t>both plain Python files or </a:t>
            </a:r>
            <a:r>
              <a:rPr lang="en-GB" dirty="0" err="1">
                <a:hlinkClick r:id="rId4"/>
              </a:rPr>
              <a:t>Jupyter</a:t>
            </a:r>
            <a:r>
              <a:rPr lang="en-GB" dirty="0">
                <a:hlinkClick r:id="rId4"/>
              </a:rPr>
              <a:t> notebooks</a:t>
            </a:r>
            <a:r>
              <a:rPr lang="en-GB" dirty="0"/>
              <a:t> are fine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but cloud-based environments also fine (e.g., </a:t>
            </a:r>
            <a:r>
              <a:rPr lang="en-GB" dirty="0">
                <a:hlinkClick r:id="rId5"/>
              </a:rPr>
              <a:t>Google </a:t>
            </a:r>
            <a:r>
              <a:rPr lang="en-GB" dirty="0" err="1">
                <a:hlinkClick r:id="rId5"/>
              </a:rPr>
              <a:t>Colab</a:t>
            </a:r>
            <a:r>
              <a:rPr lang="en-GB" dirty="0"/>
              <a:t>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9EB8C7-7F0B-BA44-36D2-4511056C6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F33A53-1B14-4784-A6BE-2DB6D72C8D95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37282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241</Words>
  <Application>Microsoft Macintosh PowerPoint</Application>
  <PresentationFormat>Breitbild</PresentationFormat>
  <Paragraphs>67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3" baseType="lpstr">
      <vt:lpstr>AccordAlternate</vt:lpstr>
      <vt:lpstr>Aptos</vt:lpstr>
      <vt:lpstr>Aptos Display</vt:lpstr>
      <vt:lpstr>Arial</vt:lpstr>
      <vt:lpstr>Wingdings</vt:lpstr>
      <vt:lpstr>Office Theme</vt:lpstr>
      <vt:lpstr>Introduction</vt:lpstr>
      <vt:lpstr>Main Areas of Artificial Intelligence (AI)</vt:lpstr>
      <vt:lpstr>PowerPoint-Präsentation</vt:lpstr>
      <vt:lpstr>Course Schedule</vt:lpstr>
      <vt:lpstr>Literature</vt:lpstr>
      <vt:lpstr>Used Programming Language: Python</vt:lpstr>
      <vt:lpstr>Programming Environments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96</cp:revision>
  <dcterms:created xsi:type="dcterms:W3CDTF">2025-01-08T09:27:30Z</dcterms:created>
  <dcterms:modified xsi:type="dcterms:W3CDTF">2026-04-22T21:55:40Z</dcterms:modified>
</cp:coreProperties>
</file>