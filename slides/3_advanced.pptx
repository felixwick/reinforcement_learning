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861" r:id="rId3"/>
    <p:sldId id="862" r:id="rId4"/>
    <p:sldId id="854" r:id="rId5"/>
    <p:sldId id="855" r:id="rId6"/>
    <p:sldId id="867" r:id="rId7"/>
    <p:sldId id="856" r:id="rId8"/>
    <p:sldId id="866" r:id="rId9"/>
    <p:sldId id="565" r:id="rId10"/>
    <p:sldId id="568" r:id="rId11"/>
    <p:sldId id="864" r:id="rId12"/>
    <p:sldId id="860" r:id="rId13"/>
    <p:sldId id="270" r:id="rId14"/>
    <p:sldId id="858" r:id="rId15"/>
    <p:sldId id="868" r:id="rId16"/>
    <p:sldId id="857" r:id="rId17"/>
    <p:sldId id="870" r:id="rId18"/>
    <p:sldId id="869" r:id="rId19"/>
    <p:sldId id="271" r:id="rId20"/>
    <p:sldId id="859" r:id="rId21"/>
    <p:sldId id="567" r:id="rId22"/>
    <p:sldId id="8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ai.com/chatgp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bo3kNKPaU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203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abs/2106.01345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export.arxiv.org/abs/2204.01691v1" TargetMode="External"/><Relationship Id="rId2" Type="http://schemas.openxmlformats.org/officeDocument/2006/relationships/hyperlink" Target="https://robotics-transformer2.github.io/assets/rt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arxiv.org/abs/2209.07753" TargetMode="Externa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ymnasium.farama.org/environments/classic_control/pendulu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44891" cy="2387600"/>
          </a:xfrm>
        </p:spPr>
        <p:txBody>
          <a:bodyPr>
            <a:normAutofit/>
          </a:bodyPr>
          <a:lstStyle/>
          <a:p>
            <a:r>
              <a:rPr lang="de-DE" sz="5200" dirty="0" err="1"/>
              <a:t>Advanced</a:t>
            </a:r>
            <a:r>
              <a:rPr lang="de-DE" sz="5200" dirty="0"/>
              <a:t> &amp; Emerging RL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EB7CC-A04B-6527-EF17-EAAD14C7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Chapter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0677E-ECE3-1E8B-E304-7206CF32A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RL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extend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complement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model-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endParaRPr lang="de-DE" dirty="0"/>
          </a:p>
          <a:p>
            <a:r>
              <a:rPr lang="de-DE" dirty="0"/>
              <a:t>offline and </a:t>
            </a:r>
            <a:r>
              <a:rPr lang="de-DE" dirty="0" err="1"/>
              <a:t>data-driven</a:t>
            </a:r>
            <a:r>
              <a:rPr lang="de-DE" dirty="0"/>
              <a:t> </a:t>
            </a:r>
            <a:r>
              <a:rPr lang="de-DE" dirty="0" err="1"/>
              <a:t>approaches</a:t>
            </a:r>
            <a:endParaRPr lang="de-DE" dirty="0"/>
          </a:p>
          <a:p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r>
              <a:rPr lang="de-DE" dirty="0"/>
              <a:t>generative </a:t>
            </a:r>
            <a:r>
              <a:rPr lang="de-DE" dirty="0" err="1"/>
              <a:t>or</a:t>
            </a:r>
            <a:r>
              <a:rPr lang="de-DE" dirty="0"/>
              <a:t> multimodal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445948-8990-4E81-A1F1-EA0CA33C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64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EED0B19-871D-4F1F-000C-D522BFB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and Offline RL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EFD-2E15-2C89-0B3B-679A28E4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83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7E127-F485-4187-FF77-8D015E7D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217FA-F236-BEE9-1596-5444C7A8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Learning </a:t>
            </a:r>
            <a:r>
              <a:rPr lang="de-DE" dirty="0" err="1"/>
              <a:t>dynamics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plan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sample </a:t>
            </a:r>
            <a:r>
              <a:rPr lang="de-DE" dirty="0" err="1"/>
              <a:t>efficiency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D4494C-3760-B7F5-D34E-2FAEC3BE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48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F160CE-84E4-0CDF-8D88-7AFDC5AA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Offline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6B0F67-5191-D62E-9178-26EF99222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Learning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datasets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online </a:t>
            </a:r>
            <a:r>
              <a:rPr lang="de-DE" dirty="0" err="1"/>
              <a:t>interaction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219327-6F35-D7AF-8124-0EE10631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3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98E0-9C63-1A8D-0CD6-F6A2A1A3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8EC9A8F-5558-9BFF-B0FE-D0460279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Learning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5D1A1D-D38A-0B3B-FD8C-659D8D6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43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A03BF-908E-A68C-5420-D9AB5953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374729-908A-2746-7EDF-3B66E9268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CDCF85-4CE3-59AD-F996-D7A37AE8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43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FAD46-DAA4-EBE8-6800-3264FEB4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Imitation Learning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8DD584-086F-95E0-F3CE-7DF069DD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Learning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FC482C-7B2A-5132-4240-27911079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1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F0C89D-B6FC-F83C-9F0B-A0A7B057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05625"/>
            <a:ext cx="7772400" cy="4581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F088E-C3DC-F2DD-C0D6-CDDB7178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RL from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0BAE-42AC-6B59-AF1B-7A814C8BF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281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example for supporting large language models (transformers) with RL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u</a:t>
            </a:r>
            <a:r>
              <a:rPr lang="en-DE" sz="2400" dirty="0"/>
              <a:t>sed in famous ChatGPT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goal</a:t>
            </a:r>
            <a:r>
              <a:rPr lang="en-DE" sz="2400" dirty="0"/>
              <a:t>: improve alignment with user intentions</a:t>
            </a:r>
          </a:p>
          <a:p>
            <a:pPr marL="0" indent="0">
              <a:buNone/>
            </a:pPr>
            <a:r>
              <a:rPr lang="en-DE" sz="2400" dirty="0">
                <a:sym typeface="Wingdings" pitchFamily="2" charset="2"/>
              </a:rPr>
              <a:t> </a:t>
            </a:r>
            <a:r>
              <a:rPr lang="en-GB" sz="2400" dirty="0">
                <a:sym typeface="Wingdings" pitchFamily="2" charset="2"/>
              </a:rPr>
              <a:t>l</a:t>
            </a:r>
            <a:r>
              <a:rPr lang="en-DE" sz="2400" dirty="0">
                <a:sym typeface="Wingdings" pitchFamily="2" charset="2"/>
              </a:rPr>
              <a:t>earn from human preferences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4CD7-6253-E16B-BF24-28A9AD5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5346F-C1B5-44BB-1572-3B45F4ED02AB}"/>
              </a:ext>
            </a:extLst>
          </p:cNvPr>
          <p:cNvSpPr txBox="1"/>
          <p:nvPr/>
        </p:nvSpPr>
        <p:spPr>
          <a:xfrm>
            <a:off x="11471564" y="5912427"/>
            <a:ext cx="567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95162-A0A6-C1BF-4669-5F2070D5B2D9}"/>
              </a:ext>
            </a:extLst>
          </p:cNvPr>
          <p:cNvSpPr txBox="1"/>
          <p:nvPr/>
        </p:nvSpPr>
        <p:spPr>
          <a:xfrm>
            <a:off x="4074452" y="5987366"/>
            <a:ext cx="6843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RL looks at reward of text output passages as a whole</a:t>
            </a:r>
          </a:p>
          <a:p>
            <a:r>
              <a:rPr lang="en-DE" sz="2400" dirty="0"/>
              <a:t>(rather than token-level loss in supervised learning)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DCB36A-F3CD-F1E8-2BCE-4920F055AE4C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423338"/>
            <a:ext cx="544095" cy="56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369C2E-81DE-95D0-4575-09A54721567F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213131"/>
            <a:ext cx="2194219" cy="77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6E222B-9AD4-6410-D19C-F53E4BAB3E0B}"/>
              </a:ext>
            </a:extLst>
          </p:cNvPr>
          <p:cNvSpPr txBox="1"/>
          <p:nvPr/>
        </p:nvSpPr>
        <p:spPr>
          <a:xfrm>
            <a:off x="10041003" y="39637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n-DE"/>
              <a:t>xample: </a:t>
            </a:r>
            <a:r>
              <a:rPr lang="en-DE">
                <a:hlinkClick r:id="rId4"/>
              </a:rPr>
              <a:t>ChatGPT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21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B70AB9-0BC4-1E66-9A69-3EC9AB06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1690688"/>
            <a:ext cx="8340594" cy="4507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04CCD-7229-82B2-D1B8-04EBA103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Reward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D22C8-EC85-4D35-CEC9-046ED7D8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10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B01FF-1571-A5E4-44E5-D12652BC9357}"/>
              </a:ext>
            </a:extLst>
          </p:cNvPr>
          <p:cNvSpPr txBox="1"/>
          <p:nvPr/>
        </p:nvSpPr>
        <p:spPr>
          <a:xfrm>
            <a:off x="6851822" y="5923318"/>
            <a:ext cx="6192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3CE18-C392-78CC-5AF4-58FFCE773BC9}"/>
              </a:ext>
            </a:extLst>
          </p:cNvPr>
          <p:cNvSpPr txBox="1"/>
          <p:nvPr/>
        </p:nvSpPr>
        <p:spPr>
          <a:xfrm>
            <a:off x="8077287" y="3288785"/>
            <a:ext cx="3908766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loss function for supervised learning sometimes difficult to define</a:t>
            </a:r>
          </a:p>
          <a:p>
            <a:endParaRPr lang="en-GB" sz="2400" dirty="0"/>
          </a:p>
          <a:p>
            <a:r>
              <a:rPr lang="en-GB" sz="2400" dirty="0"/>
              <a:t>RL allows learning (instead of manually setting) of loss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ED80-4B46-74FC-59F4-1052A516B67B}"/>
              </a:ext>
            </a:extLst>
          </p:cNvPr>
          <p:cNvSpPr txBox="1"/>
          <p:nvPr/>
        </p:nvSpPr>
        <p:spPr>
          <a:xfrm>
            <a:off x="2982097" y="5086062"/>
            <a:ext cx="113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(e.g., RLHF)</a:t>
            </a:r>
          </a:p>
        </p:txBody>
      </p:sp>
    </p:spTree>
    <p:extLst>
      <p:ext uri="{BB962C8B-B14F-4D97-AF65-F5344CB8AC3E}">
        <p14:creationId xmlns:p14="http://schemas.microsoft.com/office/powerpoint/2010/main" val="403229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F042-FE8F-EAEC-274F-FCB9C2EE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BF53195-4C15-3A12-376C-83D131D9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dirty="0"/>
              <a:t>RL </a:t>
            </a:r>
            <a:r>
              <a:rPr lang="de-DE" sz="4800" dirty="0" err="1"/>
              <a:t>as</a:t>
            </a:r>
            <a:r>
              <a:rPr lang="de-DE" sz="4800" dirty="0"/>
              <a:t> </a:t>
            </a:r>
            <a:r>
              <a:rPr lang="de-DE" sz="4800" dirty="0" err="1"/>
              <a:t>Sequence</a:t>
            </a:r>
            <a:r>
              <a:rPr lang="de-DE" sz="4800" dirty="0"/>
              <a:t> and Generative Modeling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719CD9-3462-671A-8C23-E3FB9795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30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FAC51-65A5-1409-A6D0-7B810403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Trajectory </a:t>
            </a:r>
            <a:r>
              <a:rPr lang="en-GB" dirty="0" err="1"/>
              <a:t>Modeling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36192F-8BCF-0FAF-226A-963A74B4E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1F773B-8566-CAF5-9DFE-D45C971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95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28C070E-E67E-4A4B-8912-C1DFA3E3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434" y="4952539"/>
            <a:ext cx="4874938" cy="1532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A5E25-4C4E-8E4F-800E-FCEAE85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Transformer</a:t>
            </a:r>
            <a:endParaRPr lang="en-D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DBBE30-BBC1-E075-F300-56679CC5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66065"/>
            <a:ext cx="5181600" cy="1059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Trajectory Transformer: predicting also states and returns</a:t>
            </a:r>
            <a:r>
              <a:rPr lang="en-DE" sz="2200" dirty="0"/>
              <a:t> (adding model-based components, planning with beam search)</a:t>
            </a: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4ACB-E966-844E-A0DE-385B6E81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13</a:t>
            </a:fld>
            <a:endParaRPr lang="en-D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8032CD-824A-8A92-E99A-A8692702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3766065"/>
            <a:ext cx="5181600" cy="921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Decision Transformer: conditioning on desired return, past states and actions to generate future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ABCDE-9701-E866-3BCA-B436DAF6EF1F}"/>
              </a:ext>
            </a:extLst>
          </p:cNvPr>
          <p:cNvSpPr txBox="1"/>
          <p:nvPr/>
        </p:nvSpPr>
        <p:spPr>
          <a:xfrm>
            <a:off x="9982200" y="6447336"/>
            <a:ext cx="647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D6FBD2-642C-114A-7CF1-8D15CFD0AEFD}"/>
              </a:ext>
            </a:extLst>
          </p:cNvPr>
          <p:cNvSpPr txBox="1">
            <a:spLocks/>
          </p:cNvSpPr>
          <p:nvPr/>
        </p:nvSpPr>
        <p:spPr>
          <a:xfrm>
            <a:off x="838200" y="1825626"/>
            <a:ext cx="10515600" cy="1775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generative: transformer decoder architecture to autoregressively model trajectories</a:t>
            </a:r>
          </a:p>
          <a:p>
            <a:pPr marL="0" indent="0">
              <a:buNone/>
            </a:pPr>
            <a:r>
              <a:rPr lang="en-GB" sz="2400" dirty="0"/>
              <a:t>credit assignment directly via self-attention: implicitly forming state-return associations via similarity of query and key vectors (maximizing the dot product)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desired return tokens as prompt for action generation</a:t>
            </a:r>
          </a:p>
        </p:txBody>
      </p:sp>
      <p:pic>
        <p:nvPicPr>
          <p:cNvPr id="20" name="Picture 19" descr="Timeline&#10;&#10;Description automatically generated">
            <a:extLst>
              <a:ext uri="{FF2B5EF4-FFF2-40B4-BE49-F238E27FC236}">
                <a16:creationId xmlns:a16="http://schemas.microsoft.com/office/drawing/2014/main" id="{B96325C6-CD84-1238-3CDD-CF3980E1F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6" y="4852526"/>
            <a:ext cx="4122684" cy="1879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AE88BA-BE2D-FB13-D868-131A1E91AF16}"/>
              </a:ext>
            </a:extLst>
          </p:cNvPr>
          <p:cNvSpPr txBox="1"/>
          <p:nvPr/>
        </p:nvSpPr>
        <p:spPr>
          <a:xfrm>
            <a:off x="1144763" y="6342230"/>
            <a:ext cx="65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02E9-22BD-8C75-95CD-6B4A3A738ADA}"/>
              </a:ext>
            </a:extLst>
          </p:cNvPr>
          <p:cNvSpPr txBox="1"/>
          <p:nvPr/>
        </p:nvSpPr>
        <p:spPr>
          <a:xfrm>
            <a:off x="8813800" y="67280"/>
            <a:ext cx="33168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200" dirty="0"/>
              <a:t>overcome Markov property</a:t>
            </a:r>
          </a:p>
        </p:txBody>
      </p:sp>
    </p:spTree>
    <p:extLst>
      <p:ext uri="{BB962C8B-B14F-4D97-AF65-F5344CB8AC3E}">
        <p14:creationId xmlns:p14="http://schemas.microsoft.com/office/powerpoint/2010/main" val="269369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BCBE01C-AE0A-9281-8B7F-E501DC33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Diffusion </a:t>
            </a:r>
            <a:r>
              <a:rPr lang="de-DE" dirty="0" err="1"/>
              <a:t>Policies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B298A16-4517-528C-2ADE-075F0CE60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Using</a:t>
            </a:r>
            <a:r>
              <a:rPr lang="de-DE" dirty="0"/>
              <a:t> generative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flexible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0F6AA1-006F-2328-3554-16F6AA59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8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0843-D701-6431-E921-F8A8719B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22E3411-AF34-B295-9488-0C94ED02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900" dirty="0" err="1"/>
              <a:t>Scaling</a:t>
            </a:r>
            <a:r>
              <a:rPr lang="de-DE" sz="5900" dirty="0"/>
              <a:t> RL </a:t>
            </a:r>
            <a:r>
              <a:rPr lang="de-DE" sz="5900" dirty="0" err="1"/>
              <a:t>to</a:t>
            </a:r>
            <a:r>
              <a:rPr lang="de-DE" sz="5900" dirty="0"/>
              <a:t> Real-World Robotics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AB8548-D70F-1CFF-F1FE-B21C7C6F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495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B6C36-06F3-AC73-A6FB-6E52BC3A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221939-A1BE-48B0-4D95-46E4C841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Agents</a:t>
            </a:r>
            <a:r>
              <a:rPr lang="de-DE" dirty="0"/>
              <a:t> </a:t>
            </a:r>
            <a:r>
              <a:rPr lang="de-DE" dirty="0" err="1"/>
              <a:t>interacting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,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3C05ED-0DFD-A388-0080-8843F879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6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8C6F0-EEAA-7DD3-F1D2-34D4F5F1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Isaac Sim &amp; Lab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B4563-14C8-A40B-C7FB-7CA27C97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D6968C-F452-BA18-653A-B2E00C90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01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8D84D-0315-CC40-03E4-0D67C66A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Sim-</a:t>
            </a:r>
            <a:r>
              <a:rPr lang="de-DE" dirty="0" err="1"/>
              <a:t>to</a:t>
            </a:r>
            <a:r>
              <a:rPr lang="de-DE" dirty="0"/>
              <a:t>-Real Gap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FEC59-CB1E-7792-3404-78A3B93E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9AC89E-FE0F-BB39-BE49-90F4B5A4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028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27B4E-318F-01F3-DA5E-D552C943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Generalist Robot </a:t>
            </a:r>
            <a:r>
              <a:rPr lang="de-DE" dirty="0" err="1"/>
              <a:t>Policies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D8201-E814-754C-57A9-E0D3326C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e.g., </a:t>
            </a:r>
            <a:r>
              <a:rPr lang="de-DE" dirty="0" err="1"/>
              <a:t>SmolVLA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BC5031-BD7E-00D2-C81A-AA5111B9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472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7BBA6-3E54-57FD-D5B4-A8C70F73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Vision-Language-Action Models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889E58-4E7D-1C17-1621-FA929ACC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Integrating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and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inputs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Vision </a:t>
            </a:r>
            <a:r>
              <a:rPr lang="de-DE" dirty="0" err="1"/>
              <a:t>encoders</a:t>
            </a:r>
            <a:r>
              <a:rPr lang="de-DE" dirty="0"/>
              <a:t> (</a:t>
            </a:r>
            <a:r>
              <a:rPr lang="de-DE" dirty="0" err="1"/>
              <a:t>ResNet</a:t>
            </a:r>
            <a:r>
              <a:rPr lang="de-DE" dirty="0"/>
              <a:t>, </a:t>
            </a:r>
            <a:r>
              <a:rPr lang="de-DE" dirty="0" err="1"/>
              <a:t>ViT</a:t>
            </a:r>
            <a:r>
              <a:rPr lang="de-DE" dirty="0"/>
              <a:t>)</a:t>
            </a:r>
          </a:p>
          <a:p>
            <a:r>
              <a:rPr lang="de-DE" dirty="0"/>
              <a:t>Language </a:t>
            </a:r>
            <a:r>
              <a:rPr lang="de-DE" dirty="0" err="1"/>
              <a:t>models</a:t>
            </a:r>
            <a:endParaRPr lang="de-DE" dirty="0"/>
          </a:p>
          <a:p>
            <a:r>
              <a:rPr lang="de-DE" dirty="0"/>
              <a:t>Multimodal </a:t>
            </a:r>
            <a:r>
              <a:rPr lang="de-DE" dirty="0" err="1"/>
              <a:t>fusion</a:t>
            </a:r>
            <a:endParaRPr lang="de-DE" dirty="0"/>
          </a:p>
          <a:p>
            <a:r>
              <a:rPr lang="de-DE" dirty="0" err="1"/>
              <a:t>Tokenization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sensorimotor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471126-BCCE-5A0D-2C01-13F8853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6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AD5003-C83C-F391-DA8F-299D6714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Robotic Control via LLMs (and Vision)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BB89BD-B316-7F6E-C3EB-A486DA0B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36" y="1495168"/>
            <a:ext cx="3977847" cy="2569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dirty="0">
                <a:hlinkClick r:id="rId2"/>
              </a:rPr>
              <a:t>RT-2</a:t>
            </a:r>
            <a:r>
              <a:rPr lang="en-GB" sz="2200" dirty="0"/>
              <a:t>: vision-language-action model learning from web and robotics data</a:t>
            </a:r>
          </a:p>
          <a:p>
            <a:r>
              <a:rPr lang="en-GB" sz="2200" dirty="0"/>
              <a:t>representation of actions as tokens</a:t>
            </a:r>
          </a:p>
          <a:p>
            <a:r>
              <a:rPr lang="en-GB" sz="2200" dirty="0"/>
              <a:t>generalization by using pre-trained vision-language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6E91-EB0C-8D2F-68A7-79B2EE41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21</a:t>
            </a:fld>
            <a:endParaRPr lang="en-DE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EB8199F-BF9A-E55A-03BF-A47F7F63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65" y="1336531"/>
            <a:ext cx="7247493" cy="27651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50B81-2B5D-03E3-7433-C18D7585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33" y="4503655"/>
            <a:ext cx="3515040" cy="2309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CE0C36-E27D-930C-6390-146F4D86F6CD}"/>
              </a:ext>
            </a:extLst>
          </p:cNvPr>
          <p:cNvSpPr txBox="1"/>
          <p:nvPr/>
        </p:nvSpPr>
        <p:spPr>
          <a:xfrm>
            <a:off x="8274265" y="4101714"/>
            <a:ext cx="2303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5"/>
              </a:rPr>
              <a:t>Code as Policies</a:t>
            </a:r>
            <a:r>
              <a:rPr lang="en-GB" sz="22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E2EFD-7288-B837-6E23-4E364C346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42" y="4877689"/>
            <a:ext cx="5908588" cy="1980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939EA9-2178-5806-38E1-EEB94B72C50C}"/>
              </a:ext>
            </a:extLst>
          </p:cNvPr>
          <p:cNvSpPr txBox="1"/>
          <p:nvPr/>
        </p:nvSpPr>
        <p:spPr>
          <a:xfrm>
            <a:off x="683743" y="4409265"/>
            <a:ext cx="5291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dirty="0"/>
              <a:t>grounding with pre-trained skills (</a:t>
            </a:r>
            <a:r>
              <a:rPr lang="en-GB" sz="2200" dirty="0" err="1">
                <a:hlinkClick r:id="rId7"/>
              </a:rPr>
              <a:t>SayCan</a:t>
            </a:r>
            <a:r>
              <a:rPr lang="en-GB" sz="2200" dirty="0"/>
              <a:t>):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8BFAF-90C3-B9FC-FC95-A9C29CA652C2}"/>
              </a:ext>
            </a:extLst>
          </p:cNvPr>
          <p:cNvCxnSpPr>
            <a:cxnSpLocks/>
          </p:cNvCxnSpPr>
          <p:nvPr/>
        </p:nvCxnSpPr>
        <p:spPr>
          <a:xfrm>
            <a:off x="2940908" y="4769708"/>
            <a:ext cx="1293341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1C129D-61C6-8D0A-F6F7-526D2F6A40B5}"/>
              </a:ext>
            </a:extLst>
          </p:cNvPr>
          <p:cNvSpPr txBox="1"/>
          <p:nvPr/>
        </p:nvSpPr>
        <p:spPr>
          <a:xfrm>
            <a:off x="6951519" y="0"/>
            <a:ext cx="524048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200" dirty="0"/>
              <a:t>can also condition imitation learning</a:t>
            </a:r>
          </a:p>
          <a:p>
            <a:r>
              <a:rPr lang="en-GB" sz="2200" dirty="0"/>
              <a:t>diffusion objective for multimodal outputs </a:t>
            </a:r>
          </a:p>
        </p:txBody>
      </p:sp>
    </p:spTree>
    <p:extLst>
      <p:ext uri="{BB962C8B-B14F-4D97-AF65-F5344CB8AC3E}">
        <p14:creationId xmlns:p14="http://schemas.microsoft.com/office/powerpoint/2010/main" val="2284794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A541A-688B-352E-B669-CBF53221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Practice Project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F5C922-C516-DF84-C547-EB961559F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Gymnasium Pendulum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Decision</a:t>
            </a:r>
            <a:r>
              <a:rPr lang="de-DE" dirty="0"/>
              <a:t> Transformer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F9A812-E563-E4FA-9399-59C1E576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683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Macintosh PowerPoint</Application>
  <PresentationFormat>Breitbild</PresentationFormat>
  <Paragraphs>95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 Theme</vt:lpstr>
      <vt:lpstr>Advanced &amp; Emerging RL Methods</vt:lpstr>
      <vt:lpstr>Idea of the Chapter</vt:lpstr>
      <vt:lpstr>Model-Based and Offline RL</vt:lpstr>
      <vt:lpstr>Model-Based RL</vt:lpstr>
      <vt:lpstr>Offline RL</vt:lpstr>
      <vt:lpstr>Learning from Demonstrations</vt:lpstr>
      <vt:lpstr>Behavior Cloning</vt:lpstr>
      <vt:lpstr>Imitation Learning</vt:lpstr>
      <vt:lpstr>RL from Human Feedback</vt:lpstr>
      <vt:lpstr>Reward Model</vt:lpstr>
      <vt:lpstr>RL as Sequence and Generative Modeling</vt:lpstr>
      <vt:lpstr>Trajectory Modeling</vt:lpstr>
      <vt:lpstr>Decision Transformer</vt:lpstr>
      <vt:lpstr>Diffusion Policies</vt:lpstr>
      <vt:lpstr>Scaling RL to Real-World Robotics</vt:lpstr>
      <vt:lpstr>Embodied RL</vt:lpstr>
      <vt:lpstr>Isaac Sim &amp; Lab</vt:lpstr>
      <vt:lpstr>Sim-to-Real Gap</vt:lpstr>
      <vt:lpstr>Generalist Robot Policies</vt:lpstr>
      <vt:lpstr>Vision-Language-Action Models</vt:lpstr>
      <vt:lpstr>Robotic Control via LLMs (and Vision)</vt:lpstr>
      <vt:lpstr>Practice Project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90</cp:revision>
  <dcterms:created xsi:type="dcterms:W3CDTF">2025-01-08T09:27:30Z</dcterms:created>
  <dcterms:modified xsi:type="dcterms:W3CDTF">2026-04-11T07:00:11Z</dcterms:modified>
</cp:coreProperties>
</file>