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66" r:id="rId3"/>
    <p:sldId id="270" r:id="rId4"/>
    <p:sldId id="567" r:id="rId5"/>
    <p:sldId id="565" r:id="rId6"/>
    <p:sldId id="568" r:id="rId7"/>
    <p:sldId id="85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60"/>
    <p:restoredTop sz="95028" autoAdjust="0"/>
  </p:normalViewPr>
  <p:slideViewPr>
    <p:cSldViewPr snapToGrid="0">
      <p:cViewPr varScale="1">
        <p:scale>
          <a:sx n="123" d="100"/>
          <a:sy n="123" d="100"/>
        </p:scale>
        <p:origin x="208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03/03/2026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03/03/2026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03/03/2026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6.02039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arxiv.org/abs/2106.01345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://export.arxiv.org/abs/2204.01691v1" TargetMode="External"/><Relationship Id="rId2" Type="http://schemas.openxmlformats.org/officeDocument/2006/relationships/hyperlink" Target="https://robotics-transformer2.github.io/assets/rt2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arxiv.org/abs/2209.07753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3.02155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ard.google.com/chat" TargetMode="External"/><Relationship Id="rId4" Type="http://schemas.openxmlformats.org/officeDocument/2006/relationships/hyperlink" Target="https://openai.com/chatgpt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bo3kNKPaUA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12.02877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344891" cy="2387600"/>
          </a:xfrm>
        </p:spPr>
        <p:txBody>
          <a:bodyPr/>
          <a:lstStyle/>
          <a:p>
            <a:r>
              <a:rPr lang="de-DE" dirty="0"/>
              <a:t>Alternative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54CE0-BAFB-F9B0-668F-121821B8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Beyond</a:t>
            </a:r>
            <a:r>
              <a:rPr lang="de-DE" dirty="0"/>
              <a:t> Online Model-Free RL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94ABEC-DFA9-E877-8C19-A56BC6A1A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Model-</a:t>
            </a:r>
            <a:r>
              <a:rPr lang="de-DE" dirty="0" err="1"/>
              <a:t>based</a:t>
            </a:r>
            <a:r>
              <a:rPr lang="de-DE" dirty="0"/>
              <a:t> RL</a:t>
            </a:r>
          </a:p>
          <a:p>
            <a:r>
              <a:rPr lang="de-DE" dirty="0"/>
              <a:t>Offline RL</a:t>
            </a:r>
          </a:p>
          <a:p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cloning</a:t>
            </a:r>
            <a:r>
              <a:rPr lang="de-DE" dirty="0"/>
              <a:t> &amp; </a:t>
            </a:r>
            <a:r>
              <a:rPr lang="de-DE" dirty="0" err="1"/>
              <a:t>imitation</a:t>
            </a:r>
            <a:r>
              <a:rPr lang="de-DE" dirty="0"/>
              <a:t> </a:t>
            </a:r>
            <a:r>
              <a:rPr lang="de-DE" dirty="0" err="1"/>
              <a:t>learning</a:t>
            </a:r>
            <a:endParaRPr lang="de-DE" dirty="0"/>
          </a:p>
          <a:p>
            <a:r>
              <a:rPr lang="de-DE" dirty="0" err="1"/>
              <a:t>Sequence</a:t>
            </a:r>
            <a:r>
              <a:rPr lang="de-DE" dirty="0"/>
              <a:t>/</a:t>
            </a:r>
            <a:r>
              <a:rPr lang="de-DE" dirty="0" err="1"/>
              <a:t>trajectory</a:t>
            </a:r>
            <a:r>
              <a:rPr lang="de-DE" dirty="0"/>
              <a:t> </a:t>
            </a:r>
            <a:r>
              <a:rPr lang="de-DE" dirty="0" err="1"/>
              <a:t>modeling</a:t>
            </a:r>
            <a:r>
              <a:rPr lang="de-DE" dirty="0"/>
              <a:t> (</a:t>
            </a:r>
            <a:r>
              <a:rPr lang="de-DE" dirty="0" err="1"/>
              <a:t>Decision</a:t>
            </a:r>
            <a:r>
              <a:rPr lang="de-DE" dirty="0"/>
              <a:t> Transformer, </a:t>
            </a:r>
            <a:r>
              <a:rPr lang="de-DE" dirty="0" err="1"/>
              <a:t>diffusion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policies</a:t>
            </a:r>
            <a:r>
              <a:rPr lang="de-DE" dirty="0"/>
              <a:t>)</a:t>
            </a:r>
          </a:p>
          <a:p>
            <a:r>
              <a:rPr lang="de-DE" dirty="0"/>
              <a:t>Vision-</a:t>
            </a:r>
            <a:r>
              <a:rPr lang="de-DE" dirty="0" err="1"/>
              <a:t>language</a:t>
            </a:r>
            <a:r>
              <a:rPr lang="de-DE" dirty="0"/>
              <a:t>-action </a:t>
            </a:r>
            <a:r>
              <a:rPr lang="de-DE" dirty="0" err="1"/>
              <a:t>models</a:t>
            </a:r>
            <a:endParaRPr lang="de-DE" dirty="0"/>
          </a:p>
          <a:p>
            <a:pPr lvl="1"/>
            <a:r>
              <a:rPr lang="de-DE" dirty="0"/>
              <a:t>Vision </a:t>
            </a:r>
            <a:r>
              <a:rPr lang="de-DE" dirty="0" err="1"/>
              <a:t>encoders</a:t>
            </a:r>
            <a:r>
              <a:rPr lang="de-DE" dirty="0"/>
              <a:t> (</a:t>
            </a:r>
            <a:r>
              <a:rPr lang="de-DE" dirty="0" err="1"/>
              <a:t>ResNet</a:t>
            </a:r>
            <a:r>
              <a:rPr lang="de-DE" dirty="0"/>
              <a:t>, </a:t>
            </a:r>
            <a:r>
              <a:rPr lang="de-DE" dirty="0" err="1"/>
              <a:t>ViT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Language </a:t>
            </a:r>
            <a:r>
              <a:rPr lang="de-DE" dirty="0" err="1"/>
              <a:t>models</a:t>
            </a:r>
            <a:r>
              <a:rPr lang="de-DE" dirty="0"/>
              <a:t> (</a:t>
            </a:r>
            <a:r>
              <a:rPr lang="de-DE" dirty="0" err="1"/>
              <a:t>side</a:t>
            </a:r>
            <a:r>
              <a:rPr lang="de-DE" dirty="0"/>
              <a:t> </a:t>
            </a:r>
            <a:r>
              <a:rPr lang="de-DE" dirty="0" err="1"/>
              <a:t>note</a:t>
            </a:r>
            <a:r>
              <a:rPr lang="de-DE" dirty="0"/>
              <a:t>: RLHF </a:t>
            </a:r>
            <a:r>
              <a:rPr lang="de-DE" dirty="0" err="1"/>
              <a:t>for</a:t>
            </a:r>
            <a:r>
              <a:rPr lang="de-DE" dirty="0"/>
              <a:t> LLM post-training)</a:t>
            </a:r>
          </a:p>
          <a:p>
            <a:pPr lvl="1"/>
            <a:r>
              <a:rPr lang="de-DE" dirty="0"/>
              <a:t>Multimodal </a:t>
            </a:r>
            <a:r>
              <a:rPr lang="de-DE" dirty="0" err="1"/>
              <a:t>fusion</a:t>
            </a:r>
            <a:endParaRPr lang="de-DE" dirty="0"/>
          </a:p>
          <a:p>
            <a:pPr lvl="1"/>
            <a:r>
              <a:rPr lang="de-DE" dirty="0" err="1"/>
              <a:t>Tokenization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sensorimotor</a:t>
            </a:r>
            <a:r>
              <a:rPr lang="de-DE" dirty="0"/>
              <a:t> </a:t>
            </a:r>
            <a:r>
              <a:rPr lang="de-DE" dirty="0" err="1"/>
              <a:t>sequences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BA8F83-5EF2-341E-9942-5EE099C5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10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D28C070E-E67E-4A4B-8912-C1DFA3E3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434" y="4952539"/>
            <a:ext cx="4874938" cy="15322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FA5E25-4C4E-8E4F-800E-FCEAE85C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Sequence </a:t>
            </a:r>
            <a:r>
              <a:rPr lang="en-GB" dirty="0" err="1"/>
              <a:t>Modeling</a:t>
            </a:r>
            <a:r>
              <a:rPr lang="en-GB" dirty="0"/>
              <a:t> for Decisions/Actions</a:t>
            </a:r>
            <a:endParaRPr lang="en-DE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8DBBE30-BBC1-E075-F300-56679CC53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766065"/>
            <a:ext cx="5181600" cy="10592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dirty="0"/>
              <a:t>Trajectory Transformer: predicting also states and returns</a:t>
            </a:r>
            <a:r>
              <a:rPr lang="en-DE" sz="2200" dirty="0"/>
              <a:t> (adding model-based components, planning with beam search)</a:t>
            </a:r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24ACB-E966-844E-A0DE-385B6E81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2C1F-BED8-2340-8784-C66D22CCFBBD}" type="slidenum">
              <a:rPr lang="en-DE" smtClean="0"/>
              <a:t>3</a:t>
            </a:fld>
            <a:endParaRPr lang="en-DE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D8032CD-824A-8A92-E99A-A8692702D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2" y="3766065"/>
            <a:ext cx="5181600" cy="9216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dirty="0"/>
              <a:t>Decision Transformer: conditioning on desired return, past states and actions to generate future actions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5ABCDE-9701-E866-3BCA-B436DAF6EF1F}"/>
              </a:ext>
            </a:extLst>
          </p:cNvPr>
          <p:cNvSpPr txBox="1"/>
          <p:nvPr/>
        </p:nvSpPr>
        <p:spPr>
          <a:xfrm>
            <a:off x="9982200" y="6447336"/>
            <a:ext cx="647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CD6FBD2-642C-114A-7CF1-8D15CFD0AEFD}"/>
              </a:ext>
            </a:extLst>
          </p:cNvPr>
          <p:cNvSpPr txBox="1">
            <a:spLocks/>
          </p:cNvSpPr>
          <p:nvPr/>
        </p:nvSpPr>
        <p:spPr>
          <a:xfrm>
            <a:off x="838200" y="1825626"/>
            <a:ext cx="10515600" cy="17756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generative: transformer decoder architecture to autoregressively model trajectories</a:t>
            </a:r>
          </a:p>
          <a:p>
            <a:pPr marL="0" indent="0">
              <a:buNone/>
            </a:pPr>
            <a:r>
              <a:rPr lang="en-GB" sz="2400" dirty="0"/>
              <a:t>credit assignment directly via self-attention: implicitly forming state-return associations via similarity of query and key vectors (maximizing the dot product)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desired return tokens as prompt for action generation</a:t>
            </a:r>
          </a:p>
        </p:txBody>
      </p:sp>
      <p:pic>
        <p:nvPicPr>
          <p:cNvPr id="20" name="Picture 19" descr="Timeline&#10;&#10;Description automatically generated">
            <a:extLst>
              <a:ext uri="{FF2B5EF4-FFF2-40B4-BE49-F238E27FC236}">
                <a16:creationId xmlns:a16="http://schemas.microsoft.com/office/drawing/2014/main" id="{B96325C6-CD84-1238-3CDD-CF3980E1F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96" y="4852526"/>
            <a:ext cx="4122684" cy="18794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5AE88BA-BE2D-FB13-D868-131A1E91AF16}"/>
              </a:ext>
            </a:extLst>
          </p:cNvPr>
          <p:cNvSpPr txBox="1"/>
          <p:nvPr/>
        </p:nvSpPr>
        <p:spPr>
          <a:xfrm>
            <a:off x="1144763" y="6342230"/>
            <a:ext cx="652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5"/>
              </a:rPr>
              <a:t>source</a:t>
            </a:r>
            <a:endParaRPr lang="de-DE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002E9-22BD-8C75-95CD-6B4A3A738ADA}"/>
              </a:ext>
            </a:extLst>
          </p:cNvPr>
          <p:cNvSpPr txBox="1"/>
          <p:nvPr/>
        </p:nvSpPr>
        <p:spPr>
          <a:xfrm>
            <a:off x="8813800" y="67280"/>
            <a:ext cx="33168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200" dirty="0"/>
              <a:t>overcome Markov property</a:t>
            </a:r>
          </a:p>
        </p:txBody>
      </p:sp>
    </p:spTree>
    <p:extLst>
      <p:ext uri="{BB962C8B-B14F-4D97-AF65-F5344CB8AC3E}">
        <p14:creationId xmlns:p14="http://schemas.microsoft.com/office/powerpoint/2010/main" val="2693696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EAD5003-C83C-F391-DA8F-299D6714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Robotic Control via LLMs (and Vision)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BB89BD-B316-7F6E-C3EB-A486DA0B7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36" y="1495168"/>
            <a:ext cx="3977847" cy="25691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200" dirty="0">
                <a:hlinkClick r:id="rId2"/>
              </a:rPr>
              <a:t>RT-2</a:t>
            </a:r>
            <a:r>
              <a:rPr lang="en-GB" sz="2200" dirty="0"/>
              <a:t>: vision-language-action model learning from web and robotics data</a:t>
            </a:r>
          </a:p>
          <a:p>
            <a:r>
              <a:rPr lang="en-GB" sz="2200" dirty="0"/>
              <a:t>representation of actions as tokens</a:t>
            </a:r>
          </a:p>
          <a:p>
            <a:r>
              <a:rPr lang="en-GB" sz="2200" dirty="0"/>
              <a:t>generalization by using pre-trained vision-language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46E91-EB0C-8D2F-68A7-79B2EE41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4</a:t>
            </a:fld>
            <a:endParaRPr lang="en-DE"/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AEB8199F-BF9A-E55A-03BF-A47F7F63F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565" y="1336531"/>
            <a:ext cx="7247493" cy="27651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A50B81-2B5D-03E3-7433-C18D7585B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633" y="4503655"/>
            <a:ext cx="3515040" cy="23091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CE0C36-E27D-930C-6390-146F4D86F6CD}"/>
              </a:ext>
            </a:extLst>
          </p:cNvPr>
          <p:cNvSpPr txBox="1"/>
          <p:nvPr/>
        </p:nvSpPr>
        <p:spPr>
          <a:xfrm>
            <a:off x="8274265" y="4101714"/>
            <a:ext cx="23036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hlinkClick r:id="rId5"/>
              </a:rPr>
              <a:t>Code as Policies</a:t>
            </a:r>
            <a:r>
              <a:rPr lang="en-GB" sz="2200" dirty="0"/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EE2EFD-7288-B837-6E23-4E364C346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742" y="4877689"/>
            <a:ext cx="5908588" cy="1980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939EA9-2178-5806-38E1-EEB94B72C50C}"/>
              </a:ext>
            </a:extLst>
          </p:cNvPr>
          <p:cNvSpPr txBox="1"/>
          <p:nvPr/>
        </p:nvSpPr>
        <p:spPr>
          <a:xfrm>
            <a:off x="683743" y="4409265"/>
            <a:ext cx="52910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200" dirty="0"/>
              <a:t>grounding with pre-trained skills (</a:t>
            </a:r>
            <a:r>
              <a:rPr lang="en-GB" sz="2200" dirty="0" err="1">
                <a:hlinkClick r:id="rId7"/>
              </a:rPr>
              <a:t>SayCan</a:t>
            </a:r>
            <a:r>
              <a:rPr lang="en-GB" sz="2200" dirty="0"/>
              <a:t>):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38BFAF-90C3-B9FC-FC95-A9C29CA652C2}"/>
              </a:ext>
            </a:extLst>
          </p:cNvPr>
          <p:cNvCxnSpPr>
            <a:cxnSpLocks/>
          </p:cNvCxnSpPr>
          <p:nvPr/>
        </p:nvCxnSpPr>
        <p:spPr>
          <a:xfrm>
            <a:off x="2940908" y="4769708"/>
            <a:ext cx="1293341" cy="593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11C129D-61C6-8D0A-F6F7-526D2F6A40B5}"/>
              </a:ext>
            </a:extLst>
          </p:cNvPr>
          <p:cNvSpPr txBox="1"/>
          <p:nvPr/>
        </p:nvSpPr>
        <p:spPr>
          <a:xfrm>
            <a:off x="6951519" y="0"/>
            <a:ext cx="5240482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sz="2200" dirty="0"/>
              <a:t>can also condition imitation learning</a:t>
            </a:r>
          </a:p>
          <a:p>
            <a:r>
              <a:rPr lang="en-GB" sz="2200" dirty="0"/>
              <a:t>diffusion objective for multimodal outputs </a:t>
            </a:r>
          </a:p>
        </p:txBody>
      </p:sp>
    </p:spTree>
    <p:extLst>
      <p:ext uri="{BB962C8B-B14F-4D97-AF65-F5344CB8AC3E}">
        <p14:creationId xmlns:p14="http://schemas.microsoft.com/office/powerpoint/2010/main" val="2284794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2F0C89D-B6FC-F83C-9F0B-A0A7B0579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405625"/>
            <a:ext cx="7772400" cy="45817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3F088E-C3DC-F2DD-C0D6-CDDB7178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RL from Human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A0BAE-42AC-6B59-AF1B-7A814C8BF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2811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example for supporting large language models (transformers) with RL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u</a:t>
            </a:r>
            <a:r>
              <a:rPr lang="en-DE" sz="2400" dirty="0"/>
              <a:t>sed in famous ChatGPT</a:t>
            </a:r>
          </a:p>
          <a:p>
            <a:pPr marL="0" indent="0">
              <a:buNone/>
            </a:pPr>
            <a:endParaRPr lang="en-DE" sz="2400" dirty="0"/>
          </a:p>
          <a:p>
            <a:pPr marL="0" indent="0">
              <a:buNone/>
            </a:pPr>
            <a:r>
              <a:rPr lang="en-GB" sz="2400" dirty="0"/>
              <a:t>goal</a:t>
            </a:r>
            <a:r>
              <a:rPr lang="en-DE" sz="2400" dirty="0"/>
              <a:t>: improve alignment with user intentions</a:t>
            </a:r>
          </a:p>
          <a:p>
            <a:pPr marL="0" indent="0">
              <a:buNone/>
            </a:pPr>
            <a:r>
              <a:rPr lang="en-DE" sz="2400" dirty="0">
                <a:sym typeface="Wingdings" pitchFamily="2" charset="2"/>
              </a:rPr>
              <a:t> </a:t>
            </a:r>
            <a:r>
              <a:rPr lang="en-GB" sz="2400" dirty="0">
                <a:sym typeface="Wingdings" pitchFamily="2" charset="2"/>
              </a:rPr>
              <a:t>l</a:t>
            </a:r>
            <a:r>
              <a:rPr lang="en-DE" sz="2400" dirty="0">
                <a:sym typeface="Wingdings" pitchFamily="2" charset="2"/>
              </a:rPr>
              <a:t>earn from human preferences</a:t>
            </a:r>
            <a:endParaRPr lang="en-D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34CD7-6253-E16B-BF24-28A9AD5BF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5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5346F-C1B5-44BB-1572-3B45F4ED02AB}"/>
              </a:ext>
            </a:extLst>
          </p:cNvPr>
          <p:cNvSpPr txBox="1"/>
          <p:nvPr/>
        </p:nvSpPr>
        <p:spPr>
          <a:xfrm>
            <a:off x="11471564" y="5912427"/>
            <a:ext cx="567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E95162-A0A6-C1BF-4669-5F2070D5B2D9}"/>
              </a:ext>
            </a:extLst>
          </p:cNvPr>
          <p:cNvSpPr txBox="1"/>
          <p:nvPr/>
        </p:nvSpPr>
        <p:spPr>
          <a:xfrm>
            <a:off x="4074452" y="5987366"/>
            <a:ext cx="68437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dirty="0"/>
              <a:t>RL looks at reward of text output passages as a whole</a:t>
            </a:r>
          </a:p>
          <a:p>
            <a:r>
              <a:rPr lang="en-DE" sz="2400" dirty="0"/>
              <a:t>(rather than token-level loss in supervised learning)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DCB36A-F3CD-F1E8-2BCE-4920F055AE4C}"/>
              </a:ext>
            </a:extLst>
          </p:cNvPr>
          <p:cNvCxnSpPr>
            <a:stCxn id="6" idx="0"/>
          </p:cNvCxnSpPr>
          <p:nvPr/>
        </p:nvCxnSpPr>
        <p:spPr>
          <a:xfrm flipV="1">
            <a:off x="7496319" y="5423338"/>
            <a:ext cx="544095" cy="564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369C2E-81DE-95D0-4575-09A54721567F}"/>
              </a:ext>
            </a:extLst>
          </p:cNvPr>
          <p:cNvCxnSpPr>
            <a:stCxn id="6" idx="0"/>
          </p:cNvCxnSpPr>
          <p:nvPr/>
        </p:nvCxnSpPr>
        <p:spPr>
          <a:xfrm flipV="1">
            <a:off x="7496319" y="5213131"/>
            <a:ext cx="2194219" cy="774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36E222B-9AD4-6410-D19C-F53E4BAB3E0B}"/>
              </a:ext>
            </a:extLst>
          </p:cNvPr>
          <p:cNvSpPr txBox="1"/>
          <p:nvPr/>
        </p:nvSpPr>
        <p:spPr>
          <a:xfrm>
            <a:off x="9414164" y="39637"/>
            <a:ext cx="2761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n-DE" dirty="0"/>
              <a:t>xamples: </a:t>
            </a:r>
            <a:r>
              <a:rPr lang="en-DE" dirty="0">
                <a:hlinkClick r:id="rId4"/>
              </a:rPr>
              <a:t>ChatGPT</a:t>
            </a:r>
            <a:r>
              <a:rPr lang="en-DE" dirty="0"/>
              <a:t>,</a:t>
            </a:r>
            <a:r>
              <a:rPr lang="en-GB" dirty="0"/>
              <a:t> </a:t>
            </a:r>
            <a:r>
              <a:rPr lang="en-GB" dirty="0">
                <a:hlinkClick r:id="rId5"/>
              </a:rPr>
              <a:t>Bard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7215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5B70AB9-0BC4-1E66-9A69-3EC9AB066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1" y="1690688"/>
            <a:ext cx="8340594" cy="45074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404CCD-7229-82B2-D1B8-04EBA1031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Reward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D22C8-EC85-4D35-CEC9-046ED7D85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6</a:t>
            </a:fld>
            <a:endParaRPr lang="en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3B01FF-1571-A5E4-44E5-D12652BC9357}"/>
              </a:ext>
            </a:extLst>
          </p:cNvPr>
          <p:cNvSpPr txBox="1"/>
          <p:nvPr/>
        </p:nvSpPr>
        <p:spPr>
          <a:xfrm>
            <a:off x="6851822" y="5923318"/>
            <a:ext cx="6192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3CE18-C392-78CC-5AF4-58FFCE773BC9}"/>
              </a:ext>
            </a:extLst>
          </p:cNvPr>
          <p:cNvSpPr txBox="1"/>
          <p:nvPr/>
        </p:nvSpPr>
        <p:spPr>
          <a:xfrm>
            <a:off x="8077287" y="3288785"/>
            <a:ext cx="3908766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loss function for supervised learning sometimes difficult to define</a:t>
            </a:r>
          </a:p>
          <a:p>
            <a:endParaRPr lang="en-GB" sz="2400" dirty="0"/>
          </a:p>
          <a:p>
            <a:r>
              <a:rPr lang="en-GB" sz="2400" dirty="0"/>
              <a:t>RL allows learning (instead of manually setting) of loss function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2ED80-4B46-74FC-59F4-1052A516B67B}"/>
              </a:ext>
            </a:extLst>
          </p:cNvPr>
          <p:cNvSpPr txBox="1"/>
          <p:nvPr/>
        </p:nvSpPr>
        <p:spPr>
          <a:xfrm>
            <a:off x="2982097" y="5086062"/>
            <a:ext cx="1132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(e.g., RLHF)</a:t>
            </a:r>
          </a:p>
        </p:txBody>
      </p:sp>
    </p:spTree>
    <p:extLst>
      <p:ext uri="{BB962C8B-B14F-4D97-AF65-F5344CB8AC3E}">
        <p14:creationId xmlns:p14="http://schemas.microsoft.com/office/powerpoint/2010/main" val="403229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69027-781C-2360-A8C2-4D09CCE62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D3AD9-C7C4-0C91-D356-AC7281A38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Upside–Down RL</a:t>
            </a:r>
            <a:endParaRPr lang="en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44E1C86-3E59-C88F-5647-AC30A4335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76142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alternative to conventional RL</a:t>
            </a: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 </a:t>
            </a:r>
            <a:r>
              <a:rPr lang="en-GB" dirty="0"/>
              <a:t>n</a:t>
            </a:r>
            <a:r>
              <a:rPr lang="en-DE"/>
              <a:t>o bootstrapping</a:t>
            </a:r>
            <a:r>
              <a:rPr lang="en-GB" dirty="0"/>
              <a:t>, just supervised learning with “command” features (hindsight return in training, kind of prompt in inference)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3EB67-62E5-2FEF-07DD-A78ED719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2C1F-BED8-2340-8784-C66D22CCFBBD}" type="slidenum">
              <a:rPr lang="en-DE" smtClean="0"/>
              <a:t>7</a:t>
            </a:fld>
            <a:endParaRPr lang="en-DE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3E1982DB-D5F9-A15D-0A97-D110371A4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17" y="4286157"/>
            <a:ext cx="6435612" cy="24757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BDBF69-4248-E002-D8D4-9B7638A2934A}"/>
              </a:ext>
            </a:extLst>
          </p:cNvPr>
          <p:cNvSpPr txBox="1"/>
          <p:nvPr/>
        </p:nvSpPr>
        <p:spPr>
          <a:xfrm>
            <a:off x="6328064" y="6492875"/>
            <a:ext cx="5656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7F40D3-B6C6-7300-BDC4-ABC9845613EE}"/>
              </a:ext>
            </a:extLst>
          </p:cNvPr>
          <p:cNvSpPr txBox="1"/>
          <p:nvPr/>
        </p:nvSpPr>
        <p:spPr>
          <a:xfrm>
            <a:off x="7471719" y="4708409"/>
            <a:ext cx="46788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But policy improvement (i.e., higher return) beyond training examples (extrapolation) usually still requires policy iteration (here: iteratively updated trainings with new data with higher returns).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365428-88B3-18A0-A359-D29654D90FD5}"/>
              </a:ext>
            </a:extLst>
          </p:cNvPr>
          <p:cNvSpPr txBox="1"/>
          <p:nvPr/>
        </p:nvSpPr>
        <p:spPr>
          <a:xfrm>
            <a:off x="8956964" y="2162545"/>
            <a:ext cx="3193647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offline RL: no interaction with environment, just fixed data set of trajectory rollouts of arbitrary policies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F68E9E-D7BF-6127-6A50-B7CCF0CA1C8F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9811165" y="3485984"/>
            <a:ext cx="742623" cy="1222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763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</Words>
  <Application>Microsoft Macintosh PowerPoint</Application>
  <PresentationFormat>Breitbild</PresentationFormat>
  <Paragraphs>58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Alternative Methods</vt:lpstr>
      <vt:lpstr>Beyond Online Model-Free RL</vt:lpstr>
      <vt:lpstr>Sequence Modeling for Decisions/Actions</vt:lpstr>
      <vt:lpstr>Robotic Control via LLMs (and Vision)</vt:lpstr>
      <vt:lpstr>RL from Human Feedback</vt:lpstr>
      <vt:lpstr>Reward Model</vt:lpstr>
      <vt:lpstr>Upside–Down RL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65</cp:revision>
  <dcterms:created xsi:type="dcterms:W3CDTF">2025-01-08T09:27:30Z</dcterms:created>
  <dcterms:modified xsi:type="dcterms:W3CDTF">2026-03-03T08:22:13Z</dcterms:modified>
</cp:coreProperties>
</file>