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3"/>
  </p:notesMasterIdLst>
  <p:sldIdLst>
    <p:sldId id="256" r:id="rId2"/>
    <p:sldId id="871" r:id="rId3"/>
    <p:sldId id="861" r:id="rId4"/>
    <p:sldId id="862" r:id="rId5"/>
    <p:sldId id="854" r:id="rId6"/>
    <p:sldId id="855" r:id="rId7"/>
    <p:sldId id="867" r:id="rId8"/>
    <p:sldId id="856" r:id="rId9"/>
    <p:sldId id="866" r:id="rId10"/>
    <p:sldId id="565" r:id="rId11"/>
    <p:sldId id="864" r:id="rId12"/>
    <p:sldId id="860" r:id="rId13"/>
    <p:sldId id="270" r:id="rId14"/>
    <p:sldId id="858" r:id="rId15"/>
    <p:sldId id="868" r:id="rId16"/>
    <p:sldId id="857" r:id="rId17"/>
    <p:sldId id="870" r:id="rId18"/>
    <p:sldId id="869" r:id="rId19"/>
    <p:sldId id="271" r:id="rId20"/>
    <p:sldId id="859" r:id="rId21"/>
    <p:sldId id="56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F59F2E-701A-4175-A64C-D0A9AC6FD62F}" v="178" dt="2025-03-13T14:52:19.3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5342"/>
    <p:restoredTop sz="95028" autoAdjust="0"/>
  </p:normalViewPr>
  <p:slideViewPr>
    <p:cSldViewPr snapToGrid="0">
      <p:cViewPr varScale="1">
        <p:scale>
          <a:sx n="109" d="100"/>
          <a:sy n="109" d="100"/>
        </p:scale>
        <p:origin x="216" y="3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ck, Felix" userId="85efb633-acf6-425d-a271-4f136bfa2fb0" providerId="ADAL" clId="{64F59F2E-701A-4175-A64C-D0A9AC6FD62F}"/>
    <pc:docChg chg="undo redo custSel addSld delSld modSld sldOrd">
      <pc:chgData name="Wick, Felix" userId="85efb633-acf6-425d-a271-4f136bfa2fb0" providerId="ADAL" clId="{64F59F2E-701A-4175-A64C-D0A9AC6FD62F}" dt="2025-03-18T21:58:08.602" v="7865" actId="20577"/>
      <pc:docMkLst>
        <pc:docMk/>
      </pc:docMkLst>
      <pc:sldChg chg="modSp mod">
        <pc:chgData name="Wick, Felix" userId="85efb633-acf6-425d-a271-4f136bfa2fb0" providerId="ADAL" clId="{64F59F2E-701A-4175-A64C-D0A9AC6FD62F}" dt="2025-01-11T15:55:30.554" v="12" actId="20577"/>
        <pc:sldMkLst>
          <pc:docMk/>
          <pc:sldMk cId="2303947443" sldId="256"/>
        </pc:sldMkLst>
        <pc:spChg chg="mod">
          <ac:chgData name="Wick, Felix" userId="85efb633-acf6-425d-a271-4f136bfa2fb0" providerId="ADAL" clId="{64F59F2E-701A-4175-A64C-D0A9AC6FD62F}" dt="2025-01-11T15:55:30.554" v="12" actId="20577"/>
          <ac:spMkLst>
            <pc:docMk/>
            <pc:sldMk cId="2303947443" sldId="256"/>
            <ac:spMk id="2" creationId="{F698641C-BAC0-4155-84D5-F4B73D88F27B}"/>
          </ac:spMkLst>
        </pc:spChg>
      </pc:sldChg>
      <pc:sldChg chg="delSp modSp del mod">
        <pc:chgData name="Wick, Felix" userId="85efb633-acf6-425d-a271-4f136bfa2fb0" providerId="ADAL" clId="{64F59F2E-701A-4175-A64C-D0A9AC6FD62F}" dt="2025-01-11T15:59:29.377" v="288" actId="47"/>
        <pc:sldMkLst>
          <pc:docMk/>
          <pc:sldMk cId="532403847" sldId="258"/>
        </pc:sldMkLst>
      </pc:sldChg>
      <pc:sldChg chg="modSp mod">
        <pc:chgData name="Wick, Felix" userId="85efb633-acf6-425d-a271-4f136bfa2fb0" providerId="ADAL" clId="{64F59F2E-701A-4175-A64C-D0A9AC6FD62F}" dt="2025-02-25T14:39:28.114" v="4429" actId="20577"/>
        <pc:sldMkLst>
          <pc:docMk/>
          <pc:sldMk cId="3227613796" sldId="259"/>
        </pc:sldMkLst>
        <pc:spChg chg="mod">
          <ac:chgData name="Wick, Felix" userId="85efb633-acf6-425d-a271-4f136bfa2fb0" providerId="ADAL" clId="{64F59F2E-701A-4175-A64C-D0A9AC6FD62F}" dt="2025-02-25T14:39:28.114" v="4429" actId="20577"/>
          <ac:spMkLst>
            <pc:docMk/>
            <pc:sldMk cId="3227613796" sldId="259"/>
            <ac:spMk id="2" creationId="{D19A2E5C-5FD4-F085-4DAA-7404FBAAA90F}"/>
          </ac:spMkLst>
        </pc:spChg>
      </pc:sldChg>
      <pc:sldChg chg="modSp del mod">
        <pc:chgData name="Wick, Felix" userId="85efb633-acf6-425d-a271-4f136bfa2fb0" providerId="ADAL" clId="{64F59F2E-701A-4175-A64C-D0A9AC6FD62F}" dt="2025-02-27T21:48:52.912" v="4719" actId="47"/>
        <pc:sldMkLst>
          <pc:docMk/>
          <pc:sldMk cId="2989276016" sldId="260"/>
        </pc:sldMkLst>
      </pc:sldChg>
      <pc:sldChg chg="modSp del mod">
        <pc:chgData name="Wick, Felix" userId="85efb633-acf6-425d-a271-4f136bfa2fb0" providerId="ADAL" clId="{64F59F2E-701A-4175-A64C-D0A9AC6FD62F}" dt="2025-02-27T21:49:44.119" v="4720" actId="47"/>
        <pc:sldMkLst>
          <pc:docMk/>
          <pc:sldMk cId="3084296972" sldId="261"/>
        </pc:sldMkLst>
      </pc:sldChg>
      <pc:sldChg chg="addSp delSp modSp del mod">
        <pc:chgData name="Wick, Felix" userId="85efb633-acf6-425d-a271-4f136bfa2fb0" providerId="ADAL" clId="{64F59F2E-701A-4175-A64C-D0A9AC6FD62F}" dt="2025-02-27T22:12:12.283" v="4774" actId="47"/>
        <pc:sldMkLst>
          <pc:docMk/>
          <pc:sldMk cId="3879865430" sldId="263"/>
        </pc:sldMkLst>
      </pc:sldChg>
      <pc:sldChg chg="del">
        <pc:chgData name="Wick, Felix" userId="85efb633-acf6-425d-a271-4f136bfa2fb0" providerId="ADAL" clId="{64F59F2E-701A-4175-A64C-D0A9AC6FD62F}" dt="2025-01-13T13:58:11.553" v="705" actId="47"/>
        <pc:sldMkLst>
          <pc:docMk/>
          <pc:sldMk cId="1504602858" sldId="264"/>
        </pc:sldMkLst>
      </pc:sldChg>
      <pc:sldChg chg="addSp delSp modSp new mod ord modClrScheme chgLayout">
        <pc:chgData name="Wick, Felix" userId="85efb633-acf6-425d-a271-4f136bfa2fb0" providerId="ADAL" clId="{64F59F2E-701A-4175-A64C-D0A9AC6FD62F}" dt="2025-03-18T21:58:08.602" v="7865" actId="20577"/>
        <pc:sldMkLst>
          <pc:docMk/>
          <pc:sldMk cId="310336692" sldId="265"/>
        </pc:sldMkLst>
        <pc:spChg chg="add mod ord">
          <ac:chgData name="Wick, Felix" userId="85efb633-acf6-425d-a271-4f136bfa2fb0" providerId="ADAL" clId="{64F59F2E-701A-4175-A64C-D0A9AC6FD62F}" dt="2025-03-13T14:46:43.032" v="7444" actId="20577"/>
          <ac:spMkLst>
            <pc:docMk/>
            <pc:sldMk cId="310336692" sldId="265"/>
            <ac:spMk id="2" creationId="{9E6F3DDA-AA1C-74F2-B6BC-5D82FAA8ECEA}"/>
          </ac:spMkLst>
        </pc:spChg>
        <pc:spChg chg="mod ord">
          <ac:chgData name="Wick, Felix" userId="85efb633-acf6-425d-a271-4f136bfa2fb0" providerId="ADAL" clId="{64F59F2E-701A-4175-A64C-D0A9AC6FD62F}" dt="2025-03-01T21:02:42.586" v="5242" actId="700"/>
          <ac:spMkLst>
            <pc:docMk/>
            <pc:sldMk cId="310336692" sldId="265"/>
            <ac:spMk id="3" creationId="{A0664D44-83AC-6A7A-17E0-C1AE2ED18FF5}"/>
          </ac:spMkLst>
        </pc:spChg>
        <pc:spChg chg="add mod ord">
          <ac:chgData name="Wick, Felix" userId="85efb633-acf6-425d-a271-4f136bfa2fb0" providerId="ADAL" clId="{64F59F2E-701A-4175-A64C-D0A9AC6FD62F}" dt="2025-03-01T21:02:42.586" v="5242" actId="700"/>
          <ac:spMkLst>
            <pc:docMk/>
            <pc:sldMk cId="310336692" sldId="265"/>
            <ac:spMk id="4" creationId="{080AD447-446B-E09E-6F4A-522C1DBB462E}"/>
          </ac:spMkLst>
        </pc:spChg>
        <pc:spChg chg="add mod ord">
          <ac:chgData name="Wick, Felix" userId="85efb633-acf6-425d-a271-4f136bfa2fb0" providerId="ADAL" clId="{64F59F2E-701A-4175-A64C-D0A9AC6FD62F}" dt="2025-03-18T21:58:08.602" v="7865" actId="20577"/>
          <ac:spMkLst>
            <pc:docMk/>
            <pc:sldMk cId="310336692" sldId="265"/>
            <ac:spMk id="5" creationId="{36CB8FEE-6184-4A56-893A-894FD7378451}"/>
          </ac:spMkLst>
        </pc:spChg>
      </pc:sldChg>
      <pc:sldChg chg="addSp modSp mod modClrScheme chgLayout">
        <pc:chgData name="Wick, Felix" userId="85efb633-acf6-425d-a271-4f136bfa2fb0" providerId="ADAL" clId="{64F59F2E-701A-4175-A64C-D0A9AC6FD62F}" dt="2025-03-02T20:22:55.225" v="7118" actId="113"/>
        <pc:sldMkLst>
          <pc:docMk/>
          <pc:sldMk cId="3544795835" sldId="270"/>
        </pc:sldMkLst>
        <pc:spChg chg="mod ord">
          <ac:chgData name="Wick, Felix" userId="85efb633-acf6-425d-a271-4f136bfa2fb0" providerId="ADAL" clId="{64F59F2E-701A-4175-A64C-D0A9AC6FD62F}" dt="2025-03-02T20:18:52.071" v="7037" actId="700"/>
          <ac:spMkLst>
            <pc:docMk/>
            <pc:sldMk cId="3544795835" sldId="270"/>
            <ac:spMk id="2" creationId="{5CFF9571-C6ED-CFC8-29FD-1B24BD4B2A10}"/>
          </ac:spMkLst>
        </pc:spChg>
        <pc:spChg chg="mod ord">
          <ac:chgData name="Wick, Felix" userId="85efb633-acf6-425d-a271-4f136bfa2fb0" providerId="ADAL" clId="{64F59F2E-701A-4175-A64C-D0A9AC6FD62F}" dt="2025-03-02T20:22:52.794" v="7117" actId="113"/>
          <ac:spMkLst>
            <pc:docMk/>
            <pc:sldMk cId="3544795835" sldId="270"/>
            <ac:spMk id="3" creationId="{33BBB58C-563A-AD3B-2A93-23C918781FCA}"/>
          </ac:spMkLst>
        </pc:spChg>
        <pc:spChg chg="mod ord">
          <ac:chgData name="Wick, Felix" userId="85efb633-acf6-425d-a271-4f136bfa2fb0" providerId="ADAL" clId="{64F59F2E-701A-4175-A64C-D0A9AC6FD62F}" dt="2025-03-02T20:18:52.071" v="7037" actId="700"/>
          <ac:spMkLst>
            <pc:docMk/>
            <pc:sldMk cId="3544795835" sldId="270"/>
            <ac:spMk id="4" creationId="{575B97E4-48D3-5CA3-B6B2-3BC5DD71690F}"/>
          </ac:spMkLst>
        </pc:spChg>
        <pc:spChg chg="add mod">
          <ac:chgData name="Wick, Felix" userId="85efb633-acf6-425d-a271-4f136bfa2fb0" providerId="ADAL" clId="{64F59F2E-701A-4175-A64C-D0A9AC6FD62F}" dt="2025-03-02T20:20:47.149" v="7107" actId="1076"/>
          <ac:spMkLst>
            <pc:docMk/>
            <pc:sldMk cId="3544795835" sldId="270"/>
            <ac:spMk id="7" creationId="{DF8A9556-CB38-5619-CC52-7BD00B11B476}"/>
          </ac:spMkLst>
        </pc:spChg>
        <pc:spChg chg="add mod">
          <ac:chgData name="Wick, Felix" userId="85efb633-acf6-425d-a271-4f136bfa2fb0" providerId="ADAL" clId="{64F59F2E-701A-4175-A64C-D0A9AC6FD62F}" dt="2025-03-02T20:21:04.393" v="7109" actId="1076"/>
          <ac:spMkLst>
            <pc:docMk/>
            <pc:sldMk cId="3544795835" sldId="270"/>
            <ac:spMk id="8" creationId="{06772F38-26BF-8A94-8631-751A406D153E}"/>
          </ac:spMkLst>
        </pc:spChg>
        <pc:spChg chg="add mod ord">
          <ac:chgData name="Wick, Felix" userId="85efb633-acf6-425d-a271-4f136bfa2fb0" providerId="ADAL" clId="{64F59F2E-701A-4175-A64C-D0A9AC6FD62F}" dt="2025-03-02T20:22:55.225" v="7118" actId="113"/>
          <ac:spMkLst>
            <pc:docMk/>
            <pc:sldMk cId="3544795835" sldId="270"/>
            <ac:spMk id="10" creationId="{CD7DF3A1-48C2-8A99-A46A-DED1F4ED5BA1}"/>
          </ac:spMkLst>
        </pc:spChg>
        <pc:picChg chg="mod">
          <ac:chgData name="Wick, Felix" userId="85efb633-acf6-425d-a271-4f136bfa2fb0" providerId="ADAL" clId="{64F59F2E-701A-4175-A64C-D0A9AC6FD62F}" dt="2025-03-02T20:20:47.149" v="7107" actId="1076"/>
          <ac:picMkLst>
            <pc:docMk/>
            <pc:sldMk cId="3544795835" sldId="270"/>
            <ac:picMk id="5" creationId="{FD58764D-2B67-728C-787A-C6B642EBCFD8}"/>
          </ac:picMkLst>
        </pc:picChg>
        <pc:picChg chg="mod">
          <ac:chgData name="Wick, Felix" userId="85efb633-acf6-425d-a271-4f136bfa2fb0" providerId="ADAL" clId="{64F59F2E-701A-4175-A64C-D0A9AC6FD62F}" dt="2025-03-02T20:22:40.037" v="7114" actId="1076"/>
          <ac:picMkLst>
            <pc:docMk/>
            <pc:sldMk cId="3544795835" sldId="270"/>
            <ac:picMk id="6" creationId="{9C0D363E-EF7C-EEF1-BD05-D7980098DD5A}"/>
          </ac:picMkLst>
        </pc:picChg>
        <pc:picChg chg="add mod">
          <ac:chgData name="Wick, Felix" userId="85efb633-acf6-425d-a271-4f136bfa2fb0" providerId="ADAL" clId="{64F59F2E-701A-4175-A64C-D0A9AC6FD62F}" dt="2025-03-02T20:21:04.393" v="7109" actId="1076"/>
          <ac:picMkLst>
            <pc:docMk/>
            <pc:sldMk cId="3544795835" sldId="270"/>
            <ac:picMk id="1028" creationId="{D6FB989F-F436-74B9-405A-7294609108C0}"/>
          </ac:picMkLst>
        </pc:picChg>
        <pc:picChg chg="add mod">
          <ac:chgData name="Wick, Felix" userId="85efb633-acf6-425d-a271-4f136bfa2fb0" providerId="ADAL" clId="{64F59F2E-701A-4175-A64C-D0A9AC6FD62F}" dt="2025-03-02T20:22:47.567" v="7116" actId="1076"/>
          <ac:picMkLst>
            <pc:docMk/>
            <pc:sldMk cId="3544795835" sldId="270"/>
            <ac:picMk id="1030" creationId="{78D57E94-E485-4288-6FCE-568DF7CFD6AF}"/>
          </ac:picMkLst>
        </pc:picChg>
      </pc:sldChg>
      <pc:sldChg chg="modSp mod">
        <pc:chgData name="Wick, Felix" userId="85efb633-acf6-425d-a271-4f136bfa2fb0" providerId="ADAL" clId="{64F59F2E-701A-4175-A64C-D0A9AC6FD62F}" dt="2025-01-28T11:27:42.599" v="1289" actId="20577"/>
        <pc:sldMkLst>
          <pc:docMk/>
          <pc:sldMk cId="793683279" sldId="272"/>
        </pc:sldMkLst>
        <pc:spChg chg="mod">
          <ac:chgData name="Wick, Felix" userId="85efb633-acf6-425d-a271-4f136bfa2fb0" providerId="ADAL" clId="{64F59F2E-701A-4175-A64C-D0A9AC6FD62F}" dt="2025-01-28T11:27:42.599" v="1289" actId="20577"/>
          <ac:spMkLst>
            <pc:docMk/>
            <pc:sldMk cId="793683279" sldId="272"/>
            <ac:spMk id="3" creationId="{111AFC3B-A5E8-E02B-3B57-552EF4E575D2}"/>
          </ac:spMkLst>
        </pc:spChg>
      </pc:sldChg>
      <pc:sldChg chg="addSp delSp modSp new del mod modClrScheme chgLayout">
        <pc:chgData name="Wick, Felix" userId="85efb633-acf6-425d-a271-4f136bfa2fb0" providerId="ADAL" clId="{64F59F2E-701A-4175-A64C-D0A9AC6FD62F}" dt="2025-02-27T22:09:02.239" v="4773" actId="47"/>
        <pc:sldMkLst>
          <pc:docMk/>
          <pc:sldMk cId="2771831494" sldId="273"/>
        </pc:sldMkLst>
      </pc:sldChg>
      <pc:sldChg chg="del">
        <pc:chgData name="Wick, Felix" userId="85efb633-acf6-425d-a271-4f136bfa2fb0" providerId="ADAL" clId="{64F59F2E-701A-4175-A64C-D0A9AC6FD62F}" dt="2025-02-27T21:48:46.286" v="4718" actId="47"/>
        <pc:sldMkLst>
          <pc:docMk/>
          <pc:sldMk cId="1504602858" sldId="274"/>
        </pc:sldMkLst>
      </pc:sldChg>
      <pc:sldChg chg="delSp modSp add del mod">
        <pc:chgData name="Wick, Felix" userId="85efb633-acf6-425d-a271-4f136bfa2fb0" providerId="ADAL" clId="{64F59F2E-701A-4175-A64C-D0A9AC6FD62F}" dt="2025-03-13T14:52:32.226" v="7519"/>
        <pc:sldMkLst>
          <pc:docMk/>
          <pc:sldMk cId="28529905" sldId="275"/>
        </pc:sldMkLst>
        <pc:spChg chg="mod">
          <ac:chgData name="Wick, Felix" userId="85efb633-acf6-425d-a271-4f136bfa2fb0" providerId="ADAL" clId="{64F59F2E-701A-4175-A64C-D0A9AC6FD62F}" dt="2025-03-13T14:52:32.226" v="7519"/>
          <ac:spMkLst>
            <pc:docMk/>
            <pc:sldMk cId="28529905" sldId="275"/>
            <ac:spMk id="5" creationId="{E07385CB-D725-C163-7B63-8CCA18A2E90E}"/>
          </ac:spMkLst>
        </pc:spChg>
      </pc:sldChg>
      <pc:sldChg chg="ord">
        <pc:chgData name="Wick, Felix" userId="85efb633-acf6-425d-a271-4f136bfa2fb0" providerId="ADAL" clId="{64F59F2E-701A-4175-A64C-D0A9AC6FD62F}" dt="2025-03-01T21:21:15.608" v="5784"/>
        <pc:sldMkLst>
          <pc:docMk/>
          <pc:sldMk cId="1504602858" sldId="277"/>
        </pc:sldMkLst>
      </pc:sldChg>
      <pc:sldChg chg="del">
        <pc:chgData name="Wick, Felix" userId="85efb633-acf6-425d-a271-4f136bfa2fb0" providerId="ADAL" clId="{64F59F2E-701A-4175-A64C-D0A9AC6FD62F}" dt="2025-03-13T14:52:36.426" v="7520" actId="47"/>
        <pc:sldMkLst>
          <pc:docMk/>
          <pc:sldMk cId="61419988" sldId="27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6E0FD1-891F-4B1E-916D-E9B585160BB8}" type="datetimeFigureOut">
              <a:rPr lang="en-GB" smtClean="0"/>
              <a:t>19/05/2026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C76E5F-9D68-4973-8A2A-59949176DA9A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3057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2AD05-B4BB-840D-5044-DA9C798A97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9A7B47-AB1A-4CDD-9144-EE000976B8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BF8C95-BBF9-31D1-0ADC-C8AB370E0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C3F22-27B2-44E3-9C5F-D08126455F6F}" type="datetime1">
              <a:rPr lang="en-GB" smtClean="0"/>
              <a:t>19/05/2026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C10D86-4DAB-EC0A-AB86-60CC82054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9AE665-34F4-8BF5-6B4D-509F026F4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1864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CC6E7-920C-E54D-5199-F32C32EBC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0735A-AC30-5DB9-385E-9410CD353E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A63D1-8AAD-A89C-781E-A7DCD49CF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5ED7B-FEAD-4734-819F-93EF4B0EA908}" type="datetime1">
              <a:rPr lang="en-GB" smtClean="0"/>
              <a:t>19/05/2026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E6A99-2E8C-3768-5C28-3740DFA86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A99DA9-9DF3-F3CB-C047-01F3E0315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7867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178B1-DC4C-C72D-A4CD-2071F7D20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68F496-2872-EA37-A28F-F61DA15D83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3CD11-8172-4EA7-A05A-3E9BED243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5D4B4-C926-4B45-8815-1ED8911179A2}" type="datetime1">
              <a:rPr lang="en-GB" smtClean="0"/>
              <a:t>19/05/2026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74FC75-D902-977C-06B6-D053E6FA8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51B89A-2DD6-EBD2-E8D5-67D7A3120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7448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548EF-DE77-786B-3AB0-B8EE80AE0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10666-C3AD-A843-F133-FC4D90F814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4FF850-9497-0370-2422-7DCC4D0224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EE3548-F4EA-A9B5-F070-FA4BA4A83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5210A-0E37-4935-93AF-69F21A5F712F}" type="datetime1">
              <a:rPr lang="en-GB" smtClean="0"/>
              <a:t>19/05/2026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AFAA4D-1024-F35F-4351-831E1814D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8F5DF7-B945-53CA-C385-BF5C6A715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7907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75B77-D383-D322-AEC0-72CA37199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1F7C1F-D865-CA91-C666-FFCCC4FC3D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AB659D-F2AF-E840-A39C-B6D4CD3AF2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1F6025-6FB4-DA3E-9136-B086A61682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DF3B27-FE38-C9E0-63E8-5B78CE540A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CDAD08-3AA3-354B-C68E-3E3F0AF87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A6B2F-436C-4691-80E8-9C890E000E9D}" type="datetime1">
              <a:rPr lang="en-GB" smtClean="0"/>
              <a:t>19/05/2026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7264E2-C174-553A-038E-6567A52DB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91666C-2E1A-1181-C70B-FBB28F188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3758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D917D-EEC5-D75C-55B7-5A81063FC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E150BF-302E-AA68-42DC-74C1EA795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85F4C-D74B-496F-8D21-97E3549C783B}" type="datetime1">
              <a:rPr lang="en-GB" smtClean="0"/>
              <a:t>19/05/2026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426D10-ABD1-7C54-CE39-7A4A134BC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A02836-662F-47B1-7567-2A2E60B63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930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5FEEF3-64F0-021E-129C-EAA067060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DCB32-C241-4703-A832-4EB47BD54E83}" type="datetime1">
              <a:rPr lang="en-GB" smtClean="0"/>
              <a:t>19/05/2026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21C624-8D17-C8D8-65E3-79B11B01E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02005F-03E9-EF5B-B297-EAE94026C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5601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EE13F-1C85-75C1-BBD6-4EF64924C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49CB5E-861F-9C33-823E-EB2694F540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4C4F26-7C81-22B3-04D5-743643DB28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18B1A3-9313-9165-A328-DEAB1821F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150FF-BE95-4D25-A16A-E368A81CBF24}" type="datetime1">
              <a:rPr lang="en-GB" smtClean="0"/>
              <a:t>19/05/2026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8EB9C9-316A-42D2-382C-3E7DEC4B1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C8CFB8-8FF5-B166-EBF9-B76498969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8318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5D41C-CF05-2F89-F8FC-DD0931ED8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FCDE16-0F20-1107-A39C-71B8B6D953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7E2599-3F89-F92C-ECD5-CBFC03AB17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FB60AC-D043-8272-AE6A-A8E5B8A37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5DB4B-B349-43C9-A424-BADA723AD9F1}" type="datetime1">
              <a:rPr lang="en-GB" smtClean="0"/>
              <a:t>19/05/2026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A03EE6-D895-561C-441A-604E38A6D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A47F20-FBD8-886E-EF9A-D8AE8BFE3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1345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D2C68-3E4B-7070-3BF2-3E61A775A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431E10-D2DD-0D8A-398F-957702B05E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6A0762-E24E-EA37-D3D6-85FD301DE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3846-7BF6-4FB6-A921-FF3379ADBD4C}" type="datetime1">
              <a:rPr lang="en-GB" smtClean="0"/>
              <a:t>19/05/2026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A92B9B-8389-F8AB-7C9B-4AB887B7E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EE1FF1-A4E8-24D9-9253-6DA02F950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017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47842B-C168-F0E3-41CF-EC817DFD50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8C9306-7BEA-9A58-247B-5E8D728C01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935EBA-2B35-51D8-8564-DAEC993B2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1B91A-3FD0-4144-9C84-63E9688ED2FE}" type="datetime1">
              <a:rPr lang="en-GB" smtClean="0"/>
              <a:t>19/05/2026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58BC42-D6BF-B47B-F3DA-FF0EA29DD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9BF052-4BB9-5153-7BEC-9BA52B390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3626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F56395-FA5B-DEC3-329C-4DAB946C5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A7CDC4-8C08-2251-4B6D-A6B1DDA575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63D46B-F1E1-9A5A-E16C-D9E3E18E1F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632426-0A0C-405F-A3D0-2D11AA44702A}" type="datetime1">
              <a:rPr lang="en-GB" smtClean="0"/>
              <a:t>19/05/2026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B9336A-4601-EB96-28AF-D2D6216602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74CCC3-F2F7-6EBE-2376-34F7F60C1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3989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203.02155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106.02039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arxiv.org/abs/2106.01345" TargetMode="Externa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hyperlink" Target="http://export.arxiv.org/abs/2204.01691v1" TargetMode="External"/><Relationship Id="rId2" Type="http://schemas.openxmlformats.org/officeDocument/2006/relationships/hyperlink" Target="https://robotics-transformer2.github.io/assets/rt2.pdf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hyperlink" Target="https://arxiv.org/abs/2209.07753" TargetMode="Externa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8641C-BAC0-4155-84D5-F4B73D88F2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1122363"/>
            <a:ext cx="9344891" cy="2387600"/>
          </a:xfrm>
        </p:spPr>
        <p:txBody>
          <a:bodyPr>
            <a:normAutofit/>
          </a:bodyPr>
          <a:lstStyle/>
          <a:p>
            <a:r>
              <a:rPr lang="de-DE" sz="5200" dirty="0" err="1"/>
              <a:t>Advanced</a:t>
            </a:r>
            <a:r>
              <a:rPr lang="de-DE" sz="5200" dirty="0"/>
              <a:t> &amp; Emerging RL Methods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B6519B-0EF3-5498-C5EB-DE1F378411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Reinforcement Learning</a:t>
            </a:r>
          </a:p>
        </p:txBody>
      </p:sp>
    </p:spTree>
    <p:extLst>
      <p:ext uri="{BB962C8B-B14F-4D97-AF65-F5344CB8AC3E}">
        <p14:creationId xmlns:p14="http://schemas.microsoft.com/office/powerpoint/2010/main" val="2303947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056A97-9371-940F-5B97-4DC15D452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Advanced</a:t>
            </a:r>
            <a:r>
              <a:rPr lang="de-DE" dirty="0"/>
              <a:t> &amp; Emerging RL Methods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4EA7976-4FFB-2C1D-163C-451080EF56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e-DE" dirty="0"/>
              <a:t>Learning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models</a:t>
            </a:r>
            <a:r>
              <a:rPr lang="de-DE" dirty="0"/>
              <a:t> and </a:t>
            </a:r>
            <a:r>
              <a:rPr lang="de-DE" dirty="0" err="1"/>
              <a:t>fixed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: model-</a:t>
            </a:r>
            <a:r>
              <a:rPr lang="de-DE" dirty="0" err="1"/>
              <a:t>based</a:t>
            </a:r>
            <a:r>
              <a:rPr lang="de-DE" dirty="0"/>
              <a:t> RL, offline RL</a:t>
            </a:r>
          </a:p>
          <a:p>
            <a:pPr marL="0" indent="0">
              <a:buNone/>
            </a:pPr>
            <a:endParaRPr lang="de-DE" dirty="0"/>
          </a:p>
          <a:p>
            <a:r>
              <a:rPr lang="de-DE" dirty="0"/>
              <a:t>Learning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demonstrations</a:t>
            </a:r>
            <a:r>
              <a:rPr lang="de-DE" dirty="0"/>
              <a:t> and </a:t>
            </a:r>
            <a:r>
              <a:rPr lang="de-DE" dirty="0" err="1"/>
              <a:t>humans</a:t>
            </a:r>
            <a:r>
              <a:rPr lang="de-DE" dirty="0"/>
              <a:t>: </a:t>
            </a:r>
            <a:r>
              <a:rPr lang="de-DE" dirty="0" err="1"/>
              <a:t>behavior</a:t>
            </a:r>
            <a:r>
              <a:rPr lang="de-DE" dirty="0"/>
              <a:t> </a:t>
            </a:r>
            <a:r>
              <a:rPr lang="de-DE" dirty="0" err="1"/>
              <a:t>cloning</a:t>
            </a:r>
            <a:r>
              <a:rPr lang="de-DE" dirty="0"/>
              <a:t>, </a:t>
            </a:r>
            <a:r>
              <a:rPr lang="de-DE" dirty="0" err="1"/>
              <a:t>imitation</a:t>
            </a:r>
            <a:r>
              <a:rPr lang="de-DE" dirty="0"/>
              <a:t> </a:t>
            </a:r>
            <a:r>
              <a:rPr lang="de-DE" dirty="0" err="1"/>
              <a:t>learning</a:t>
            </a:r>
            <a:r>
              <a:rPr lang="de-DE" dirty="0"/>
              <a:t>, RL </a:t>
            </a:r>
            <a:r>
              <a:rPr lang="de-DE" dirty="0" err="1"/>
              <a:t>from</a:t>
            </a:r>
            <a:r>
              <a:rPr lang="de-DE" dirty="0"/>
              <a:t> human </a:t>
            </a:r>
            <a:r>
              <a:rPr lang="de-DE" dirty="0" err="1"/>
              <a:t>feedback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dirty="0"/>
              <a:t>RL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sequence</a:t>
            </a:r>
            <a:r>
              <a:rPr lang="de-DE" dirty="0"/>
              <a:t> and generative </a:t>
            </a:r>
            <a:r>
              <a:rPr lang="de-DE" dirty="0" err="1"/>
              <a:t>modeling</a:t>
            </a:r>
            <a:r>
              <a:rPr lang="de-DE" dirty="0"/>
              <a:t>: </a:t>
            </a:r>
            <a:r>
              <a:rPr lang="de-DE" dirty="0" err="1"/>
              <a:t>trajectory</a:t>
            </a:r>
            <a:r>
              <a:rPr lang="de-DE" dirty="0"/>
              <a:t> </a:t>
            </a:r>
            <a:r>
              <a:rPr lang="de-DE" dirty="0" err="1"/>
              <a:t>modeling</a:t>
            </a:r>
            <a:r>
              <a:rPr lang="de-DE" dirty="0"/>
              <a:t>, </a:t>
            </a:r>
            <a:r>
              <a:rPr lang="de-DE" dirty="0" err="1"/>
              <a:t>decision</a:t>
            </a:r>
            <a:r>
              <a:rPr lang="de-DE" dirty="0"/>
              <a:t> </a:t>
            </a:r>
            <a:r>
              <a:rPr lang="de-DE" dirty="0" err="1"/>
              <a:t>transformer</a:t>
            </a:r>
            <a:r>
              <a:rPr lang="de-DE" dirty="0"/>
              <a:t>, </a:t>
            </a:r>
            <a:r>
              <a:rPr lang="de-DE" dirty="0" err="1"/>
              <a:t>diffusion</a:t>
            </a:r>
            <a:r>
              <a:rPr lang="de-DE" dirty="0"/>
              <a:t> </a:t>
            </a:r>
            <a:r>
              <a:rPr lang="de-DE" dirty="0" err="1"/>
              <a:t>policies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dirty="0" err="1"/>
              <a:t>Scaling</a:t>
            </a:r>
            <a:r>
              <a:rPr lang="de-DE" dirty="0"/>
              <a:t> RL </a:t>
            </a:r>
            <a:r>
              <a:rPr lang="de-DE" dirty="0" err="1"/>
              <a:t>to</a:t>
            </a:r>
            <a:r>
              <a:rPr lang="de-DE" dirty="0"/>
              <a:t> real-</a:t>
            </a:r>
            <a:r>
              <a:rPr lang="de-DE" dirty="0" err="1"/>
              <a:t>world</a:t>
            </a:r>
            <a:r>
              <a:rPr lang="de-DE" dirty="0"/>
              <a:t> </a:t>
            </a:r>
            <a:r>
              <a:rPr lang="de-DE" dirty="0" err="1"/>
              <a:t>robotics</a:t>
            </a:r>
            <a:r>
              <a:rPr lang="de-DE" dirty="0"/>
              <a:t>: </a:t>
            </a:r>
            <a:r>
              <a:rPr lang="de-DE" dirty="0" err="1"/>
              <a:t>embodied</a:t>
            </a:r>
            <a:r>
              <a:rPr lang="de-DE" dirty="0"/>
              <a:t> RL, </a:t>
            </a:r>
            <a:r>
              <a:rPr lang="de-DE" dirty="0" err="1"/>
              <a:t>sim</a:t>
            </a:r>
            <a:r>
              <a:rPr lang="de-DE" dirty="0"/>
              <a:t>-</a:t>
            </a:r>
            <a:r>
              <a:rPr lang="de-DE" dirty="0" err="1"/>
              <a:t>to</a:t>
            </a:r>
            <a:r>
              <a:rPr lang="de-DE" dirty="0"/>
              <a:t>-real </a:t>
            </a:r>
            <a:r>
              <a:rPr lang="de-DE" dirty="0" err="1"/>
              <a:t>gap</a:t>
            </a:r>
            <a:r>
              <a:rPr lang="de-DE" dirty="0"/>
              <a:t>, </a:t>
            </a:r>
            <a:r>
              <a:rPr lang="de-DE" dirty="0" err="1"/>
              <a:t>generalist</a:t>
            </a:r>
            <a:r>
              <a:rPr lang="de-DE" dirty="0"/>
              <a:t> </a:t>
            </a:r>
            <a:r>
              <a:rPr lang="de-DE" dirty="0" err="1"/>
              <a:t>robot</a:t>
            </a:r>
            <a:r>
              <a:rPr lang="de-DE" dirty="0"/>
              <a:t> </a:t>
            </a:r>
            <a:r>
              <a:rPr lang="de-DE" dirty="0" err="1"/>
              <a:t>policies</a:t>
            </a:r>
            <a:r>
              <a:rPr lang="de-DE" dirty="0"/>
              <a:t>, </a:t>
            </a:r>
            <a:r>
              <a:rPr lang="de-DE" dirty="0" err="1"/>
              <a:t>vision</a:t>
            </a:r>
            <a:r>
              <a:rPr lang="de-DE" dirty="0"/>
              <a:t>-</a:t>
            </a:r>
            <a:r>
              <a:rPr lang="de-DE" dirty="0" err="1"/>
              <a:t>language</a:t>
            </a:r>
            <a:r>
              <a:rPr lang="de-DE" dirty="0"/>
              <a:t>-action </a:t>
            </a:r>
            <a:r>
              <a:rPr lang="de-DE" dirty="0" err="1"/>
              <a:t>models</a:t>
            </a:r>
            <a:endParaRPr lang="de-DE" dirty="0"/>
          </a:p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9E8331C-FBA4-410C-2E60-017DBE332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4451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AEB7CC-A04B-6527-EF17-EAAD14C75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Idea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Chapter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B10677E-ECE3-1E8B-E304-7206CF32AF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high-level </a:t>
            </a:r>
            <a:r>
              <a:rPr lang="de-DE" dirty="0" err="1"/>
              <a:t>overview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RL </a:t>
            </a:r>
            <a:r>
              <a:rPr lang="de-DE" dirty="0" err="1"/>
              <a:t>approaches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extend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complement</a:t>
            </a:r>
            <a:r>
              <a:rPr lang="de-DE" dirty="0"/>
              <a:t> </a:t>
            </a:r>
            <a:r>
              <a:rPr lang="de-DE" dirty="0" err="1"/>
              <a:t>standard</a:t>
            </a:r>
            <a:r>
              <a:rPr lang="de-DE" dirty="0"/>
              <a:t> model-</a:t>
            </a:r>
            <a:r>
              <a:rPr lang="de-DE" dirty="0" err="1"/>
              <a:t>free</a:t>
            </a:r>
            <a:r>
              <a:rPr lang="de-DE" dirty="0"/>
              <a:t> </a:t>
            </a:r>
            <a:r>
              <a:rPr lang="de-DE" dirty="0" err="1"/>
              <a:t>methods</a:t>
            </a:r>
            <a:endParaRPr lang="de-DE" dirty="0"/>
          </a:p>
          <a:p>
            <a:r>
              <a:rPr lang="de-DE" dirty="0"/>
              <a:t>model-</a:t>
            </a:r>
            <a:r>
              <a:rPr lang="de-DE" dirty="0" err="1"/>
              <a:t>based</a:t>
            </a:r>
            <a:r>
              <a:rPr lang="de-DE" dirty="0"/>
              <a:t> </a:t>
            </a:r>
            <a:r>
              <a:rPr lang="de-DE" dirty="0" err="1"/>
              <a:t>techniques</a:t>
            </a:r>
            <a:endParaRPr lang="de-DE" dirty="0"/>
          </a:p>
          <a:p>
            <a:r>
              <a:rPr lang="de-DE" dirty="0"/>
              <a:t>offline and </a:t>
            </a:r>
            <a:r>
              <a:rPr lang="de-DE" dirty="0" err="1"/>
              <a:t>data-driven</a:t>
            </a:r>
            <a:r>
              <a:rPr lang="de-DE" dirty="0"/>
              <a:t> </a:t>
            </a:r>
            <a:r>
              <a:rPr lang="de-DE" dirty="0" err="1"/>
              <a:t>approaches</a:t>
            </a:r>
            <a:endParaRPr lang="de-DE" dirty="0"/>
          </a:p>
          <a:p>
            <a:r>
              <a:rPr lang="de-DE" dirty="0" err="1"/>
              <a:t>imitation</a:t>
            </a:r>
            <a:r>
              <a:rPr lang="de-DE" dirty="0"/>
              <a:t> </a:t>
            </a:r>
            <a:r>
              <a:rPr lang="de-DE" dirty="0" err="1"/>
              <a:t>learning</a:t>
            </a:r>
            <a:endParaRPr lang="de-DE" dirty="0"/>
          </a:p>
          <a:p>
            <a:r>
              <a:rPr lang="de-DE" dirty="0"/>
              <a:t>generative </a:t>
            </a:r>
            <a:r>
              <a:rPr lang="de-DE" dirty="0" err="1"/>
              <a:t>or</a:t>
            </a:r>
            <a:r>
              <a:rPr lang="de-DE" dirty="0"/>
              <a:t> multimodal </a:t>
            </a:r>
            <a:r>
              <a:rPr lang="de-DE" dirty="0" err="1"/>
              <a:t>policy</a:t>
            </a:r>
            <a:r>
              <a:rPr lang="de-DE" dirty="0"/>
              <a:t> </a:t>
            </a:r>
            <a:r>
              <a:rPr lang="de-DE" dirty="0" err="1"/>
              <a:t>methods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6445948-8990-4E81-A1F1-EA0CA33CB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66428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EEED0B19-871D-4F1F-000C-D522BFBC8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Model-</a:t>
            </a:r>
            <a:r>
              <a:rPr lang="de-DE" dirty="0" err="1"/>
              <a:t>Based</a:t>
            </a:r>
            <a:r>
              <a:rPr lang="de-DE" dirty="0"/>
              <a:t> and Offline RL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A3ABEFD-2E15-2C89-0B3B-679A28E47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78376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77E127-F485-4187-FF77-8D015E7DA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Model-</a:t>
            </a:r>
            <a:r>
              <a:rPr lang="de-DE" dirty="0" err="1"/>
              <a:t>Based</a:t>
            </a:r>
            <a:r>
              <a:rPr lang="de-DE" dirty="0"/>
              <a:t> RL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F51217FA-F236-BEE9-1596-5444C7A83D3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de-DE" dirty="0" err="1"/>
                  <a:t>instead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only</a:t>
                </a:r>
                <a:r>
                  <a:rPr lang="de-DE" dirty="0"/>
                  <a:t> a </a:t>
                </a:r>
                <a:r>
                  <a:rPr lang="de-DE" dirty="0" err="1"/>
                  <a:t>policy</a:t>
                </a:r>
                <a:r>
                  <a:rPr lang="de-DE" dirty="0"/>
                  <a:t> </a:t>
                </a:r>
                <a:r>
                  <a:rPr lang="de-DE" dirty="0" err="1"/>
                  <a:t>or</a:t>
                </a:r>
                <a:r>
                  <a:rPr lang="de-DE" dirty="0"/>
                  <a:t> a </a:t>
                </a:r>
                <a:r>
                  <a:rPr lang="de-DE" dirty="0" err="1"/>
                  <a:t>value</a:t>
                </a:r>
                <a:r>
                  <a:rPr lang="de-DE" dirty="0"/>
                  <a:t> </a:t>
                </a:r>
                <a:r>
                  <a:rPr lang="de-DE" dirty="0" err="1"/>
                  <a:t>function</a:t>
                </a:r>
                <a:r>
                  <a:rPr lang="de-DE" dirty="0"/>
                  <a:t>, </a:t>
                </a:r>
                <a:r>
                  <a:rPr lang="de-DE" dirty="0" err="1"/>
                  <a:t>learn</a:t>
                </a:r>
                <a:r>
                  <a:rPr lang="de-DE" dirty="0"/>
                  <a:t> a </a:t>
                </a:r>
                <a:r>
                  <a:rPr lang="de-DE" dirty="0" err="1"/>
                  <a:t>dynamics</a:t>
                </a:r>
                <a:r>
                  <a:rPr lang="de-DE" dirty="0"/>
                  <a:t> </a:t>
                </a:r>
                <a:r>
                  <a:rPr lang="de-DE" dirty="0" err="1"/>
                  <a:t>model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de-DE" dirty="0"/>
                  <a:t> </a:t>
                </a:r>
                <a:r>
                  <a:rPr lang="de-DE" dirty="0" err="1"/>
                  <a:t>predicting</a:t>
                </a:r>
                <a:r>
                  <a:rPr lang="de-DE" dirty="0"/>
                  <a:t> </a:t>
                </a:r>
                <a:r>
                  <a:rPr lang="de-DE" dirty="0" err="1"/>
                  <a:t>future</a:t>
                </a:r>
                <a:r>
                  <a:rPr lang="de-DE" dirty="0"/>
                  <a:t> </a:t>
                </a:r>
                <a:r>
                  <a:rPr lang="de-DE" dirty="0" err="1"/>
                  <a:t>states</a:t>
                </a:r>
                <a:r>
                  <a:rPr lang="de-DE" dirty="0"/>
                  <a:t> and </a:t>
                </a:r>
                <a:r>
                  <a:rPr lang="de-DE" dirty="0" err="1"/>
                  <a:t>rewards</a:t>
                </a: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model</a:t>
                </a:r>
                <a:r>
                  <a:rPr lang="de-DE" dirty="0"/>
                  <a:t> </a:t>
                </a:r>
                <a:r>
                  <a:rPr lang="de-DE" dirty="0" err="1"/>
                  <a:t>can</a:t>
                </a:r>
                <a:r>
                  <a:rPr lang="de-DE" dirty="0"/>
                  <a:t> </a:t>
                </a:r>
                <a:r>
                  <a:rPr lang="de-DE" dirty="0" err="1"/>
                  <a:t>then</a:t>
                </a:r>
                <a:r>
                  <a:rPr lang="de-DE" dirty="0"/>
                  <a:t> </a:t>
                </a:r>
                <a:r>
                  <a:rPr lang="de-DE" dirty="0" err="1"/>
                  <a:t>be</a:t>
                </a:r>
                <a:r>
                  <a:rPr lang="de-DE" dirty="0"/>
                  <a:t> </a:t>
                </a:r>
                <a:r>
                  <a:rPr lang="de-DE" dirty="0" err="1"/>
                  <a:t>used</a:t>
                </a:r>
                <a:r>
                  <a:rPr lang="de-DE" dirty="0"/>
                  <a:t> </a:t>
                </a:r>
                <a:r>
                  <a:rPr lang="de-DE" dirty="0" err="1"/>
                  <a:t>for</a:t>
                </a:r>
                <a:endParaRPr lang="de-DE" dirty="0"/>
              </a:p>
              <a:p>
                <a:r>
                  <a:rPr lang="de-DE" dirty="0" err="1"/>
                  <a:t>planning</a:t>
                </a:r>
                <a:r>
                  <a:rPr lang="de-DE" dirty="0"/>
                  <a:t>: </a:t>
                </a:r>
                <a:r>
                  <a:rPr lang="de-DE" dirty="0" err="1"/>
                  <a:t>simulate</a:t>
                </a:r>
                <a:r>
                  <a:rPr lang="de-DE" dirty="0"/>
                  <a:t> possible </a:t>
                </a:r>
                <a:r>
                  <a:rPr lang="de-DE" dirty="0" err="1"/>
                  <a:t>futures</a:t>
                </a:r>
                <a:r>
                  <a:rPr lang="de-DE" dirty="0"/>
                  <a:t> and </a:t>
                </a:r>
                <a:r>
                  <a:rPr lang="de-DE" dirty="0" err="1"/>
                  <a:t>select</a:t>
                </a:r>
                <a:r>
                  <a:rPr lang="de-DE" dirty="0"/>
                  <a:t> </a:t>
                </a:r>
                <a:r>
                  <a:rPr lang="de-DE" dirty="0" err="1"/>
                  <a:t>actions</a:t>
                </a:r>
                <a:r>
                  <a:rPr lang="de-DE" dirty="0"/>
                  <a:t> (e.g., MPC)</a:t>
                </a:r>
              </a:p>
              <a:p>
                <a:r>
                  <a:rPr lang="de-DE" dirty="0" err="1"/>
                  <a:t>data</a:t>
                </a:r>
                <a:r>
                  <a:rPr lang="de-DE" dirty="0"/>
                  <a:t> </a:t>
                </a:r>
                <a:r>
                  <a:rPr lang="de-DE" dirty="0" err="1"/>
                  <a:t>generation</a:t>
                </a:r>
                <a:r>
                  <a:rPr lang="de-DE" dirty="0"/>
                  <a:t>: </a:t>
                </a:r>
                <a:r>
                  <a:rPr lang="de-DE" dirty="0" err="1"/>
                  <a:t>create</a:t>
                </a:r>
                <a:r>
                  <a:rPr lang="de-DE" dirty="0"/>
                  <a:t> </a:t>
                </a:r>
                <a:r>
                  <a:rPr lang="de-DE" dirty="0" err="1"/>
                  <a:t>imagined</a:t>
                </a:r>
                <a:r>
                  <a:rPr lang="de-DE" dirty="0"/>
                  <a:t> </a:t>
                </a:r>
                <a:r>
                  <a:rPr lang="de-DE" dirty="0" err="1"/>
                  <a:t>rollouts</a:t>
                </a:r>
                <a:r>
                  <a:rPr lang="de-DE" dirty="0"/>
                  <a:t> </a:t>
                </a:r>
                <a:r>
                  <a:rPr lang="de-DE" dirty="0" err="1"/>
                  <a:t>for</a:t>
                </a:r>
                <a:r>
                  <a:rPr lang="de-DE" dirty="0"/>
                  <a:t> </a:t>
                </a:r>
                <a:r>
                  <a:rPr lang="de-DE" dirty="0" err="1"/>
                  <a:t>policy</a:t>
                </a:r>
                <a:r>
                  <a:rPr lang="de-DE" dirty="0"/>
                  <a:t> </a:t>
                </a:r>
                <a:r>
                  <a:rPr lang="de-DE" dirty="0" err="1"/>
                  <a:t>learning</a:t>
                </a:r>
                <a:endParaRPr lang="de-DE" dirty="0"/>
              </a:p>
              <a:p>
                <a:r>
                  <a:rPr lang="de-DE" dirty="0" err="1"/>
                  <a:t>improved</a:t>
                </a:r>
                <a:r>
                  <a:rPr lang="de-DE" dirty="0"/>
                  <a:t> sample </a:t>
                </a:r>
                <a:r>
                  <a:rPr lang="de-DE" dirty="0" err="1"/>
                  <a:t>efficiency</a:t>
                </a:r>
                <a:r>
                  <a:rPr lang="de-DE" dirty="0"/>
                  <a:t>: </a:t>
                </a:r>
                <a:r>
                  <a:rPr lang="de-DE" dirty="0" err="1"/>
                  <a:t>reduce</a:t>
                </a:r>
                <a:r>
                  <a:rPr lang="de-DE" dirty="0"/>
                  <a:t> expensive </a:t>
                </a:r>
                <a:r>
                  <a:rPr lang="de-DE" dirty="0" err="1"/>
                  <a:t>interaction</a:t>
                </a:r>
                <a:r>
                  <a:rPr lang="de-DE" dirty="0"/>
                  <a:t> </a:t>
                </a:r>
                <a:r>
                  <a:rPr lang="de-DE" dirty="0" err="1"/>
                  <a:t>with</a:t>
                </a:r>
                <a:r>
                  <a:rPr lang="de-DE" dirty="0"/>
                  <a:t> real </a:t>
                </a:r>
                <a:r>
                  <a:rPr lang="de-DE" dirty="0" err="1"/>
                  <a:t>environment</a:t>
                </a: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key</a:t>
                </a:r>
                <a:r>
                  <a:rPr lang="de-DE" dirty="0"/>
                  <a:t> </a:t>
                </a:r>
                <a:r>
                  <a:rPr lang="de-DE" dirty="0" err="1"/>
                  <a:t>challenge</a:t>
                </a:r>
                <a:r>
                  <a:rPr lang="de-DE" dirty="0"/>
                  <a:t>: </a:t>
                </a:r>
                <a:r>
                  <a:rPr lang="de-DE" dirty="0" err="1"/>
                  <a:t>model</a:t>
                </a:r>
                <a:r>
                  <a:rPr lang="de-DE" dirty="0"/>
                  <a:t> </a:t>
                </a:r>
                <a:r>
                  <a:rPr lang="de-DE" dirty="0" err="1"/>
                  <a:t>errors</a:t>
                </a:r>
                <a:r>
                  <a:rPr lang="de-DE" dirty="0"/>
                  <a:t> </a:t>
                </a:r>
                <a:r>
                  <a:rPr lang="de-DE" dirty="0" err="1"/>
                  <a:t>can</a:t>
                </a:r>
                <a:r>
                  <a:rPr lang="de-DE" dirty="0"/>
                  <a:t> </a:t>
                </a:r>
                <a:r>
                  <a:rPr lang="de-DE" dirty="0" err="1"/>
                  <a:t>accumulate</a:t>
                </a:r>
                <a:r>
                  <a:rPr lang="de-DE" dirty="0"/>
                  <a:t> </a:t>
                </a:r>
                <a:r>
                  <a:rPr lang="de-DE" dirty="0" err="1"/>
                  <a:t>over</a:t>
                </a:r>
                <a:r>
                  <a:rPr lang="de-DE" dirty="0"/>
                  <a:t> </a:t>
                </a:r>
                <a:r>
                  <a:rPr lang="de-DE" dirty="0" err="1"/>
                  <a:t>long</a:t>
                </a:r>
                <a:r>
                  <a:rPr lang="de-DE" dirty="0"/>
                  <a:t> </a:t>
                </a:r>
                <a:r>
                  <a:rPr lang="de-DE" dirty="0" err="1"/>
                  <a:t>horizons</a:t>
                </a:r>
                <a:endParaRPr lang="de-DE" dirty="0"/>
              </a:p>
              <a:p>
                <a:pPr marL="0" indent="0">
                  <a:buNone/>
                </a:pPr>
                <a:r>
                  <a:rPr lang="de-DE" dirty="0">
                    <a:sym typeface="Wingdings" pitchFamily="2" charset="2"/>
                  </a:rPr>
                  <a:t> </a:t>
                </a:r>
                <a:r>
                  <a:rPr lang="de-DE" dirty="0" err="1"/>
                  <a:t>inaccurate</a:t>
                </a:r>
                <a:r>
                  <a:rPr lang="de-DE" dirty="0"/>
                  <a:t> </a:t>
                </a:r>
                <a:r>
                  <a:rPr lang="de-DE" dirty="0" err="1"/>
                  <a:t>predictions</a:t>
                </a:r>
                <a:r>
                  <a:rPr lang="de-DE" dirty="0"/>
                  <a:t> </a:t>
                </a:r>
                <a:r>
                  <a:rPr lang="de-DE" dirty="0" err="1"/>
                  <a:t>may</a:t>
                </a:r>
                <a:r>
                  <a:rPr lang="de-DE" dirty="0"/>
                  <a:t> </a:t>
                </a:r>
                <a:r>
                  <a:rPr lang="de-DE" dirty="0" err="1"/>
                  <a:t>degrade</a:t>
                </a:r>
                <a:r>
                  <a:rPr lang="de-DE" dirty="0"/>
                  <a:t> </a:t>
                </a:r>
                <a:r>
                  <a:rPr lang="de-DE" dirty="0" err="1"/>
                  <a:t>policy</a:t>
                </a:r>
                <a:r>
                  <a:rPr lang="de-DE" dirty="0"/>
                  <a:t> </a:t>
                </a:r>
                <a:r>
                  <a:rPr lang="de-DE" dirty="0" err="1"/>
                  <a:t>performance</a:t>
                </a:r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F51217FA-F236-BEE9-1596-5444C7A83D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348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2D4494C-3760-B7F5-D34E-2FAEC3BE2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24807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F160CE-84E4-0CDF-8D88-7AFDC5AA3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Offline RL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96B0F67-5191-D62E-9178-26EF992221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de-DE" dirty="0" err="1"/>
              <a:t>learn</a:t>
            </a:r>
            <a:r>
              <a:rPr lang="de-DE" dirty="0"/>
              <a:t> a </a:t>
            </a:r>
            <a:r>
              <a:rPr lang="de-DE" dirty="0" err="1"/>
              <a:t>policy</a:t>
            </a:r>
            <a:r>
              <a:rPr lang="de-DE" dirty="0"/>
              <a:t> </a:t>
            </a:r>
            <a:r>
              <a:rPr lang="de-DE" dirty="0" err="1"/>
              <a:t>entirely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a </a:t>
            </a:r>
            <a:r>
              <a:rPr lang="de-DE" dirty="0" err="1"/>
              <a:t>fixed</a:t>
            </a:r>
            <a:r>
              <a:rPr lang="de-DE" dirty="0"/>
              <a:t> </a:t>
            </a:r>
            <a:r>
              <a:rPr lang="de-DE" dirty="0" err="1"/>
              <a:t>dataset</a:t>
            </a:r>
            <a:r>
              <a:rPr lang="de-DE" dirty="0"/>
              <a:t>:</a:t>
            </a:r>
          </a:p>
          <a:p>
            <a:r>
              <a:rPr lang="de-DE" dirty="0" err="1"/>
              <a:t>training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consists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previously</a:t>
            </a:r>
            <a:r>
              <a:rPr lang="de-DE" dirty="0"/>
              <a:t> </a:t>
            </a:r>
            <a:r>
              <a:rPr lang="de-DE" dirty="0" err="1"/>
              <a:t>collected</a:t>
            </a:r>
            <a:r>
              <a:rPr lang="de-DE" dirty="0"/>
              <a:t> </a:t>
            </a:r>
            <a:r>
              <a:rPr lang="de-DE" dirty="0" err="1"/>
              <a:t>trajectories</a:t>
            </a:r>
            <a:endParaRPr lang="de-DE" dirty="0"/>
          </a:p>
          <a:p>
            <a:r>
              <a:rPr lang="de-DE" dirty="0" err="1"/>
              <a:t>no</a:t>
            </a:r>
            <a:r>
              <a:rPr lang="de-DE" dirty="0"/>
              <a:t> online </a:t>
            </a:r>
            <a:r>
              <a:rPr lang="de-DE" dirty="0" err="1"/>
              <a:t>exploration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environment</a:t>
            </a:r>
            <a:r>
              <a:rPr lang="de-DE" dirty="0"/>
              <a:t> </a:t>
            </a:r>
            <a:r>
              <a:rPr lang="de-DE" dirty="0" err="1"/>
              <a:t>interaction</a:t>
            </a:r>
            <a:r>
              <a:rPr lang="de-DE" dirty="0"/>
              <a:t> </a:t>
            </a:r>
            <a:r>
              <a:rPr lang="de-DE" dirty="0" err="1"/>
              <a:t>during</a:t>
            </a:r>
            <a:r>
              <a:rPr lang="de-DE" dirty="0"/>
              <a:t> </a:t>
            </a:r>
            <a:r>
              <a:rPr lang="de-DE" dirty="0" err="1"/>
              <a:t>learning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/>
              <a:t>key</a:t>
            </a:r>
            <a:r>
              <a:rPr lang="de-DE" dirty="0"/>
              <a:t> </a:t>
            </a:r>
            <a:r>
              <a:rPr lang="de-DE" dirty="0" err="1"/>
              <a:t>idea</a:t>
            </a:r>
            <a:r>
              <a:rPr lang="de-DE" dirty="0"/>
              <a:t>: </a:t>
            </a:r>
            <a:r>
              <a:rPr lang="de-DE" dirty="0" err="1"/>
              <a:t>use</a:t>
            </a:r>
            <a:r>
              <a:rPr lang="de-DE" dirty="0"/>
              <a:t> </a:t>
            </a:r>
            <a:r>
              <a:rPr lang="de-DE" dirty="0" err="1"/>
              <a:t>reward</a:t>
            </a:r>
            <a:r>
              <a:rPr lang="de-DE" dirty="0"/>
              <a:t> </a:t>
            </a:r>
            <a:r>
              <a:rPr lang="de-DE" dirty="0" err="1"/>
              <a:t>information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learn</a:t>
            </a:r>
            <a:r>
              <a:rPr lang="de-DE" dirty="0"/>
              <a:t> </a:t>
            </a:r>
            <a:r>
              <a:rPr lang="de-DE" dirty="0" err="1"/>
              <a:t>policies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may</a:t>
            </a:r>
            <a:r>
              <a:rPr lang="de-DE" dirty="0"/>
              <a:t> </a:t>
            </a:r>
            <a:r>
              <a:rPr lang="de-DE" dirty="0" err="1"/>
              <a:t>prefer</a:t>
            </a:r>
            <a:r>
              <a:rPr lang="de-DE" dirty="0"/>
              <a:t> </a:t>
            </a:r>
            <a:r>
              <a:rPr lang="de-DE" dirty="0" err="1"/>
              <a:t>higher</a:t>
            </a:r>
            <a:r>
              <a:rPr lang="de-DE" dirty="0"/>
              <a:t>-return </a:t>
            </a:r>
            <a:r>
              <a:rPr lang="de-DE" dirty="0" err="1"/>
              <a:t>behaviors</a:t>
            </a:r>
            <a:r>
              <a:rPr lang="de-DE" dirty="0"/>
              <a:t> in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dataset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/>
              <a:t>important</a:t>
            </a:r>
            <a:r>
              <a:rPr lang="de-DE" dirty="0"/>
              <a:t> caveat:</a:t>
            </a:r>
          </a:p>
          <a:p>
            <a:pPr marL="0" indent="0">
              <a:buNone/>
            </a:pPr>
            <a:r>
              <a:rPr lang="de-DE" dirty="0" err="1"/>
              <a:t>improvement</a:t>
            </a:r>
            <a:r>
              <a:rPr lang="de-DE" dirty="0"/>
              <a:t> </a:t>
            </a:r>
            <a:r>
              <a:rPr lang="de-DE" dirty="0" err="1"/>
              <a:t>only</a:t>
            </a:r>
            <a:r>
              <a:rPr lang="de-DE" dirty="0"/>
              <a:t> possible </a:t>
            </a:r>
            <a:r>
              <a:rPr lang="de-DE" dirty="0" err="1"/>
              <a:t>within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coverage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dataset</a:t>
            </a:r>
            <a:endParaRPr lang="de-DE" dirty="0"/>
          </a:p>
          <a:p>
            <a:pPr marL="0" indent="0">
              <a:buNone/>
            </a:pPr>
            <a:r>
              <a:rPr lang="de-DE" dirty="0">
                <a:sym typeface="Wingdings" pitchFamily="2" charset="2"/>
              </a:rPr>
              <a:t></a:t>
            </a:r>
            <a:r>
              <a:rPr lang="de-DE" dirty="0"/>
              <a:t> limited </a:t>
            </a:r>
            <a:r>
              <a:rPr lang="de-DE" dirty="0" err="1"/>
              <a:t>generalization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unseen</a:t>
            </a:r>
            <a:r>
              <a:rPr lang="de-DE" dirty="0"/>
              <a:t>/out-</a:t>
            </a:r>
            <a:r>
              <a:rPr lang="de-DE" dirty="0" err="1"/>
              <a:t>of</a:t>
            </a:r>
            <a:r>
              <a:rPr lang="de-DE" dirty="0"/>
              <a:t>-distribution </a:t>
            </a:r>
            <a:r>
              <a:rPr lang="de-DE" dirty="0" err="1"/>
              <a:t>actions</a:t>
            </a:r>
            <a:endParaRPr lang="de-DE" dirty="0"/>
          </a:p>
          <a:p>
            <a:pPr marL="0" indent="0">
              <a:buNone/>
            </a:pP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3219327-6F35-D7AF-8124-0EE106318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00341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998E0-9C63-1A8D-0CD6-F6A2A1A3B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A8EC9A8F-5558-9BFF-B0FE-D0460279C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Learning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Demonstrations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E5D1A1D-D38A-0B3B-FD8C-659D8D609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14375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FA03BF-908E-A68C-5420-D9AB5953F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Behavior</a:t>
            </a:r>
            <a:r>
              <a:rPr lang="de-DE" dirty="0"/>
              <a:t> </a:t>
            </a:r>
            <a:r>
              <a:rPr lang="de-DE" dirty="0" err="1"/>
              <a:t>Cloning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4374729-908A-2746-7EDF-3B66E9268D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de-DE" dirty="0" err="1"/>
              <a:t>learn</a:t>
            </a:r>
            <a:r>
              <a:rPr lang="de-DE" dirty="0"/>
              <a:t> a </a:t>
            </a:r>
            <a:r>
              <a:rPr lang="de-DE" dirty="0" err="1"/>
              <a:t>policy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directly</a:t>
            </a:r>
            <a:r>
              <a:rPr lang="de-DE" dirty="0"/>
              <a:t> </a:t>
            </a:r>
            <a:r>
              <a:rPr lang="de-DE" dirty="0" err="1"/>
              <a:t>imitating</a:t>
            </a:r>
            <a:r>
              <a:rPr lang="de-DE" dirty="0"/>
              <a:t> </a:t>
            </a:r>
            <a:r>
              <a:rPr lang="de-DE" dirty="0" err="1"/>
              <a:t>demonstrations</a:t>
            </a:r>
            <a:r>
              <a:rPr lang="de-DE" dirty="0"/>
              <a:t>:</a:t>
            </a:r>
          </a:p>
          <a:p>
            <a:r>
              <a:rPr lang="de-DE" dirty="0" err="1"/>
              <a:t>training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consists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expert </a:t>
            </a:r>
            <a:r>
              <a:rPr lang="de-DE" dirty="0" err="1"/>
              <a:t>trajectories</a:t>
            </a:r>
            <a:endParaRPr lang="de-DE" dirty="0"/>
          </a:p>
          <a:p>
            <a:r>
              <a:rPr lang="de-DE" dirty="0" err="1"/>
              <a:t>learn</a:t>
            </a:r>
            <a:r>
              <a:rPr lang="de-DE" dirty="0"/>
              <a:t> a </a:t>
            </a:r>
            <a:r>
              <a:rPr lang="de-DE" dirty="0" err="1"/>
              <a:t>mapping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states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actions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>
                <a:sym typeface="Wingdings" pitchFamily="2" charset="2"/>
              </a:rPr>
              <a:t> </a:t>
            </a:r>
            <a:r>
              <a:rPr lang="de-DE" dirty="0" err="1">
                <a:sym typeface="Wingdings" pitchFamily="2" charset="2"/>
              </a:rPr>
              <a:t>t</a:t>
            </a:r>
            <a:r>
              <a:rPr lang="de-DE" dirty="0" err="1"/>
              <a:t>reat</a:t>
            </a:r>
            <a:r>
              <a:rPr lang="de-DE" dirty="0"/>
              <a:t> RL </a:t>
            </a:r>
            <a:r>
              <a:rPr lang="de-DE" dirty="0" err="1"/>
              <a:t>as</a:t>
            </a:r>
            <a:r>
              <a:rPr lang="de-DE" dirty="0"/>
              <a:t> a </a:t>
            </a:r>
            <a:r>
              <a:rPr lang="de-DE" dirty="0" err="1"/>
              <a:t>standard</a:t>
            </a:r>
            <a:r>
              <a:rPr lang="de-DE" dirty="0"/>
              <a:t> </a:t>
            </a:r>
            <a:r>
              <a:rPr lang="de-DE" dirty="0" err="1"/>
              <a:t>supervised</a:t>
            </a:r>
            <a:r>
              <a:rPr lang="de-DE" dirty="0"/>
              <a:t> </a:t>
            </a:r>
            <a:r>
              <a:rPr lang="de-DE" dirty="0" err="1"/>
              <a:t>learning</a:t>
            </a:r>
            <a:r>
              <a:rPr lang="de-DE" dirty="0"/>
              <a:t> </a:t>
            </a:r>
            <a:r>
              <a:rPr lang="de-DE" dirty="0" err="1"/>
              <a:t>problem</a:t>
            </a:r>
            <a:r>
              <a:rPr lang="de-DE" dirty="0"/>
              <a:t> (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reward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exploration</a:t>
            </a:r>
            <a:r>
              <a:rPr lang="de-DE" dirty="0"/>
              <a:t>)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/>
              <a:t>effective</a:t>
            </a:r>
            <a:r>
              <a:rPr lang="de-DE" dirty="0"/>
              <a:t> </a:t>
            </a:r>
            <a:r>
              <a:rPr lang="de-DE" dirty="0" err="1"/>
              <a:t>when</a:t>
            </a:r>
            <a:r>
              <a:rPr lang="de-DE" dirty="0"/>
              <a:t> expert 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high </a:t>
            </a:r>
            <a:r>
              <a:rPr lang="de-DE" dirty="0" err="1"/>
              <a:t>quality</a:t>
            </a:r>
            <a:r>
              <a:rPr lang="de-DE" dirty="0"/>
              <a:t> and </a:t>
            </a:r>
            <a:r>
              <a:rPr lang="de-DE" dirty="0" err="1"/>
              <a:t>covers</a:t>
            </a:r>
            <a:r>
              <a:rPr lang="de-DE" dirty="0"/>
              <a:t> relevant </a:t>
            </a:r>
            <a:r>
              <a:rPr lang="de-DE" dirty="0" err="1"/>
              <a:t>states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/>
              <a:t>simplest</a:t>
            </a:r>
            <a:r>
              <a:rPr lang="de-DE" dirty="0"/>
              <a:t> form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imitation</a:t>
            </a:r>
            <a:r>
              <a:rPr lang="de-DE" dirty="0"/>
              <a:t> </a:t>
            </a:r>
            <a:r>
              <a:rPr lang="de-DE" dirty="0" err="1"/>
              <a:t>learning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DCDCF85-4CE3-59AD-F996-D7A37AE8F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04347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8FAD46-DAA4-EBE8-6800-3264FEB43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Imitation Learning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88DD584-086F-95E0-F3CE-7DF069DD96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de-DE" dirty="0" err="1"/>
              <a:t>behavior</a:t>
            </a:r>
            <a:r>
              <a:rPr lang="de-DE" dirty="0"/>
              <a:t> </a:t>
            </a:r>
            <a:r>
              <a:rPr lang="de-DE" dirty="0" err="1"/>
              <a:t>cloning</a:t>
            </a:r>
            <a:r>
              <a:rPr lang="de-DE" dirty="0"/>
              <a:t>: </a:t>
            </a:r>
            <a:r>
              <a:rPr lang="de-DE" dirty="0" err="1"/>
              <a:t>direct</a:t>
            </a:r>
            <a:r>
              <a:rPr lang="de-DE" dirty="0"/>
              <a:t> </a:t>
            </a:r>
            <a:r>
              <a:rPr lang="de-DE" dirty="0" err="1"/>
              <a:t>supervised</a:t>
            </a:r>
            <a:r>
              <a:rPr lang="de-DE" dirty="0"/>
              <a:t> </a:t>
            </a:r>
            <a:r>
              <a:rPr lang="de-DE" dirty="0" err="1"/>
              <a:t>learning</a:t>
            </a:r>
            <a:r>
              <a:rPr lang="de-DE" dirty="0"/>
              <a:t> on </a:t>
            </a:r>
            <a:r>
              <a:rPr lang="de-DE" dirty="0" err="1"/>
              <a:t>state</a:t>
            </a:r>
            <a:r>
              <a:rPr lang="de-DE" dirty="0"/>
              <a:t>-action </a:t>
            </a:r>
            <a:r>
              <a:rPr lang="de-DE" dirty="0" err="1"/>
              <a:t>pairs</a:t>
            </a:r>
            <a:endParaRPr lang="de-DE" dirty="0"/>
          </a:p>
          <a:p>
            <a:pPr marL="0" indent="0">
              <a:buNone/>
            </a:pPr>
            <a:r>
              <a:rPr lang="de-DE" dirty="0" err="1"/>
              <a:t>imitation</a:t>
            </a:r>
            <a:r>
              <a:rPr lang="de-DE" dirty="0"/>
              <a:t> </a:t>
            </a:r>
            <a:r>
              <a:rPr lang="de-DE" dirty="0" err="1"/>
              <a:t>learning</a:t>
            </a:r>
            <a:r>
              <a:rPr lang="de-DE" dirty="0"/>
              <a:t>: </a:t>
            </a:r>
            <a:r>
              <a:rPr lang="de-DE" dirty="0" err="1"/>
              <a:t>broader</a:t>
            </a:r>
            <a:r>
              <a:rPr lang="de-DE" dirty="0"/>
              <a:t> </a:t>
            </a:r>
            <a:r>
              <a:rPr lang="de-DE" dirty="0" err="1"/>
              <a:t>framework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learning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demonstrations</a:t>
            </a:r>
            <a:r>
              <a:rPr lang="de-DE" dirty="0"/>
              <a:t> (</a:t>
            </a:r>
            <a:r>
              <a:rPr lang="de-DE" dirty="0" err="1"/>
              <a:t>including</a:t>
            </a:r>
            <a:r>
              <a:rPr lang="de-DE" dirty="0"/>
              <a:t> </a:t>
            </a:r>
            <a:r>
              <a:rPr lang="de-DE" dirty="0" err="1"/>
              <a:t>methods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go</a:t>
            </a:r>
            <a:r>
              <a:rPr lang="de-DE" dirty="0"/>
              <a:t> </a:t>
            </a:r>
            <a:r>
              <a:rPr lang="de-DE" dirty="0" err="1"/>
              <a:t>beyond</a:t>
            </a:r>
            <a:r>
              <a:rPr lang="de-DE" dirty="0"/>
              <a:t> simple </a:t>
            </a:r>
            <a:r>
              <a:rPr lang="de-DE" dirty="0" err="1"/>
              <a:t>supervised</a:t>
            </a:r>
            <a:r>
              <a:rPr lang="de-DE" dirty="0"/>
              <a:t> </a:t>
            </a:r>
            <a:r>
              <a:rPr lang="de-DE" dirty="0" err="1"/>
              <a:t>learning</a:t>
            </a:r>
            <a:r>
              <a:rPr lang="de-DE" dirty="0"/>
              <a:t>)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/>
              <a:t>useful</a:t>
            </a:r>
            <a:r>
              <a:rPr lang="de-DE" dirty="0"/>
              <a:t> </a:t>
            </a:r>
            <a:r>
              <a:rPr lang="de-DE" dirty="0" err="1"/>
              <a:t>when</a:t>
            </a:r>
            <a:r>
              <a:rPr lang="de-DE" dirty="0"/>
              <a:t> </a:t>
            </a:r>
            <a:r>
              <a:rPr lang="de-DE" dirty="0" err="1"/>
              <a:t>exploration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difficult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unsafe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/>
              <a:t>key</a:t>
            </a:r>
            <a:r>
              <a:rPr lang="de-DE" dirty="0"/>
              <a:t> </a:t>
            </a:r>
            <a:r>
              <a:rPr lang="de-DE" dirty="0" err="1"/>
              <a:t>limitation</a:t>
            </a:r>
            <a:r>
              <a:rPr lang="de-DE" dirty="0"/>
              <a:t>: </a:t>
            </a:r>
            <a:r>
              <a:rPr lang="de-DE" dirty="0" err="1"/>
              <a:t>performance</a:t>
            </a:r>
            <a:r>
              <a:rPr lang="de-DE" dirty="0"/>
              <a:t> </a:t>
            </a:r>
            <a:r>
              <a:rPr lang="de-DE" dirty="0" err="1"/>
              <a:t>typically</a:t>
            </a:r>
            <a:r>
              <a:rPr lang="de-DE" dirty="0"/>
              <a:t> </a:t>
            </a:r>
            <a:r>
              <a:rPr lang="de-DE" dirty="0" err="1"/>
              <a:t>bounded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quality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expert</a:t>
            </a:r>
          </a:p>
          <a:p>
            <a:pPr marL="0" indent="0">
              <a:buNone/>
            </a:pPr>
            <a:r>
              <a:rPr lang="de-DE" dirty="0">
                <a:sym typeface="Wingdings" pitchFamily="2" charset="2"/>
              </a:rPr>
              <a:t> </a:t>
            </a:r>
            <a:r>
              <a:rPr lang="de-DE" dirty="0" err="1"/>
              <a:t>cannot</a:t>
            </a:r>
            <a:r>
              <a:rPr lang="de-DE" dirty="0"/>
              <a:t> </a:t>
            </a:r>
            <a:r>
              <a:rPr lang="de-DE" dirty="0" err="1"/>
              <a:t>reliably</a:t>
            </a:r>
            <a:r>
              <a:rPr lang="de-DE" dirty="0"/>
              <a:t> </a:t>
            </a:r>
            <a:r>
              <a:rPr lang="de-DE" dirty="0" err="1"/>
              <a:t>exceed</a:t>
            </a:r>
            <a:r>
              <a:rPr lang="de-DE" dirty="0"/>
              <a:t> expert </a:t>
            </a:r>
            <a:r>
              <a:rPr lang="de-DE" dirty="0" err="1"/>
              <a:t>without</a:t>
            </a:r>
            <a:r>
              <a:rPr lang="de-DE" dirty="0"/>
              <a:t> </a:t>
            </a:r>
            <a:r>
              <a:rPr lang="de-DE" dirty="0" err="1"/>
              <a:t>incorporating</a:t>
            </a:r>
            <a:r>
              <a:rPr lang="de-DE" dirty="0"/>
              <a:t> </a:t>
            </a:r>
            <a:r>
              <a:rPr lang="de-DE" dirty="0" err="1"/>
              <a:t>reward-based</a:t>
            </a:r>
            <a:r>
              <a:rPr lang="de-DE" dirty="0"/>
              <a:t> </a:t>
            </a:r>
            <a:r>
              <a:rPr lang="de-DE" dirty="0" err="1"/>
              <a:t>learning</a:t>
            </a:r>
            <a:r>
              <a:rPr lang="de-DE" dirty="0"/>
              <a:t> (</a:t>
            </a:r>
            <a:r>
              <a:rPr lang="de-DE" dirty="0">
                <a:sym typeface="Wingdings" pitchFamily="2" charset="2"/>
              </a:rPr>
              <a:t>e.g., </a:t>
            </a:r>
            <a:r>
              <a:rPr lang="de-DE" dirty="0"/>
              <a:t>offline RL)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6FC482C-7B2A-5132-4240-279110793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65181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C2F0C89D-B6FC-F83C-9F0B-A0A7B0579D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0" y="1405625"/>
            <a:ext cx="7772400" cy="458174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93F088E-C3DC-F2DD-C0D6-CDDB71782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RL from Human Feedback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A0BAE-42AC-6B59-AF1B-7A814C8BF7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42811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example for supporting large language models (transformers) with RL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u</a:t>
            </a:r>
            <a:r>
              <a:rPr lang="en-DE" sz="2400" dirty="0"/>
              <a:t>sed in famous ChatGPT</a:t>
            </a:r>
          </a:p>
          <a:p>
            <a:pPr marL="0" indent="0">
              <a:buNone/>
            </a:pPr>
            <a:endParaRPr lang="en-DE" sz="2400" dirty="0"/>
          </a:p>
          <a:p>
            <a:pPr marL="0" indent="0">
              <a:buNone/>
            </a:pPr>
            <a:r>
              <a:rPr lang="en-GB" sz="2400" dirty="0"/>
              <a:t>goal</a:t>
            </a:r>
            <a:r>
              <a:rPr lang="en-DE" sz="2400" dirty="0"/>
              <a:t>: improve alignment with user intentions</a:t>
            </a:r>
          </a:p>
          <a:p>
            <a:pPr marL="0" indent="0">
              <a:buNone/>
            </a:pPr>
            <a:r>
              <a:rPr lang="en-DE" sz="2400" dirty="0">
                <a:sym typeface="Wingdings" pitchFamily="2" charset="2"/>
              </a:rPr>
              <a:t> </a:t>
            </a:r>
            <a:r>
              <a:rPr lang="en-GB" sz="2400" dirty="0">
                <a:sym typeface="Wingdings" pitchFamily="2" charset="2"/>
              </a:rPr>
              <a:t>l</a:t>
            </a:r>
            <a:r>
              <a:rPr lang="en-DE" sz="2400" dirty="0">
                <a:sym typeface="Wingdings" pitchFamily="2" charset="2"/>
              </a:rPr>
              <a:t>earn from human preferences</a:t>
            </a:r>
            <a:endParaRPr lang="en-DE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D34CD7-6253-E16B-BF24-28A9AD5BF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B675A-2084-C34A-84F6-1B6A8516A5F3}" type="slidenum">
              <a:rPr lang="en-DE" smtClean="0"/>
              <a:t>10</a:t>
            </a:fld>
            <a:endParaRPr lang="en-D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65346F-C1B5-44BB-1572-3B45F4ED02AB}"/>
              </a:ext>
            </a:extLst>
          </p:cNvPr>
          <p:cNvSpPr txBox="1"/>
          <p:nvPr/>
        </p:nvSpPr>
        <p:spPr>
          <a:xfrm>
            <a:off x="11471564" y="5912427"/>
            <a:ext cx="5671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hlinkClick r:id="rId3"/>
              </a:rPr>
              <a:t>source</a:t>
            </a:r>
            <a:endParaRPr lang="de-DE" sz="1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E95162-A0A6-C1BF-4669-5F2070D5B2D9}"/>
              </a:ext>
            </a:extLst>
          </p:cNvPr>
          <p:cNvSpPr txBox="1"/>
          <p:nvPr/>
        </p:nvSpPr>
        <p:spPr>
          <a:xfrm>
            <a:off x="4074452" y="5987366"/>
            <a:ext cx="68437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2400" dirty="0"/>
              <a:t>RL looks at reward of text output passages as a whole</a:t>
            </a:r>
          </a:p>
          <a:p>
            <a:r>
              <a:rPr lang="en-DE" sz="2400" dirty="0"/>
              <a:t>(rather than token-level loss in supervised learning)</a:t>
            </a:r>
          </a:p>
        </p:txBody>
      </p:sp>
    </p:spTree>
    <p:extLst>
      <p:ext uri="{BB962C8B-B14F-4D97-AF65-F5344CB8AC3E}">
        <p14:creationId xmlns:p14="http://schemas.microsoft.com/office/powerpoint/2010/main" val="14872159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8F042-FE8F-EAEC-274F-FCB9C2EE1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2BF53195-4C15-3A12-376C-83D131D9D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4800" dirty="0"/>
              <a:t>RL </a:t>
            </a:r>
            <a:r>
              <a:rPr lang="de-DE" sz="4800" dirty="0" err="1"/>
              <a:t>as</a:t>
            </a:r>
            <a:r>
              <a:rPr lang="de-DE" sz="4800" dirty="0"/>
              <a:t> </a:t>
            </a:r>
            <a:r>
              <a:rPr lang="de-DE" sz="4800" dirty="0" err="1"/>
              <a:t>Sequence</a:t>
            </a:r>
            <a:r>
              <a:rPr lang="de-DE" sz="4800" dirty="0"/>
              <a:t> and Generative Modeling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D719CD9-3462-671A-8C23-E3FB9795F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23029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3FAC51-65A5-1409-A6D0-7B810403B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Trajectory </a:t>
            </a:r>
            <a:r>
              <a:rPr lang="en-GB" dirty="0" err="1"/>
              <a:t>Modeling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5E36192F-8BCF-0FAF-226A-963A74B4ED5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de-DE" dirty="0" err="1"/>
                  <a:t>reframe</a:t>
                </a:r>
                <a:r>
                  <a:rPr lang="de-DE" dirty="0"/>
                  <a:t> RL </a:t>
                </a:r>
                <a:r>
                  <a:rPr lang="de-DE" dirty="0" err="1"/>
                  <a:t>as</a:t>
                </a:r>
                <a:r>
                  <a:rPr lang="de-DE" dirty="0"/>
                  <a:t> </a:t>
                </a:r>
                <a:r>
                  <a:rPr lang="de-DE" dirty="0" err="1"/>
                  <a:t>sequence</a:t>
                </a:r>
                <a:r>
                  <a:rPr lang="de-DE" dirty="0"/>
                  <a:t> </a:t>
                </a:r>
                <a:r>
                  <a:rPr lang="de-DE" dirty="0" err="1"/>
                  <a:t>generation</a:t>
                </a:r>
                <a:r>
                  <a:rPr lang="de-DE" dirty="0"/>
                  <a:t>:</a:t>
                </a:r>
              </a:p>
              <a:p>
                <a:r>
                  <a:rPr lang="de-DE" dirty="0"/>
                  <a:t>a </a:t>
                </a:r>
                <a:r>
                  <a:rPr lang="de-DE" dirty="0" err="1"/>
                  <a:t>trajectory</a:t>
                </a:r>
                <a:r>
                  <a:rPr lang="de-DE" dirty="0"/>
                  <a:t> </a:t>
                </a:r>
                <a:r>
                  <a:rPr lang="de-DE" dirty="0" err="1"/>
                  <a:t>is</a:t>
                </a:r>
                <a:r>
                  <a:rPr lang="de-DE" dirty="0"/>
                  <a:t> </a:t>
                </a:r>
                <a:r>
                  <a:rPr lang="de-DE" dirty="0" err="1"/>
                  <a:t>treated</a:t>
                </a:r>
                <a:r>
                  <a:rPr lang="de-DE" dirty="0"/>
                  <a:t> </a:t>
                </a:r>
                <a:r>
                  <a:rPr lang="de-DE" dirty="0" err="1"/>
                  <a:t>as</a:t>
                </a:r>
                <a:r>
                  <a:rPr lang="de-DE" dirty="0"/>
                  <a:t> a </a:t>
                </a:r>
                <a:r>
                  <a:rPr lang="de-DE" dirty="0" err="1"/>
                  <a:t>sequence</a:t>
                </a:r>
                <a:r>
                  <a:rPr lang="de-DE" dirty="0"/>
                  <a:t>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de-DE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DE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de-DE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de-DE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,…</m:t>
                        </m:r>
                      </m:e>
                    </m:d>
                  </m:oMath>
                </a14:m>
                <a:endParaRPr lang="de-DE" dirty="0"/>
              </a:p>
              <a:p>
                <a:r>
                  <a:rPr lang="de-DE" dirty="0" err="1"/>
                  <a:t>predict</a:t>
                </a:r>
                <a:r>
                  <a:rPr lang="de-DE" dirty="0"/>
                  <a:t> </a:t>
                </a:r>
                <a:r>
                  <a:rPr lang="de-DE" dirty="0" err="1"/>
                  <a:t>next</a:t>
                </a:r>
                <a:r>
                  <a:rPr lang="de-DE" dirty="0"/>
                  <a:t> </a:t>
                </a:r>
                <a:r>
                  <a:rPr lang="de-DE" dirty="0" err="1"/>
                  <a:t>action</a:t>
                </a:r>
                <a:r>
                  <a:rPr lang="de-DE" dirty="0"/>
                  <a:t> </a:t>
                </a:r>
                <a:r>
                  <a:rPr lang="de-DE" dirty="0" err="1"/>
                  <a:t>given</a:t>
                </a:r>
                <a:r>
                  <a:rPr lang="de-DE" dirty="0"/>
                  <a:t> </a:t>
                </a:r>
                <a:r>
                  <a:rPr lang="de-DE" dirty="0" err="1"/>
                  <a:t>past</a:t>
                </a:r>
                <a:r>
                  <a:rPr lang="de-DE" dirty="0"/>
                  <a:t> </a:t>
                </a:r>
                <a:r>
                  <a:rPr lang="de-DE" dirty="0" err="1"/>
                  <a:t>states</a:t>
                </a:r>
                <a:r>
                  <a:rPr lang="de-DE" dirty="0"/>
                  <a:t>, </a:t>
                </a:r>
                <a:r>
                  <a:rPr lang="de-DE" dirty="0" err="1"/>
                  <a:t>actions</a:t>
                </a:r>
                <a:r>
                  <a:rPr lang="de-DE" dirty="0"/>
                  <a:t>, and </a:t>
                </a:r>
                <a:r>
                  <a:rPr lang="de-DE" dirty="0" err="1"/>
                  <a:t>returns</a:t>
                </a:r>
                <a:endParaRPr lang="de-DE" dirty="0"/>
              </a:p>
              <a:p>
                <a:pPr marL="0" indent="0">
                  <a:buNone/>
                </a:pPr>
                <a:r>
                  <a:rPr lang="de-DE" dirty="0">
                    <a:sym typeface="Wingdings" pitchFamily="2" charset="2"/>
                  </a:rPr>
                  <a:t> </a:t>
                </a:r>
                <a:r>
                  <a:rPr lang="de-DE" dirty="0" err="1"/>
                  <a:t>instead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learning</a:t>
                </a:r>
                <a:r>
                  <a:rPr lang="de-DE" dirty="0"/>
                  <a:t> “</a:t>
                </a:r>
                <a:r>
                  <a:rPr lang="de-DE" dirty="0" err="1"/>
                  <a:t>policy</a:t>
                </a:r>
                <a:r>
                  <a:rPr lang="de-DE" dirty="0"/>
                  <a:t> + </a:t>
                </a:r>
                <a:r>
                  <a:rPr lang="de-DE" dirty="0" err="1"/>
                  <a:t>value</a:t>
                </a:r>
                <a:r>
                  <a:rPr lang="de-DE" dirty="0"/>
                  <a:t> </a:t>
                </a:r>
                <a:r>
                  <a:rPr lang="de-DE" dirty="0" err="1"/>
                  <a:t>function</a:t>
                </a:r>
                <a:r>
                  <a:rPr lang="de-DE" dirty="0"/>
                  <a:t>”, </a:t>
                </a:r>
                <a:r>
                  <a:rPr lang="de-DE" dirty="0" err="1"/>
                  <a:t>learn</a:t>
                </a:r>
                <a:r>
                  <a:rPr lang="de-DE" dirty="0"/>
                  <a:t> a </a:t>
                </a:r>
                <a:r>
                  <a:rPr lang="de-DE" dirty="0" err="1"/>
                  <a:t>sequence</a:t>
                </a:r>
                <a:r>
                  <a:rPr lang="de-DE" dirty="0"/>
                  <a:t> </a:t>
                </a:r>
                <a:r>
                  <a:rPr lang="de-DE" dirty="0" err="1"/>
                  <a:t>model</a:t>
                </a:r>
                <a:r>
                  <a:rPr lang="de-DE" dirty="0"/>
                  <a:t> </a:t>
                </a:r>
                <a:r>
                  <a:rPr lang="de-DE" dirty="0" err="1"/>
                  <a:t>over</a:t>
                </a:r>
                <a:r>
                  <a:rPr lang="de-DE" dirty="0"/>
                  <a:t> </a:t>
                </a:r>
                <a:r>
                  <a:rPr lang="de-DE" dirty="0" err="1"/>
                  <a:t>behavior</a:t>
                </a: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r>
                  <a:rPr lang="de-DE" dirty="0" err="1"/>
                  <a:t>uses</a:t>
                </a:r>
                <a:r>
                  <a:rPr lang="de-DE" dirty="0"/>
                  <a:t> </a:t>
                </a:r>
                <a:r>
                  <a:rPr lang="de-DE" dirty="0" err="1"/>
                  <a:t>architectures</a:t>
                </a:r>
                <a:r>
                  <a:rPr lang="de-DE" dirty="0"/>
                  <a:t> </a:t>
                </a:r>
                <a:r>
                  <a:rPr lang="de-DE" dirty="0" err="1"/>
                  <a:t>from</a:t>
                </a:r>
                <a:r>
                  <a:rPr lang="de-DE" dirty="0"/>
                  <a:t> </a:t>
                </a:r>
                <a:r>
                  <a:rPr lang="de-DE" dirty="0" err="1"/>
                  <a:t>sequence</a:t>
                </a:r>
                <a:r>
                  <a:rPr lang="de-DE" dirty="0"/>
                  <a:t> </a:t>
                </a:r>
                <a:r>
                  <a:rPr lang="de-DE" dirty="0" err="1"/>
                  <a:t>modeling</a:t>
                </a:r>
                <a:r>
                  <a:rPr lang="de-DE" dirty="0"/>
                  <a:t> (e.g., </a:t>
                </a:r>
                <a:r>
                  <a:rPr lang="de-DE" dirty="0" err="1"/>
                  <a:t>transformers</a:t>
                </a:r>
                <a:r>
                  <a:rPr lang="de-DE" dirty="0"/>
                  <a:t>)</a:t>
                </a:r>
              </a:p>
              <a:p>
                <a:r>
                  <a:rPr lang="de-DE" dirty="0" err="1"/>
                  <a:t>naturally</a:t>
                </a:r>
                <a:r>
                  <a:rPr lang="de-DE" dirty="0"/>
                  <a:t> </a:t>
                </a:r>
                <a:r>
                  <a:rPr lang="de-DE" dirty="0" err="1"/>
                  <a:t>handles</a:t>
                </a:r>
                <a:r>
                  <a:rPr lang="de-DE" dirty="0"/>
                  <a:t> </a:t>
                </a:r>
                <a:r>
                  <a:rPr lang="de-DE" dirty="0" err="1"/>
                  <a:t>long-horizon</a:t>
                </a:r>
                <a:r>
                  <a:rPr lang="de-DE" dirty="0"/>
                  <a:t> </a:t>
                </a:r>
                <a:r>
                  <a:rPr lang="de-DE" dirty="0" err="1"/>
                  <a:t>dependencies</a:t>
                </a:r>
                <a:endParaRPr lang="de-DE" dirty="0"/>
              </a:p>
              <a:p>
                <a:r>
                  <a:rPr lang="de-DE" dirty="0" err="1"/>
                  <a:t>enables</a:t>
                </a:r>
                <a:r>
                  <a:rPr lang="de-DE" dirty="0"/>
                  <a:t> offline </a:t>
                </a:r>
                <a:r>
                  <a:rPr lang="de-DE" dirty="0" err="1"/>
                  <a:t>training</a:t>
                </a:r>
                <a:r>
                  <a:rPr lang="de-DE" dirty="0"/>
                  <a:t> on large </a:t>
                </a:r>
                <a:r>
                  <a:rPr lang="de-DE" dirty="0" err="1"/>
                  <a:t>trajectory</a:t>
                </a:r>
                <a:r>
                  <a:rPr lang="de-DE" dirty="0"/>
                  <a:t> </a:t>
                </a:r>
                <a:r>
                  <a:rPr lang="de-DE" dirty="0" err="1"/>
                  <a:t>datasets</a:t>
                </a:r>
                <a:endParaRPr lang="de-DE" dirty="0"/>
              </a:p>
              <a:p>
                <a:r>
                  <a:rPr lang="de-DE" dirty="0" err="1"/>
                  <a:t>foundation</a:t>
                </a:r>
                <a:r>
                  <a:rPr lang="de-DE" dirty="0"/>
                  <a:t> </a:t>
                </a:r>
                <a:r>
                  <a:rPr lang="de-DE" dirty="0" err="1"/>
                  <a:t>for</a:t>
                </a:r>
                <a:r>
                  <a:rPr lang="de-DE" dirty="0"/>
                  <a:t> </a:t>
                </a:r>
                <a:r>
                  <a:rPr lang="de-DE" dirty="0" err="1"/>
                  <a:t>generalist</a:t>
                </a:r>
                <a:r>
                  <a:rPr lang="de-DE" dirty="0"/>
                  <a:t> </a:t>
                </a:r>
                <a:r>
                  <a:rPr lang="de-DE" dirty="0" err="1"/>
                  <a:t>policies</a:t>
                </a:r>
                <a:r>
                  <a:rPr lang="de-DE" dirty="0"/>
                  <a:t> in </a:t>
                </a:r>
                <a:r>
                  <a:rPr lang="de-DE" dirty="0" err="1"/>
                  <a:t>robotics</a:t>
                </a:r>
                <a:r>
                  <a:rPr lang="de-DE" dirty="0"/>
                  <a:t> and </a:t>
                </a:r>
                <a:r>
                  <a:rPr lang="de-DE" dirty="0" err="1"/>
                  <a:t>control</a:t>
                </a:r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5E36192F-8BCF-0FAF-226A-963A74B4ED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616" b="-174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31F773B-8566-CAF5-9DFE-D45C97180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59503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D28C070E-E67E-4A4B-8912-C1DFA3E321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6434" y="4952539"/>
            <a:ext cx="4874938" cy="153229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2FA5E25-4C4E-8E4F-800E-FCEAE85C4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Decision Transformer</a:t>
            </a:r>
            <a:endParaRPr lang="en-DE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78DBBE30-BBC1-E075-F300-56679CC530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3766065"/>
            <a:ext cx="5181600" cy="105923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200" dirty="0"/>
              <a:t>Trajectory Transformer: predicting also states and returns</a:t>
            </a:r>
            <a:r>
              <a:rPr lang="en-DE" sz="2200" dirty="0"/>
              <a:t> (adding model-based components, planning with beam search)</a:t>
            </a:r>
            <a:endParaRPr lang="en-GB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E24ACB-E966-844E-A0DE-385B6E81D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C2C1F-BED8-2340-8784-C66D22CCFBBD}" type="slidenum">
              <a:rPr lang="en-DE" smtClean="0"/>
              <a:t>13</a:t>
            </a:fld>
            <a:endParaRPr lang="en-DE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D8032CD-824A-8A92-E99A-A8692702D1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2" y="3766065"/>
            <a:ext cx="5181600" cy="92165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200" dirty="0"/>
              <a:t>Decision Transformer: conditioning on desired return, past states and actions to generate future actions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E5ABCDE-9701-E866-3BCA-B436DAF6EF1F}"/>
              </a:ext>
            </a:extLst>
          </p:cNvPr>
          <p:cNvSpPr txBox="1"/>
          <p:nvPr/>
        </p:nvSpPr>
        <p:spPr>
          <a:xfrm>
            <a:off x="9982200" y="6447336"/>
            <a:ext cx="647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hlinkClick r:id="rId3"/>
              </a:rPr>
              <a:t>source</a:t>
            </a:r>
            <a:endParaRPr lang="de-DE" sz="1000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ECD6FBD2-642C-114A-7CF1-8D15CFD0AEFD}"/>
              </a:ext>
            </a:extLst>
          </p:cNvPr>
          <p:cNvSpPr txBox="1">
            <a:spLocks/>
          </p:cNvSpPr>
          <p:nvPr/>
        </p:nvSpPr>
        <p:spPr>
          <a:xfrm>
            <a:off x="838200" y="1825626"/>
            <a:ext cx="10515600" cy="177563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 dirty="0"/>
              <a:t>generative: transformer decoder architecture to autoregressively model trajectories</a:t>
            </a:r>
          </a:p>
          <a:p>
            <a:pPr marL="0" indent="0">
              <a:buNone/>
            </a:pPr>
            <a:r>
              <a:rPr lang="en-GB" sz="2400" dirty="0"/>
              <a:t>credit assignment directly via self-attention: implicitly forming state-return associations via similarity of query and key vectors (maximizing the dot product)</a:t>
            </a:r>
          </a:p>
          <a:p>
            <a:pPr marL="0" indent="0">
              <a:buNone/>
            </a:pPr>
            <a:r>
              <a:rPr lang="en-GB" sz="2400" dirty="0"/>
              <a:t>desired return tokens as prompt for action generation </a:t>
            </a:r>
            <a:r>
              <a:rPr lang="en-GB" sz="2400" dirty="0">
                <a:sym typeface="Wingdings" pitchFamily="2" charset="2"/>
              </a:rPr>
              <a:t> </a:t>
            </a:r>
            <a:r>
              <a:rPr lang="de-DE" sz="2400" dirty="0" err="1"/>
              <a:t>favor</a:t>
            </a:r>
            <a:r>
              <a:rPr lang="de-DE" sz="2400" dirty="0"/>
              <a:t> </a:t>
            </a:r>
            <a:r>
              <a:rPr lang="de-DE" sz="2400" dirty="0" err="1"/>
              <a:t>actions</a:t>
            </a:r>
            <a:r>
              <a:rPr lang="de-DE" sz="2400" dirty="0"/>
              <a:t> </a:t>
            </a:r>
            <a:r>
              <a:rPr lang="de-DE" sz="2400" dirty="0" err="1"/>
              <a:t>that</a:t>
            </a:r>
            <a:r>
              <a:rPr lang="de-DE" sz="2400" dirty="0"/>
              <a:t> </a:t>
            </a:r>
            <a:r>
              <a:rPr lang="de-DE" sz="2400" dirty="0" err="1"/>
              <a:t>appear</a:t>
            </a:r>
            <a:r>
              <a:rPr lang="de-DE" sz="2400" dirty="0"/>
              <a:t> in high-return </a:t>
            </a:r>
            <a:r>
              <a:rPr lang="de-DE" sz="2400" dirty="0" err="1"/>
              <a:t>trajectories</a:t>
            </a:r>
            <a:endParaRPr lang="en-GB" sz="2400" dirty="0"/>
          </a:p>
        </p:txBody>
      </p:sp>
      <p:pic>
        <p:nvPicPr>
          <p:cNvPr id="20" name="Picture 19" descr="Timeline&#10;&#10;Description automatically generated">
            <a:extLst>
              <a:ext uri="{FF2B5EF4-FFF2-40B4-BE49-F238E27FC236}">
                <a16:creationId xmlns:a16="http://schemas.microsoft.com/office/drawing/2014/main" id="{B96325C6-CD84-1238-3CDD-CF3980E1F8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496" y="4852526"/>
            <a:ext cx="4122684" cy="187945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5AE88BA-BE2D-FB13-D868-131A1E91AF16}"/>
              </a:ext>
            </a:extLst>
          </p:cNvPr>
          <p:cNvSpPr txBox="1"/>
          <p:nvPr/>
        </p:nvSpPr>
        <p:spPr>
          <a:xfrm>
            <a:off x="1144763" y="6342230"/>
            <a:ext cx="6528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hlinkClick r:id="rId5"/>
              </a:rPr>
              <a:t>source</a:t>
            </a:r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26936961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6BCBE01C-AE0A-9281-8B7F-E501DC33A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Diffusion </a:t>
            </a:r>
            <a:r>
              <a:rPr lang="de-DE" dirty="0" err="1"/>
              <a:t>Policies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Inhaltsplatzhalter 6">
                <a:extLst>
                  <a:ext uri="{FF2B5EF4-FFF2-40B4-BE49-F238E27FC236}">
                    <a16:creationId xmlns:a16="http://schemas.microsoft.com/office/drawing/2014/main" id="{4B298A16-4517-528C-2ADE-075F0CE60B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DE" dirty="0" err="1"/>
                  <a:t>trajectory</a:t>
                </a:r>
                <a:r>
                  <a:rPr lang="de-DE" dirty="0"/>
                  <a:t> </a:t>
                </a:r>
                <a:r>
                  <a:rPr lang="de-DE" dirty="0" err="1"/>
                  <a:t>modeling</a:t>
                </a:r>
                <a:r>
                  <a:rPr lang="de-DE" dirty="0"/>
                  <a:t>: </a:t>
                </a:r>
                <a:r>
                  <a:rPr lang="de-DE" dirty="0" err="1"/>
                  <a:t>generates</a:t>
                </a:r>
                <a:r>
                  <a:rPr lang="de-DE" dirty="0"/>
                  <a:t> </a:t>
                </a:r>
                <a:r>
                  <a:rPr lang="de-DE" dirty="0" err="1"/>
                  <a:t>actions</a:t>
                </a:r>
                <a:r>
                  <a:rPr lang="de-DE" dirty="0"/>
                  <a:t> </a:t>
                </a:r>
                <a:r>
                  <a:rPr lang="de-DE" dirty="0" err="1"/>
                  <a:t>autoregressively</a:t>
                </a:r>
                <a:r>
                  <a:rPr lang="de-DE" dirty="0"/>
                  <a:t> </a:t>
                </a:r>
                <a:r>
                  <a:rPr lang="de-DE" dirty="0" err="1"/>
                  <a:t>over</a:t>
                </a:r>
                <a:r>
                  <a:rPr lang="de-DE" dirty="0"/>
                  <a:t> time</a:t>
                </a:r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/>
                  <a:t>diffusion </a:t>
                </a:r>
                <a:r>
                  <a:rPr lang="de-DE" dirty="0" err="1"/>
                  <a:t>policies</a:t>
                </a:r>
                <a:r>
                  <a:rPr lang="de-DE" dirty="0"/>
                  <a:t>: </a:t>
                </a:r>
                <a:r>
                  <a:rPr lang="de-DE" dirty="0" err="1"/>
                  <a:t>generate</a:t>
                </a:r>
                <a:r>
                  <a:rPr lang="de-DE" dirty="0"/>
                  <a:t> </a:t>
                </a:r>
                <a:r>
                  <a:rPr lang="de-DE" dirty="0" err="1"/>
                  <a:t>each</a:t>
                </a:r>
                <a:r>
                  <a:rPr lang="de-DE" dirty="0"/>
                  <a:t> </a:t>
                </a:r>
                <a:r>
                  <a:rPr lang="de-DE" dirty="0" err="1"/>
                  <a:t>action</a:t>
                </a:r>
                <a:r>
                  <a:rPr lang="de-DE" dirty="0"/>
                  <a:t> </a:t>
                </a:r>
                <a:r>
                  <a:rPr lang="de-DE" dirty="0" err="1"/>
                  <a:t>individually</a:t>
                </a:r>
                <a:r>
                  <a:rPr lang="de-DE" dirty="0"/>
                  <a:t> </a:t>
                </a:r>
                <a:r>
                  <a:rPr lang="de-DE" dirty="0" err="1"/>
                  <a:t>from</a:t>
                </a:r>
                <a:r>
                  <a:rPr lang="de-DE" dirty="0"/>
                  <a:t> a </a:t>
                </a:r>
                <a:r>
                  <a:rPr lang="de-DE" dirty="0" err="1"/>
                  <a:t>conditional</a:t>
                </a:r>
                <a:r>
                  <a:rPr lang="de-DE" dirty="0"/>
                  <a:t> </a:t>
                </a:r>
                <a:r>
                  <a:rPr lang="de-DE" dirty="0" err="1"/>
                  <a:t>distribution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de-DE" dirty="0"/>
                  <a:t> via an iterative </a:t>
                </a:r>
                <a:r>
                  <a:rPr lang="de-DE" dirty="0" err="1"/>
                  <a:t>denoising</a:t>
                </a:r>
                <a:r>
                  <a:rPr lang="de-DE" dirty="0"/>
                  <a:t> </a:t>
                </a:r>
                <a:r>
                  <a:rPr lang="de-DE" dirty="0" err="1"/>
                  <a:t>process</a:t>
                </a: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r>
                  <a:rPr lang="de-DE" dirty="0" err="1"/>
                  <a:t>handles</a:t>
                </a:r>
                <a:r>
                  <a:rPr lang="de-DE" dirty="0"/>
                  <a:t> </a:t>
                </a:r>
                <a:r>
                  <a:rPr lang="de-DE" dirty="0" err="1"/>
                  <a:t>complex</a:t>
                </a:r>
                <a:r>
                  <a:rPr lang="de-DE" dirty="0"/>
                  <a:t>, high-dimensional multi-modal </a:t>
                </a:r>
                <a:r>
                  <a:rPr lang="de-DE" dirty="0" err="1"/>
                  <a:t>action</a:t>
                </a:r>
                <a:r>
                  <a:rPr lang="de-DE" dirty="0"/>
                  <a:t> </a:t>
                </a:r>
                <a:r>
                  <a:rPr lang="de-DE" dirty="0" err="1"/>
                  <a:t>spaces</a:t>
                </a:r>
                <a:endParaRPr lang="de-DE" dirty="0"/>
              </a:p>
              <a:p>
                <a:r>
                  <a:rPr lang="de-DE" dirty="0" err="1"/>
                  <a:t>naturally</a:t>
                </a:r>
                <a:r>
                  <a:rPr lang="de-DE" dirty="0"/>
                  <a:t> </a:t>
                </a:r>
                <a:r>
                  <a:rPr lang="de-DE" dirty="0" err="1"/>
                  <a:t>supports</a:t>
                </a:r>
                <a:r>
                  <a:rPr lang="de-DE" dirty="0"/>
                  <a:t> </a:t>
                </a:r>
                <a:r>
                  <a:rPr lang="de-DE" dirty="0" err="1"/>
                  <a:t>vision-based</a:t>
                </a:r>
                <a:r>
                  <a:rPr lang="de-DE" dirty="0"/>
                  <a:t> </a:t>
                </a:r>
                <a:r>
                  <a:rPr lang="de-DE" dirty="0" err="1"/>
                  <a:t>control</a:t>
                </a:r>
                <a:r>
                  <a:rPr lang="de-DE" dirty="0"/>
                  <a:t> </a:t>
                </a:r>
                <a:r>
                  <a:rPr lang="de-DE" dirty="0" err="1"/>
                  <a:t>policies</a:t>
                </a:r>
                <a:endParaRPr lang="de-DE" dirty="0"/>
              </a:p>
              <a:p>
                <a:r>
                  <a:rPr lang="de-DE" dirty="0"/>
                  <a:t>strong </a:t>
                </a:r>
                <a:r>
                  <a:rPr lang="de-DE" dirty="0" err="1"/>
                  <a:t>performance</a:t>
                </a:r>
                <a:r>
                  <a:rPr lang="de-DE" dirty="0"/>
                  <a:t> in </a:t>
                </a:r>
                <a:r>
                  <a:rPr lang="de-DE" dirty="0" err="1"/>
                  <a:t>imitation</a:t>
                </a:r>
                <a:r>
                  <a:rPr lang="de-DE" dirty="0"/>
                  <a:t> </a:t>
                </a:r>
                <a:r>
                  <a:rPr lang="de-DE" dirty="0" err="1"/>
                  <a:t>learning</a:t>
                </a:r>
                <a:r>
                  <a:rPr lang="de-DE" dirty="0"/>
                  <a:t> </a:t>
                </a:r>
                <a:r>
                  <a:rPr lang="de-DE" dirty="0" err="1"/>
                  <a:t>settings</a:t>
                </a:r>
                <a:endParaRPr lang="de-DE" dirty="0"/>
              </a:p>
            </p:txBody>
          </p:sp>
        </mc:Choice>
        <mc:Fallback xmlns="">
          <p:sp>
            <p:nvSpPr>
              <p:cNvPr id="7" name="Inhaltsplatzhalter 6">
                <a:extLst>
                  <a:ext uri="{FF2B5EF4-FFF2-40B4-BE49-F238E27FC236}">
                    <a16:creationId xmlns:a16="http://schemas.microsoft.com/office/drawing/2014/main" id="{4B298A16-4517-528C-2ADE-075F0CE60B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F0F6AA1-006F-2328-3554-16F6AA59F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17840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90843-D701-6431-E921-F8A8719B1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122E3411-AF34-B295-9488-0C94ED024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5900" dirty="0" err="1"/>
              <a:t>Scaling</a:t>
            </a:r>
            <a:r>
              <a:rPr lang="de-DE" sz="5900" dirty="0"/>
              <a:t> RL </a:t>
            </a:r>
            <a:r>
              <a:rPr lang="de-DE" sz="5900" dirty="0" err="1"/>
              <a:t>to</a:t>
            </a:r>
            <a:r>
              <a:rPr lang="de-DE" sz="5900" dirty="0"/>
              <a:t> Real-World Robotics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7AB8548-D70F-1CFF-F1FE-B21C7C6F4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44952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6B6C36-06F3-AC73-A6FB-6E52BC3AA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Embodied</a:t>
            </a:r>
            <a:r>
              <a:rPr lang="de-DE" dirty="0"/>
              <a:t> RL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7221939-A1BE-48B0-4D95-46E4C8412F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dirty="0" err="1"/>
              <a:t>agents</a:t>
            </a:r>
            <a:r>
              <a:rPr lang="de-DE" dirty="0"/>
              <a:t> (</a:t>
            </a:r>
            <a:r>
              <a:rPr lang="de-DE" dirty="0" err="1"/>
              <a:t>robot</a:t>
            </a:r>
            <a:r>
              <a:rPr lang="de-DE" dirty="0"/>
              <a:t>, </a:t>
            </a:r>
            <a:r>
              <a:rPr lang="de-DE" dirty="0" err="1"/>
              <a:t>avatar</a:t>
            </a:r>
            <a:r>
              <a:rPr lang="de-DE" dirty="0"/>
              <a:t>, </a:t>
            </a:r>
            <a:r>
              <a:rPr lang="de-DE" dirty="0" err="1"/>
              <a:t>simulated</a:t>
            </a:r>
            <a:r>
              <a:rPr lang="de-DE" dirty="0"/>
              <a:t> </a:t>
            </a:r>
            <a:r>
              <a:rPr lang="de-DE" dirty="0" err="1"/>
              <a:t>agent</a:t>
            </a:r>
            <a:r>
              <a:rPr lang="de-DE" dirty="0"/>
              <a:t>) </a:t>
            </a:r>
            <a:r>
              <a:rPr lang="de-DE" dirty="0" err="1"/>
              <a:t>interacting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complex</a:t>
            </a:r>
            <a:r>
              <a:rPr lang="de-DE" dirty="0"/>
              <a:t>, </a:t>
            </a:r>
            <a:r>
              <a:rPr lang="de-DE" dirty="0" err="1"/>
              <a:t>realistic</a:t>
            </a:r>
            <a:r>
              <a:rPr lang="de-DE" dirty="0"/>
              <a:t> </a:t>
            </a:r>
            <a:r>
              <a:rPr lang="de-DE" dirty="0" err="1"/>
              <a:t>environments</a:t>
            </a:r>
            <a:r>
              <a:rPr lang="de-DE" dirty="0"/>
              <a:t> (e.g., </a:t>
            </a:r>
            <a:r>
              <a:rPr lang="de-DE" dirty="0" err="1"/>
              <a:t>homes</a:t>
            </a:r>
            <a:r>
              <a:rPr lang="de-DE" dirty="0"/>
              <a:t>, </a:t>
            </a:r>
            <a:r>
              <a:rPr lang="de-DE" dirty="0" err="1"/>
              <a:t>warehouses</a:t>
            </a:r>
            <a:r>
              <a:rPr lang="de-DE" dirty="0"/>
              <a:t>, </a:t>
            </a:r>
            <a:r>
              <a:rPr lang="de-DE" dirty="0" err="1"/>
              <a:t>outdoor</a:t>
            </a:r>
            <a:r>
              <a:rPr lang="de-DE" dirty="0"/>
              <a:t> </a:t>
            </a:r>
            <a:r>
              <a:rPr lang="de-DE" dirty="0" err="1"/>
              <a:t>scenes</a:t>
            </a:r>
            <a:r>
              <a:rPr lang="de-DE" dirty="0"/>
              <a:t>)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>
                <a:sym typeface="Wingdings" pitchFamily="2" charset="2"/>
              </a:rPr>
              <a:t> </a:t>
            </a:r>
            <a:r>
              <a:rPr lang="de-DE" dirty="0" err="1"/>
              <a:t>must</a:t>
            </a:r>
            <a:r>
              <a:rPr lang="de-DE" dirty="0"/>
              <a:t> deal </a:t>
            </a:r>
            <a:r>
              <a:rPr lang="de-DE" dirty="0" err="1"/>
              <a:t>with</a:t>
            </a:r>
            <a:r>
              <a:rPr lang="de-DE" dirty="0"/>
              <a:t>:</a:t>
            </a:r>
          </a:p>
          <a:p>
            <a:r>
              <a:rPr lang="de-DE" dirty="0"/>
              <a:t>partial </a:t>
            </a:r>
            <a:r>
              <a:rPr lang="de-DE" dirty="0" err="1"/>
              <a:t>observability</a:t>
            </a:r>
            <a:endParaRPr lang="de-DE" dirty="0"/>
          </a:p>
          <a:p>
            <a:r>
              <a:rPr lang="de-DE" dirty="0" err="1"/>
              <a:t>physical</a:t>
            </a:r>
            <a:r>
              <a:rPr lang="de-DE" dirty="0"/>
              <a:t> </a:t>
            </a:r>
            <a:r>
              <a:rPr lang="de-DE" dirty="0" err="1"/>
              <a:t>constraints</a:t>
            </a:r>
            <a:endParaRPr lang="de-DE" dirty="0"/>
          </a:p>
          <a:p>
            <a:r>
              <a:rPr lang="de-DE" dirty="0" err="1"/>
              <a:t>long-horizon</a:t>
            </a:r>
            <a:r>
              <a:rPr lang="de-DE" dirty="0"/>
              <a:t> </a:t>
            </a:r>
            <a:r>
              <a:rPr lang="de-DE" dirty="0" err="1"/>
              <a:t>interactions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03C05ED-0DFD-A388-0080-8843F8799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65668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38C6F0-EEAA-7DD3-F1D2-34D4F5F17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Isaac Sim &amp; Lab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6AB4563-14C8-A40B-C7FB-7CA27C9720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dirty="0"/>
              <a:t>high-</a:t>
            </a:r>
            <a:r>
              <a:rPr lang="de-DE" dirty="0" err="1"/>
              <a:t>fidelity</a:t>
            </a:r>
            <a:r>
              <a:rPr lang="de-DE" dirty="0"/>
              <a:t> </a:t>
            </a:r>
            <a:r>
              <a:rPr lang="de-DE" dirty="0" err="1"/>
              <a:t>robotics</a:t>
            </a:r>
            <a:r>
              <a:rPr lang="de-DE" dirty="0"/>
              <a:t> </a:t>
            </a:r>
            <a:r>
              <a:rPr lang="de-DE" dirty="0" err="1"/>
              <a:t>simulation</a:t>
            </a:r>
            <a:r>
              <a:rPr lang="de-DE" dirty="0"/>
              <a:t> and </a:t>
            </a:r>
            <a:r>
              <a:rPr lang="de-DE" dirty="0" err="1"/>
              <a:t>learning</a:t>
            </a:r>
            <a:r>
              <a:rPr lang="de-DE" dirty="0"/>
              <a:t> </a:t>
            </a:r>
            <a:r>
              <a:rPr lang="de-DE" dirty="0" err="1"/>
              <a:t>platform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training</a:t>
            </a:r>
            <a:r>
              <a:rPr lang="de-DE" dirty="0"/>
              <a:t> and </a:t>
            </a:r>
            <a:r>
              <a:rPr lang="de-DE" dirty="0" err="1"/>
              <a:t>evaluating</a:t>
            </a:r>
            <a:r>
              <a:rPr lang="de-DE" dirty="0"/>
              <a:t> </a:t>
            </a:r>
            <a:r>
              <a:rPr lang="de-DE" dirty="0" err="1"/>
              <a:t>embodied</a:t>
            </a:r>
            <a:r>
              <a:rPr lang="de-DE" dirty="0"/>
              <a:t> AI </a:t>
            </a:r>
            <a:r>
              <a:rPr lang="de-DE" dirty="0" err="1"/>
              <a:t>agents</a:t>
            </a:r>
            <a:r>
              <a:rPr lang="de-DE" dirty="0"/>
              <a:t> at </a:t>
            </a:r>
            <a:r>
              <a:rPr lang="de-DE" dirty="0" err="1"/>
              <a:t>scale</a:t>
            </a:r>
            <a:endParaRPr lang="de-DE" dirty="0"/>
          </a:p>
          <a:p>
            <a:r>
              <a:rPr lang="de-DE" dirty="0"/>
              <a:t>Isaac Sim (</a:t>
            </a:r>
            <a:r>
              <a:rPr lang="de-DE" dirty="0" err="1"/>
              <a:t>simulation</a:t>
            </a:r>
            <a:r>
              <a:rPr lang="de-DE" dirty="0"/>
              <a:t> </a:t>
            </a:r>
            <a:r>
              <a:rPr lang="de-DE" dirty="0" err="1"/>
              <a:t>engine</a:t>
            </a:r>
            <a:r>
              <a:rPr lang="de-DE" dirty="0"/>
              <a:t>): </a:t>
            </a:r>
            <a:r>
              <a:rPr lang="de-DE" dirty="0" err="1"/>
              <a:t>realistic</a:t>
            </a:r>
            <a:r>
              <a:rPr lang="de-DE" dirty="0"/>
              <a:t> </a:t>
            </a:r>
            <a:r>
              <a:rPr lang="de-DE" dirty="0" err="1"/>
              <a:t>modeling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rigid </a:t>
            </a:r>
            <a:r>
              <a:rPr lang="de-DE" dirty="0" err="1"/>
              <a:t>body</a:t>
            </a:r>
            <a:r>
              <a:rPr lang="de-DE" dirty="0"/>
              <a:t> </a:t>
            </a:r>
            <a:r>
              <a:rPr lang="de-DE" dirty="0" err="1"/>
              <a:t>dynamics</a:t>
            </a:r>
            <a:r>
              <a:rPr lang="de-DE" dirty="0"/>
              <a:t>, </a:t>
            </a:r>
            <a:r>
              <a:rPr lang="de-DE" dirty="0" err="1"/>
              <a:t>contacts</a:t>
            </a:r>
            <a:r>
              <a:rPr lang="de-DE" dirty="0"/>
              <a:t> and </a:t>
            </a:r>
            <a:r>
              <a:rPr lang="de-DE" dirty="0" err="1"/>
              <a:t>collisions</a:t>
            </a:r>
            <a:r>
              <a:rPr lang="de-DE" dirty="0"/>
              <a:t>, </a:t>
            </a:r>
            <a:r>
              <a:rPr lang="de-DE" dirty="0" err="1"/>
              <a:t>sensors</a:t>
            </a:r>
            <a:r>
              <a:rPr lang="de-DE" dirty="0"/>
              <a:t> (RGB, </a:t>
            </a:r>
            <a:r>
              <a:rPr lang="de-DE" dirty="0" err="1"/>
              <a:t>depth</a:t>
            </a:r>
            <a:r>
              <a:rPr lang="de-DE" dirty="0"/>
              <a:t>, LiDAR)</a:t>
            </a:r>
          </a:p>
          <a:p>
            <a:r>
              <a:rPr lang="de-DE" dirty="0"/>
              <a:t>Isaac Lab (RL/</a:t>
            </a:r>
            <a:r>
              <a:rPr lang="de-DE" dirty="0" err="1"/>
              <a:t>learning</a:t>
            </a:r>
            <a:r>
              <a:rPr lang="de-DE" dirty="0"/>
              <a:t> </a:t>
            </a:r>
            <a:r>
              <a:rPr lang="de-DE" dirty="0" err="1"/>
              <a:t>framework</a:t>
            </a:r>
            <a:r>
              <a:rPr lang="de-DE" dirty="0"/>
              <a:t>): </a:t>
            </a:r>
            <a:r>
              <a:rPr lang="de-DE" dirty="0" err="1"/>
              <a:t>built</a:t>
            </a:r>
            <a:r>
              <a:rPr lang="de-DE" dirty="0"/>
              <a:t> on top </a:t>
            </a:r>
            <a:r>
              <a:rPr lang="de-DE" dirty="0" err="1"/>
              <a:t>of</a:t>
            </a:r>
            <a:r>
              <a:rPr lang="de-DE" dirty="0"/>
              <a:t> Isaac Sim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robot</a:t>
            </a:r>
            <a:r>
              <a:rPr lang="de-DE" dirty="0"/>
              <a:t> </a:t>
            </a:r>
            <a:r>
              <a:rPr lang="de-DE" dirty="0" err="1"/>
              <a:t>learning</a:t>
            </a:r>
            <a:r>
              <a:rPr lang="de-DE" dirty="0"/>
              <a:t> </a:t>
            </a:r>
            <a:r>
              <a:rPr lang="de-DE" dirty="0" err="1"/>
              <a:t>workflows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/>
              <a:t>enables</a:t>
            </a:r>
            <a:r>
              <a:rPr lang="de-DE" dirty="0"/>
              <a:t> massive 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generation</a:t>
            </a:r>
            <a:r>
              <a:rPr lang="de-DE" dirty="0"/>
              <a:t> in </a:t>
            </a:r>
            <a:r>
              <a:rPr lang="de-DE" dirty="0" err="1"/>
              <a:t>simulation</a:t>
            </a:r>
            <a:r>
              <a:rPr lang="de-DE" dirty="0"/>
              <a:t>, </a:t>
            </a:r>
            <a:r>
              <a:rPr lang="de-DE" dirty="0" err="1"/>
              <a:t>reducing</a:t>
            </a:r>
            <a:r>
              <a:rPr lang="de-DE" dirty="0"/>
              <a:t> </a:t>
            </a:r>
            <a:r>
              <a:rPr lang="de-DE" dirty="0" err="1"/>
              <a:t>reliance</a:t>
            </a:r>
            <a:r>
              <a:rPr lang="de-DE" dirty="0"/>
              <a:t> on expensive real-</a:t>
            </a:r>
            <a:r>
              <a:rPr lang="de-DE" dirty="0" err="1"/>
              <a:t>world</a:t>
            </a:r>
            <a:r>
              <a:rPr lang="de-DE" dirty="0"/>
              <a:t> </a:t>
            </a:r>
            <a:r>
              <a:rPr lang="de-DE" dirty="0" err="1"/>
              <a:t>robot</a:t>
            </a:r>
            <a:r>
              <a:rPr lang="de-DE" dirty="0"/>
              <a:t> </a:t>
            </a:r>
            <a:r>
              <a:rPr lang="de-DE" dirty="0" err="1"/>
              <a:t>data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AD6968C-F452-BA18-653A-B2E00C905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40157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28D84D-0315-CC40-03E4-0D67C66A8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Sim-</a:t>
            </a:r>
            <a:r>
              <a:rPr lang="de-DE" dirty="0" err="1"/>
              <a:t>to</a:t>
            </a:r>
            <a:r>
              <a:rPr lang="de-DE" dirty="0"/>
              <a:t>-Real Gap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9AFEC59-CB1E-7792-3404-78A3B93E2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32477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de-DE" dirty="0" err="1"/>
              <a:t>policies</a:t>
            </a:r>
            <a:r>
              <a:rPr lang="de-DE" dirty="0"/>
              <a:t> </a:t>
            </a:r>
            <a:r>
              <a:rPr lang="de-DE" dirty="0" err="1"/>
              <a:t>trained</a:t>
            </a:r>
            <a:r>
              <a:rPr lang="de-DE" dirty="0"/>
              <a:t> in </a:t>
            </a:r>
            <a:r>
              <a:rPr lang="de-DE" dirty="0" err="1"/>
              <a:t>simulation</a:t>
            </a:r>
            <a:r>
              <a:rPr lang="de-DE" dirty="0"/>
              <a:t> </a:t>
            </a:r>
            <a:r>
              <a:rPr lang="de-DE" dirty="0" err="1"/>
              <a:t>often</a:t>
            </a:r>
            <a:r>
              <a:rPr lang="de-DE" dirty="0"/>
              <a:t> fail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transfer</a:t>
            </a:r>
            <a:r>
              <a:rPr lang="de-DE" dirty="0"/>
              <a:t> </a:t>
            </a:r>
            <a:r>
              <a:rPr lang="de-DE" dirty="0" err="1"/>
              <a:t>directly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real </a:t>
            </a:r>
            <a:r>
              <a:rPr lang="de-DE" dirty="0" err="1"/>
              <a:t>world</a:t>
            </a:r>
            <a:r>
              <a:rPr lang="de-DE" dirty="0"/>
              <a:t> due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mismatches</a:t>
            </a:r>
            <a:r>
              <a:rPr lang="de-DE" dirty="0"/>
              <a:t> </a:t>
            </a:r>
            <a:r>
              <a:rPr lang="de-DE" dirty="0" err="1"/>
              <a:t>between</a:t>
            </a:r>
            <a:r>
              <a:rPr lang="de-DE" dirty="0"/>
              <a:t> </a:t>
            </a:r>
            <a:r>
              <a:rPr lang="de-DE" dirty="0" err="1"/>
              <a:t>simulated</a:t>
            </a:r>
            <a:r>
              <a:rPr lang="de-DE" dirty="0"/>
              <a:t> and </a:t>
            </a:r>
            <a:r>
              <a:rPr lang="de-DE" dirty="0" err="1"/>
              <a:t>physical</a:t>
            </a:r>
            <a:r>
              <a:rPr lang="de-DE" dirty="0"/>
              <a:t> </a:t>
            </a:r>
            <a:r>
              <a:rPr lang="de-DE" dirty="0" err="1"/>
              <a:t>environments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>
                <a:sym typeface="Wingdings" pitchFamily="2" charset="2"/>
              </a:rPr>
              <a:t> </a:t>
            </a:r>
            <a:r>
              <a:rPr lang="de-DE" dirty="0" err="1">
                <a:sym typeface="Wingdings" pitchFamily="2" charset="2"/>
              </a:rPr>
              <a:t>l</a:t>
            </a:r>
            <a:r>
              <a:rPr lang="de-DE" dirty="0" err="1"/>
              <a:t>imits</a:t>
            </a:r>
            <a:r>
              <a:rPr lang="de-DE" dirty="0"/>
              <a:t> </a:t>
            </a:r>
            <a:r>
              <a:rPr lang="de-DE" dirty="0" err="1"/>
              <a:t>direct</a:t>
            </a:r>
            <a:r>
              <a:rPr lang="de-DE" dirty="0"/>
              <a:t> </a:t>
            </a:r>
            <a:r>
              <a:rPr lang="de-DE" dirty="0" err="1"/>
              <a:t>deployment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RL </a:t>
            </a:r>
            <a:r>
              <a:rPr lang="de-DE" dirty="0" err="1"/>
              <a:t>policies</a:t>
            </a:r>
            <a:r>
              <a:rPr lang="de-DE" dirty="0"/>
              <a:t> </a:t>
            </a:r>
            <a:r>
              <a:rPr lang="de-DE" dirty="0" err="1"/>
              <a:t>trained</a:t>
            </a:r>
            <a:r>
              <a:rPr lang="de-DE" dirty="0"/>
              <a:t> in </a:t>
            </a:r>
            <a:r>
              <a:rPr lang="de-DE" dirty="0" err="1"/>
              <a:t>simulation</a:t>
            </a:r>
            <a:r>
              <a:rPr lang="de-DE" dirty="0"/>
              <a:t> (</a:t>
            </a:r>
            <a:r>
              <a:rPr lang="de-DE" dirty="0" err="1"/>
              <a:t>central</a:t>
            </a:r>
            <a:r>
              <a:rPr lang="de-DE" dirty="0"/>
              <a:t> </a:t>
            </a:r>
            <a:r>
              <a:rPr lang="de-DE" dirty="0" err="1"/>
              <a:t>challenge</a:t>
            </a:r>
            <a:r>
              <a:rPr lang="de-DE" dirty="0"/>
              <a:t> in </a:t>
            </a:r>
            <a:r>
              <a:rPr lang="de-DE" dirty="0" err="1"/>
              <a:t>robotics</a:t>
            </a:r>
            <a:r>
              <a:rPr lang="de-DE" dirty="0"/>
              <a:t> and </a:t>
            </a:r>
            <a:r>
              <a:rPr lang="de-DE" dirty="0" err="1"/>
              <a:t>embodied</a:t>
            </a:r>
            <a:r>
              <a:rPr lang="de-DE" dirty="0"/>
              <a:t> AI)</a:t>
            </a:r>
            <a:br>
              <a:rPr lang="de-DE" dirty="0"/>
            </a:br>
            <a:endParaRPr lang="de-DE" dirty="0"/>
          </a:p>
          <a:p>
            <a:pPr marL="0" indent="0">
              <a:buNone/>
            </a:pPr>
            <a:r>
              <a:rPr lang="de-DE" dirty="0" err="1"/>
              <a:t>common</a:t>
            </a:r>
            <a:r>
              <a:rPr lang="de-DE" dirty="0"/>
              <a:t> </a:t>
            </a:r>
            <a:r>
              <a:rPr lang="de-DE" dirty="0" err="1"/>
              <a:t>strategies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bridge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gap</a:t>
            </a:r>
            <a:r>
              <a:rPr lang="de-DE" dirty="0"/>
              <a:t>:</a:t>
            </a:r>
          </a:p>
          <a:p>
            <a:r>
              <a:rPr lang="de-DE" dirty="0" err="1"/>
              <a:t>domain</a:t>
            </a:r>
            <a:r>
              <a:rPr lang="de-DE" dirty="0"/>
              <a:t> </a:t>
            </a:r>
            <a:r>
              <a:rPr lang="de-DE" dirty="0" err="1"/>
              <a:t>randomization</a:t>
            </a:r>
            <a:r>
              <a:rPr lang="de-DE" dirty="0"/>
              <a:t>: </a:t>
            </a:r>
            <a:r>
              <a:rPr lang="de-DE" dirty="0" err="1"/>
              <a:t>vary</a:t>
            </a:r>
            <a:r>
              <a:rPr lang="de-DE" dirty="0"/>
              <a:t> </a:t>
            </a:r>
            <a:r>
              <a:rPr lang="de-DE" dirty="0" err="1"/>
              <a:t>simulation</a:t>
            </a:r>
            <a:r>
              <a:rPr lang="de-DE" dirty="0"/>
              <a:t> </a:t>
            </a:r>
            <a:r>
              <a:rPr lang="de-DE" dirty="0" err="1"/>
              <a:t>parameters</a:t>
            </a:r>
            <a:r>
              <a:rPr lang="de-DE" dirty="0"/>
              <a:t> </a:t>
            </a:r>
            <a:r>
              <a:rPr lang="de-DE" dirty="0" err="1"/>
              <a:t>during</a:t>
            </a:r>
            <a:r>
              <a:rPr lang="de-DE" dirty="0"/>
              <a:t> </a:t>
            </a:r>
            <a:r>
              <a:rPr lang="de-DE" dirty="0" err="1"/>
              <a:t>training</a:t>
            </a:r>
            <a:endParaRPr lang="de-DE" dirty="0"/>
          </a:p>
          <a:p>
            <a:r>
              <a:rPr lang="de-DE" dirty="0" err="1"/>
              <a:t>system</a:t>
            </a:r>
            <a:r>
              <a:rPr lang="de-DE" dirty="0"/>
              <a:t> </a:t>
            </a:r>
            <a:r>
              <a:rPr lang="de-DE" dirty="0" err="1"/>
              <a:t>identification</a:t>
            </a:r>
            <a:r>
              <a:rPr lang="de-DE" dirty="0"/>
              <a:t>: </a:t>
            </a:r>
            <a:r>
              <a:rPr lang="de-DE" dirty="0" err="1"/>
              <a:t>calibrate</a:t>
            </a:r>
            <a:r>
              <a:rPr lang="de-DE" dirty="0"/>
              <a:t> </a:t>
            </a:r>
            <a:r>
              <a:rPr lang="de-DE" dirty="0" err="1"/>
              <a:t>simulation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better</a:t>
            </a:r>
            <a:r>
              <a:rPr lang="de-DE" dirty="0"/>
              <a:t> match real </a:t>
            </a:r>
            <a:r>
              <a:rPr lang="de-DE" dirty="0" err="1"/>
              <a:t>dynamics</a:t>
            </a:r>
            <a:endParaRPr lang="de-DE" dirty="0"/>
          </a:p>
          <a:p>
            <a:r>
              <a:rPr lang="de-DE" dirty="0" err="1"/>
              <a:t>fine</a:t>
            </a:r>
            <a:r>
              <a:rPr lang="de-DE" dirty="0"/>
              <a:t>-tuning on real </a:t>
            </a:r>
            <a:r>
              <a:rPr lang="de-DE" dirty="0" err="1"/>
              <a:t>data</a:t>
            </a:r>
            <a:r>
              <a:rPr lang="de-DE" dirty="0"/>
              <a:t>: </a:t>
            </a:r>
            <a:r>
              <a:rPr lang="de-DE" dirty="0" err="1"/>
              <a:t>small</a:t>
            </a:r>
            <a:r>
              <a:rPr lang="de-DE" dirty="0"/>
              <a:t> </a:t>
            </a:r>
            <a:r>
              <a:rPr lang="de-DE" dirty="0" err="1"/>
              <a:t>amount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real-</a:t>
            </a:r>
            <a:r>
              <a:rPr lang="de-DE" dirty="0" err="1"/>
              <a:t>world</a:t>
            </a:r>
            <a:r>
              <a:rPr lang="de-DE" dirty="0"/>
              <a:t> </a:t>
            </a:r>
            <a:r>
              <a:rPr lang="de-DE" dirty="0" err="1"/>
              <a:t>adaptation</a:t>
            </a:r>
            <a:endParaRPr lang="de-DE" dirty="0"/>
          </a:p>
          <a:p>
            <a:r>
              <a:rPr lang="de-DE" dirty="0"/>
              <a:t>robust </a:t>
            </a:r>
            <a:r>
              <a:rPr lang="de-DE" dirty="0" err="1"/>
              <a:t>policy</a:t>
            </a:r>
            <a:r>
              <a:rPr lang="de-DE" dirty="0"/>
              <a:t> </a:t>
            </a:r>
            <a:r>
              <a:rPr lang="de-DE" dirty="0" err="1"/>
              <a:t>learning</a:t>
            </a:r>
            <a:r>
              <a:rPr lang="de-DE" dirty="0"/>
              <a:t>: </a:t>
            </a:r>
            <a:r>
              <a:rPr lang="de-DE" dirty="0" err="1"/>
              <a:t>train</a:t>
            </a:r>
            <a:r>
              <a:rPr lang="de-DE" dirty="0"/>
              <a:t> </a:t>
            </a:r>
            <a:r>
              <a:rPr lang="de-DE" dirty="0" err="1"/>
              <a:t>policies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generalize</a:t>
            </a:r>
            <a:r>
              <a:rPr lang="de-DE" dirty="0"/>
              <a:t> </a:t>
            </a:r>
            <a:r>
              <a:rPr lang="de-DE" dirty="0" err="1"/>
              <a:t>across</a:t>
            </a:r>
            <a:r>
              <a:rPr lang="de-DE" dirty="0"/>
              <a:t> </a:t>
            </a:r>
            <a:r>
              <a:rPr lang="de-DE" dirty="0" err="1"/>
              <a:t>variations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29AC89E-FE0F-BB39-BE49-90F4B5A47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30288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527B4E-318F-01F3-DA5E-D552C9431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Generalist Robot </a:t>
            </a:r>
            <a:r>
              <a:rPr lang="de-DE" dirty="0" err="1"/>
              <a:t>Policies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EDD8201-E814-754C-57A9-E0D3326CEC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de-DE" dirty="0" err="1"/>
              <a:t>idea</a:t>
            </a:r>
            <a:r>
              <a:rPr lang="de-DE" dirty="0"/>
              <a:t>: </a:t>
            </a:r>
            <a:r>
              <a:rPr lang="de-DE" dirty="0" err="1"/>
              <a:t>learn</a:t>
            </a:r>
            <a:r>
              <a:rPr lang="de-DE" dirty="0"/>
              <a:t> a </a:t>
            </a:r>
            <a:r>
              <a:rPr lang="de-DE" dirty="0" err="1"/>
              <a:t>single</a:t>
            </a:r>
            <a:r>
              <a:rPr lang="de-DE" dirty="0"/>
              <a:t> </a:t>
            </a:r>
            <a:r>
              <a:rPr lang="de-DE" dirty="0" err="1"/>
              <a:t>policy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perform </a:t>
            </a:r>
            <a:r>
              <a:rPr lang="de-DE" dirty="0" err="1"/>
              <a:t>many</a:t>
            </a:r>
            <a:r>
              <a:rPr lang="de-DE" dirty="0"/>
              <a:t> different </a:t>
            </a:r>
            <a:r>
              <a:rPr lang="de-DE" dirty="0" err="1"/>
              <a:t>robotic</a:t>
            </a:r>
            <a:r>
              <a:rPr lang="de-DE" dirty="0"/>
              <a:t> </a:t>
            </a:r>
            <a:r>
              <a:rPr lang="de-DE" dirty="0" err="1"/>
              <a:t>tasks</a:t>
            </a:r>
            <a:r>
              <a:rPr lang="de-DE" dirty="0"/>
              <a:t>, </a:t>
            </a:r>
            <a:r>
              <a:rPr lang="de-DE" dirty="0" err="1"/>
              <a:t>rather</a:t>
            </a:r>
            <a:r>
              <a:rPr lang="de-DE" dirty="0"/>
              <a:t> </a:t>
            </a:r>
            <a:r>
              <a:rPr lang="de-DE" dirty="0" err="1"/>
              <a:t>than</a:t>
            </a:r>
            <a:r>
              <a:rPr lang="de-DE" dirty="0"/>
              <a:t> </a:t>
            </a:r>
            <a:r>
              <a:rPr lang="de-DE" dirty="0" err="1"/>
              <a:t>training</a:t>
            </a:r>
            <a:r>
              <a:rPr lang="de-DE" dirty="0"/>
              <a:t> separate </a:t>
            </a:r>
            <a:r>
              <a:rPr lang="de-DE" dirty="0" err="1"/>
              <a:t>models</a:t>
            </a:r>
            <a:r>
              <a:rPr lang="de-DE" dirty="0"/>
              <a:t> per </a:t>
            </a:r>
            <a:r>
              <a:rPr lang="de-DE" dirty="0" err="1"/>
              <a:t>task</a:t>
            </a:r>
            <a:endParaRPr lang="de-DE" dirty="0"/>
          </a:p>
          <a:p>
            <a:pPr marL="0" indent="0">
              <a:buNone/>
            </a:pPr>
            <a:r>
              <a:rPr lang="de-DE" dirty="0">
                <a:sym typeface="Wingdings" pitchFamily="2" charset="2"/>
              </a:rPr>
              <a:t> </a:t>
            </a:r>
            <a:r>
              <a:rPr lang="de-DE" dirty="0" err="1">
                <a:sym typeface="Wingdings" pitchFamily="2" charset="2"/>
              </a:rPr>
              <a:t>o</a:t>
            </a:r>
            <a:r>
              <a:rPr lang="de-DE" dirty="0" err="1"/>
              <a:t>ne</a:t>
            </a:r>
            <a:r>
              <a:rPr lang="de-DE" dirty="0"/>
              <a:t> </a:t>
            </a:r>
            <a:r>
              <a:rPr lang="de-DE" dirty="0" err="1"/>
              <a:t>model</a:t>
            </a:r>
            <a:r>
              <a:rPr lang="de-DE" dirty="0"/>
              <a:t>, </a:t>
            </a:r>
            <a:r>
              <a:rPr lang="de-DE" dirty="0" err="1"/>
              <a:t>many</a:t>
            </a:r>
            <a:r>
              <a:rPr lang="de-DE" dirty="0"/>
              <a:t> </a:t>
            </a:r>
            <a:r>
              <a:rPr lang="de-DE" dirty="0" err="1"/>
              <a:t>skills</a:t>
            </a:r>
            <a:r>
              <a:rPr lang="de-DE" dirty="0"/>
              <a:t>: </a:t>
            </a:r>
            <a:r>
              <a:rPr lang="de-DE" dirty="0" err="1"/>
              <a:t>manipulation</a:t>
            </a:r>
            <a:r>
              <a:rPr lang="de-DE" dirty="0"/>
              <a:t> (pick &amp; </a:t>
            </a:r>
            <a:r>
              <a:rPr lang="de-DE" dirty="0" err="1"/>
              <a:t>place</a:t>
            </a:r>
            <a:r>
              <a:rPr lang="de-DE" dirty="0"/>
              <a:t>, </a:t>
            </a:r>
            <a:r>
              <a:rPr lang="de-DE" dirty="0" err="1"/>
              <a:t>grasping</a:t>
            </a:r>
            <a:r>
              <a:rPr lang="de-DE" dirty="0"/>
              <a:t>)m </a:t>
            </a:r>
            <a:r>
              <a:rPr lang="de-DE" dirty="0" err="1"/>
              <a:t>navigation</a:t>
            </a:r>
            <a:r>
              <a:rPr lang="de-DE" dirty="0"/>
              <a:t>, </a:t>
            </a:r>
            <a:r>
              <a:rPr lang="de-DE" dirty="0" err="1"/>
              <a:t>tool</a:t>
            </a:r>
            <a:r>
              <a:rPr lang="de-DE" dirty="0"/>
              <a:t> </a:t>
            </a:r>
            <a:r>
              <a:rPr lang="de-DE" dirty="0" err="1"/>
              <a:t>use</a:t>
            </a:r>
            <a:r>
              <a:rPr lang="de-DE" dirty="0"/>
              <a:t>, multi-</a:t>
            </a:r>
            <a:r>
              <a:rPr lang="de-DE" dirty="0" err="1"/>
              <a:t>step</a:t>
            </a:r>
            <a:r>
              <a:rPr lang="de-DE" dirty="0"/>
              <a:t> </a:t>
            </a:r>
            <a:r>
              <a:rPr lang="de-DE" dirty="0" err="1"/>
              <a:t>household</a:t>
            </a:r>
            <a:r>
              <a:rPr lang="de-DE" dirty="0"/>
              <a:t> </a:t>
            </a:r>
            <a:r>
              <a:rPr lang="de-DE" dirty="0" err="1"/>
              <a:t>tasks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dirty="0"/>
              <a:t>large-</a:t>
            </a:r>
            <a:r>
              <a:rPr lang="de-DE" dirty="0" err="1"/>
              <a:t>scale</a:t>
            </a:r>
            <a:r>
              <a:rPr lang="de-DE" dirty="0"/>
              <a:t> multi-task </a:t>
            </a:r>
            <a:r>
              <a:rPr lang="de-DE" dirty="0" err="1"/>
              <a:t>datasets</a:t>
            </a:r>
            <a:r>
              <a:rPr lang="de-DE" dirty="0"/>
              <a:t> (</a:t>
            </a:r>
            <a:r>
              <a:rPr lang="de-DE" dirty="0" err="1"/>
              <a:t>often</a:t>
            </a:r>
            <a:r>
              <a:rPr lang="de-DE" dirty="0"/>
              <a:t> </a:t>
            </a:r>
            <a:r>
              <a:rPr lang="de-DE" dirty="0" err="1"/>
              <a:t>across</a:t>
            </a:r>
            <a:r>
              <a:rPr lang="de-DE" dirty="0"/>
              <a:t> </a:t>
            </a:r>
            <a:r>
              <a:rPr lang="de-DE" dirty="0" err="1"/>
              <a:t>robots</a:t>
            </a:r>
            <a:r>
              <a:rPr lang="de-DE" dirty="0"/>
              <a:t> and </a:t>
            </a:r>
            <a:r>
              <a:rPr lang="de-DE" dirty="0" err="1"/>
              <a:t>environments</a:t>
            </a:r>
            <a:r>
              <a:rPr lang="de-DE" dirty="0"/>
              <a:t>)</a:t>
            </a:r>
          </a:p>
          <a:p>
            <a:r>
              <a:rPr lang="de-DE" dirty="0" err="1"/>
              <a:t>unified</a:t>
            </a:r>
            <a:r>
              <a:rPr lang="de-DE" dirty="0"/>
              <a:t> </a:t>
            </a:r>
            <a:r>
              <a:rPr lang="de-DE" dirty="0" err="1"/>
              <a:t>policy</a:t>
            </a:r>
            <a:r>
              <a:rPr lang="de-DE" dirty="0"/>
              <a:t> </a:t>
            </a:r>
            <a:r>
              <a:rPr lang="de-DE" dirty="0" err="1"/>
              <a:t>architectures</a:t>
            </a:r>
            <a:r>
              <a:rPr lang="de-DE" dirty="0"/>
              <a:t> (</a:t>
            </a:r>
            <a:r>
              <a:rPr lang="de-DE" dirty="0" err="1"/>
              <a:t>often</a:t>
            </a:r>
            <a:r>
              <a:rPr lang="de-DE" dirty="0"/>
              <a:t> </a:t>
            </a:r>
            <a:r>
              <a:rPr lang="de-DE" dirty="0" err="1"/>
              <a:t>transformer-based</a:t>
            </a:r>
            <a:r>
              <a:rPr lang="de-DE" dirty="0"/>
              <a:t>)</a:t>
            </a:r>
          </a:p>
          <a:p>
            <a:r>
              <a:rPr lang="de-DE" dirty="0" err="1"/>
              <a:t>conditioning</a:t>
            </a:r>
            <a:r>
              <a:rPr lang="de-DE" dirty="0"/>
              <a:t> on </a:t>
            </a:r>
            <a:r>
              <a:rPr lang="de-DE" dirty="0" err="1"/>
              <a:t>task</a:t>
            </a:r>
            <a:r>
              <a:rPr lang="de-DE" dirty="0"/>
              <a:t> </a:t>
            </a:r>
            <a:r>
              <a:rPr lang="de-DE" dirty="0" err="1"/>
              <a:t>instructions</a:t>
            </a:r>
            <a:r>
              <a:rPr lang="de-DE" dirty="0"/>
              <a:t> (e.g., </a:t>
            </a:r>
            <a:r>
              <a:rPr lang="de-DE" dirty="0" err="1"/>
              <a:t>language</a:t>
            </a:r>
            <a:r>
              <a:rPr lang="de-DE" dirty="0"/>
              <a:t>, </a:t>
            </a:r>
            <a:r>
              <a:rPr lang="de-DE" dirty="0" err="1"/>
              <a:t>goal</a:t>
            </a:r>
            <a:r>
              <a:rPr lang="de-DE" dirty="0"/>
              <a:t> </a:t>
            </a:r>
            <a:r>
              <a:rPr lang="de-DE" dirty="0" err="1"/>
              <a:t>images</a:t>
            </a:r>
            <a:r>
              <a:rPr lang="de-DE" dirty="0"/>
              <a:t>, </a:t>
            </a:r>
            <a:r>
              <a:rPr lang="de-DE" dirty="0" err="1"/>
              <a:t>demonstrations</a:t>
            </a:r>
            <a:r>
              <a:rPr lang="de-DE" dirty="0"/>
              <a:t>)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/>
              <a:t>step</a:t>
            </a:r>
            <a:r>
              <a:rPr lang="de-DE" dirty="0"/>
              <a:t> </a:t>
            </a:r>
            <a:r>
              <a:rPr lang="de-DE" dirty="0" err="1"/>
              <a:t>toward</a:t>
            </a:r>
            <a:r>
              <a:rPr lang="de-DE" dirty="0"/>
              <a:t> </a:t>
            </a:r>
            <a:r>
              <a:rPr lang="de-DE" dirty="0" err="1"/>
              <a:t>scalable</a:t>
            </a:r>
            <a:r>
              <a:rPr lang="de-DE" dirty="0"/>
              <a:t> </a:t>
            </a:r>
            <a:r>
              <a:rPr lang="de-DE" dirty="0" err="1"/>
              <a:t>robot</a:t>
            </a:r>
            <a:r>
              <a:rPr lang="de-DE" dirty="0"/>
              <a:t> </a:t>
            </a:r>
            <a:r>
              <a:rPr lang="de-DE" dirty="0" err="1"/>
              <a:t>foundation</a:t>
            </a:r>
            <a:r>
              <a:rPr lang="de-DE" dirty="0"/>
              <a:t> </a:t>
            </a:r>
            <a:r>
              <a:rPr lang="de-DE" dirty="0" err="1"/>
              <a:t>models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6BC5031-BD7E-00D2-C81A-AA5111B94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74724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A7BBA6-3E54-57FD-D5B4-A8C70F736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Vision-Language-Action (VLA) Models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6889E58-4E7D-1C17-1621-FA929ACC4D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97308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de-DE" dirty="0" err="1"/>
              <a:t>idea</a:t>
            </a:r>
            <a:r>
              <a:rPr lang="de-DE" dirty="0"/>
              <a:t>: </a:t>
            </a:r>
            <a:r>
              <a:rPr lang="de-DE" dirty="0" err="1"/>
              <a:t>learn</a:t>
            </a:r>
            <a:r>
              <a:rPr lang="de-DE" dirty="0"/>
              <a:t> </a:t>
            </a:r>
            <a:r>
              <a:rPr lang="de-DE" dirty="0" err="1"/>
              <a:t>robot</a:t>
            </a:r>
            <a:r>
              <a:rPr lang="de-DE" dirty="0"/>
              <a:t> </a:t>
            </a:r>
            <a:r>
              <a:rPr lang="de-DE" dirty="0" err="1"/>
              <a:t>policies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map</a:t>
            </a:r>
            <a:r>
              <a:rPr lang="de-DE" dirty="0"/>
              <a:t> </a:t>
            </a:r>
            <a:r>
              <a:rPr lang="de-DE" dirty="0" err="1"/>
              <a:t>visual</a:t>
            </a:r>
            <a:r>
              <a:rPr lang="de-DE" dirty="0"/>
              <a:t> and </a:t>
            </a:r>
            <a:r>
              <a:rPr lang="de-DE" dirty="0" err="1"/>
              <a:t>language</a:t>
            </a:r>
            <a:r>
              <a:rPr lang="de-DE" dirty="0"/>
              <a:t> </a:t>
            </a:r>
            <a:r>
              <a:rPr lang="de-DE" dirty="0" err="1"/>
              <a:t>inputs</a:t>
            </a:r>
            <a:r>
              <a:rPr lang="de-DE" dirty="0"/>
              <a:t> </a:t>
            </a:r>
            <a:r>
              <a:rPr lang="de-DE" dirty="0" err="1"/>
              <a:t>directly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actions</a:t>
            </a:r>
            <a:r>
              <a:rPr lang="de-DE" dirty="0"/>
              <a:t>, </a:t>
            </a:r>
            <a:r>
              <a:rPr lang="de-DE" dirty="0" err="1"/>
              <a:t>enabling</a:t>
            </a:r>
            <a:r>
              <a:rPr lang="de-DE" dirty="0"/>
              <a:t> </a:t>
            </a:r>
            <a:r>
              <a:rPr lang="de-DE" dirty="0" err="1"/>
              <a:t>instruction-following</a:t>
            </a:r>
            <a:r>
              <a:rPr lang="de-DE" dirty="0"/>
              <a:t> </a:t>
            </a:r>
            <a:r>
              <a:rPr lang="de-DE" dirty="0" err="1"/>
              <a:t>embodied</a:t>
            </a:r>
            <a:r>
              <a:rPr lang="de-DE" dirty="0"/>
              <a:t> </a:t>
            </a:r>
            <a:r>
              <a:rPr lang="de-DE" dirty="0" err="1"/>
              <a:t>behavior</a:t>
            </a:r>
            <a:endParaRPr lang="de-DE" dirty="0"/>
          </a:p>
          <a:p>
            <a:pPr marL="0" indent="0">
              <a:buNone/>
            </a:pPr>
            <a:r>
              <a:rPr lang="de-DE" dirty="0">
                <a:sym typeface="Wingdings" pitchFamily="2" charset="2"/>
              </a:rPr>
              <a:t> </a:t>
            </a:r>
            <a:r>
              <a:rPr lang="de-DE" dirty="0" err="1">
                <a:sym typeface="Wingdings" pitchFamily="2" charset="2"/>
              </a:rPr>
              <a:t>u</a:t>
            </a:r>
            <a:r>
              <a:rPr lang="de-DE" dirty="0" err="1"/>
              <a:t>nify</a:t>
            </a:r>
            <a:r>
              <a:rPr lang="de-DE" dirty="0"/>
              <a:t> </a:t>
            </a:r>
            <a:r>
              <a:rPr lang="de-DE" dirty="0" err="1"/>
              <a:t>perception</a:t>
            </a:r>
            <a:r>
              <a:rPr lang="de-DE" dirty="0"/>
              <a:t>, </a:t>
            </a:r>
            <a:r>
              <a:rPr lang="de-DE" dirty="0" err="1"/>
              <a:t>reasoning</a:t>
            </a:r>
            <a:r>
              <a:rPr lang="de-DE" dirty="0"/>
              <a:t>, and </a:t>
            </a:r>
            <a:r>
              <a:rPr lang="de-DE" dirty="0" err="1"/>
              <a:t>control</a:t>
            </a:r>
            <a:r>
              <a:rPr lang="de-DE" dirty="0"/>
              <a:t> in a </a:t>
            </a:r>
            <a:r>
              <a:rPr lang="de-DE" dirty="0" err="1"/>
              <a:t>single</a:t>
            </a:r>
            <a:r>
              <a:rPr lang="de-DE" dirty="0"/>
              <a:t> multimodal </a:t>
            </a:r>
            <a:r>
              <a:rPr lang="de-DE" dirty="0" err="1"/>
              <a:t>policy</a:t>
            </a:r>
            <a:r>
              <a:rPr lang="de-DE" dirty="0"/>
              <a:t> </a:t>
            </a:r>
            <a:r>
              <a:rPr lang="de-DE" dirty="0" err="1"/>
              <a:t>model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/>
              <a:t>model</a:t>
            </a:r>
            <a:r>
              <a:rPr lang="de-DE" dirty="0"/>
              <a:t> </a:t>
            </a:r>
            <a:r>
              <a:rPr lang="de-DE" dirty="0" err="1"/>
              <a:t>components</a:t>
            </a:r>
            <a:r>
              <a:rPr lang="de-DE" dirty="0"/>
              <a:t>:</a:t>
            </a:r>
          </a:p>
          <a:p>
            <a:r>
              <a:rPr lang="de-DE" dirty="0" err="1"/>
              <a:t>vision</a:t>
            </a:r>
            <a:r>
              <a:rPr lang="de-DE" dirty="0"/>
              <a:t> </a:t>
            </a:r>
            <a:r>
              <a:rPr lang="de-DE" dirty="0" err="1"/>
              <a:t>encoders</a:t>
            </a:r>
            <a:r>
              <a:rPr lang="de-DE" dirty="0"/>
              <a:t> (e.g., </a:t>
            </a:r>
            <a:r>
              <a:rPr lang="de-DE" dirty="0" err="1"/>
              <a:t>ResNet</a:t>
            </a:r>
            <a:r>
              <a:rPr lang="de-DE" dirty="0"/>
              <a:t>, </a:t>
            </a:r>
            <a:r>
              <a:rPr lang="de-DE" dirty="0" err="1"/>
              <a:t>ViT</a:t>
            </a:r>
            <a:r>
              <a:rPr lang="de-DE" dirty="0"/>
              <a:t>): </a:t>
            </a:r>
            <a:r>
              <a:rPr lang="de-DE" dirty="0" err="1"/>
              <a:t>extract</a:t>
            </a:r>
            <a:r>
              <a:rPr lang="de-DE" dirty="0"/>
              <a:t> </a:t>
            </a:r>
            <a:r>
              <a:rPr lang="de-DE" dirty="0" err="1"/>
              <a:t>features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images</a:t>
            </a:r>
            <a:r>
              <a:rPr lang="de-DE" dirty="0"/>
              <a:t> / </a:t>
            </a:r>
            <a:r>
              <a:rPr lang="de-DE" dirty="0" err="1"/>
              <a:t>observations</a:t>
            </a:r>
            <a:endParaRPr lang="de-DE" dirty="0"/>
          </a:p>
          <a:p>
            <a:r>
              <a:rPr lang="de-DE" dirty="0" err="1"/>
              <a:t>language</a:t>
            </a:r>
            <a:r>
              <a:rPr lang="de-DE" dirty="0"/>
              <a:t> </a:t>
            </a:r>
            <a:r>
              <a:rPr lang="de-DE" dirty="0" err="1"/>
              <a:t>models</a:t>
            </a:r>
            <a:r>
              <a:rPr lang="de-DE" dirty="0"/>
              <a:t>: </a:t>
            </a:r>
            <a:r>
              <a:rPr lang="de-DE" dirty="0" err="1"/>
              <a:t>encode</a:t>
            </a:r>
            <a:r>
              <a:rPr lang="de-DE" dirty="0"/>
              <a:t> </a:t>
            </a:r>
            <a:r>
              <a:rPr lang="de-DE" dirty="0" err="1"/>
              <a:t>task</a:t>
            </a:r>
            <a:r>
              <a:rPr lang="de-DE" dirty="0"/>
              <a:t> </a:t>
            </a:r>
            <a:r>
              <a:rPr lang="de-DE" dirty="0" err="1"/>
              <a:t>instructions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goals</a:t>
            </a:r>
            <a:r>
              <a:rPr lang="de-DE" dirty="0"/>
              <a:t> (</a:t>
            </a:r>
            <a:r>
              <a:rPr lang="de-DE" dirty="0" err="1"/>
              <a:t>natural</a:t>
            </a:r>
            <a:r>
              <a:rPr lang="de-DE" dirty="0"/>
              <a:t> </a:t>
            </a:r>
            <a:r>
              <a:rPr lang="de-DE" dirty="0" err="1"/>
              <a:t>language</a:t>
            </a:r>
            <a:r>
              <a:rPr lang="de-DE" dirty="0"/>
              <a:t> </a:t>
            </a:r>
            <a:r>
              <a:rPr lang="de-DE" dirty="0" err="1"/>
              <a:t>control</a:t>
            </a:r>
            <a:r>
              <a:rPr lang="de-DE" dirty="0"/>
              <a:t>)</a:t>
            </a:r>
          </a:p>
          <a:p>
            <a:r>
              <a:rPr lang="de-DE" dirty="0"/>
              <a:t>multimodal </a:t>
            </a:r>
            <a:r>
              <a:rPr lang="de-DE" dirty="0" err="1"/>
              <a:t>fusion</a:t>
            </a:r>
            <a:r>
              <a:rPr lang="de-DE" dirty="0"/>
              <a:t>: </a:t>
            </a:r>
            <a:r>
              <a:rPr lang="de-DE" dirty="0" err="1"/>
              <a:t>combine</a:t>
            </a:r>
            <a:r>
              <a:rPr lang="de-DE" dirty="0"/>
              <a:t> </a:t>
            </a:r>
            <a:r>
              <a:rPr lang="de-DE" dirty="0" err="1"/>
              <a:t>vision</a:t>
            </a:r>
            <a:r>
              <a:rPr lang="de-DE" dirty="0"/>
              <a:t> + </a:t>
            </a:r>
            <a:r>
              <a:rPr lang="de-DE" dirty="0" err="1"/>
              <a:t>language</a:t>
            </a:r>
            <a:r>
              <a:rPr lang="de-DE" dirty="0"/>
              <a:t> </a:t>
            </a:r>
            <a:r>
              <a:rPr lang="de-DE" dirty="0" err="1"/>
              <a:t>into</a:t>
            </a:r>
            <a:r>
              <a:rPr lang="de-DE" dirty="0"/>
              <a:t> a </a:t>
            </a:r>
            <a:r>
              <a:rPr lang="de-DE" dirty="0" err="1"/>
              <a:t>shared</a:t>
            </a:r>
            <a:r>
              <a:rPr lang="de-DE" dirty="0"/>
              <a:t> </a:t>
            </a:r>
            <a:r>
              <a:rPr lang="de-DE" dirty="0" err="1"/>
              <a:t>representation</a:t>
            </a:r>
            <a:endParaRPr lang="de-DE" dirty="0"/>
          </a:p>
          <a:p>
            <a:r>
              <a:rPr lang="de-DE" dirty="0" err="1"/>
              <a:t>action</a:t>
            </a:r>
            <a:r>
              <a:rPr lang="de-DE" dirty="0"/>
              <a:t> </a:t>
            </a:r>
            <a:r>
              <a:rPr lang="de-DE" dirty="0" err="1"/>
              <a:t>head</a:t>
            </a:r>
            <a:r>
              <a:rPr lang="de-DE" dirty="0"/>
              <a:t> / </a:t>
            </a:r>
            <a:r>
              <a:rPr lang="de-DE" dirty="0" err="1"/>
              <a:t>decoder</a:t>
            </a:r>
            <a:r>
              <a:rPr lang="de-DE" dirty="0"/>
              <a:t>: </a:t>
            </a:r>
            <a:r>
              <a:rPr lang="de-DE" dirty="0" err="1"/>
              <a:t>outputs</a:t>
            </a:r>
            <a:r>
              <a:rPr lang="de-DE" dirty="0"/>
              <a:t> </a:t>
            </a:r>
            <a:r>
              <a:rPr lang="de-DE" dirty="0" err="1"/>
              <a:t>motor</a:t>
            </a:r>
            <a:r>
              <a:rPr lang="de-DE" dirty="0"/>
              <a:t> </a:t>
            </a:r>
            <a:r>
              <a:rPr lang="de-DE" dirty="0" err="1"/>
              <a:t>commands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action</a:t>
            </a:r>
            <a:r>
              <a:rPr lang="de-DE" dirty="0"/>
              <a:t> </a:t>
            </a:r>
            <a:r>
              <a:rPr lang="de-DE" dirty="0" err="1"/>
              <a:t>tokens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/>
              <a:t>central</a:t>
            </a:r>
            <a:r>
              <a:rPr lang="de-DE" dirty="0"/>
              <a:t> </a:t>
            </a:r>
            <a:r>
              <a:rPr lang="de-DE" dirty="0" err="1"/>
              <a:t>component</a:t>
            </a:r>
            <a:r>
              <a:rPr lang="de-DE" dirty="0"/>
              <a:t> in modern </a:t>
            </a:r>
            <a:r>
              <a:rPr lang="de-DE" dirty="0" err="1"/>
              <a:t>robot</a:t>
            </a:r>
            <a:r>
              <a:rPr lang="de-DE" dirty="0"/>
              <a:t> </a:t>
            </a:r>
            <a:r>
              <a:rPr lang="de-DE" dirty="0" err="1"/>
              <a:t>foundation</a:t>
            </a:r>
            <a:r>
              <a:rPr lang="de-DE" dirty="0"/>
              <a:t> </a:t>
            </a:r>
            <a:r>
              <a:rPr lang="de-DE" dirty="0" err="1"/>
              <a:t>models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7471126-BCCE-5A0D-2C01-13F8853CD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61605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EAD5003-C83C-F391-DA8F-299D6714C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Robotic Control via LLMs (and Vision)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DBB89BD-B316-7F6E-C3EB-A486DA0B72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436" y="1495168"/>
            <a:ext cx="3977847" cy="256919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sz="2200" dirty="0">
                <a:hlinkClick r:id="rId2"/>
              </a:rPr>
              <a:t>RT-2</a:t>
            </a:r>
            <a:r>
              <a:rPr lang="en-GB" sz="2200" dirty="0"/>
              <a:t>: vision-language-action model learning from web and robotics data</a:t>
            </a:r>
          </a:p>
          <a:p>
            <a:r>
              <a:rPr lang="en-GB" sz="2200" dirty="0"/>
              <a:t>representation of actions as tokens</a:t>
            </a:r>
          </a:p>
          <a:p>
            <a:r>
              <a:rPr lang="en-GB" sz="2200" dirty="0"/>
              <a:t>generalization by using pre-trained vision-language models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B46E91-EB0C-8D2F-68A7-79B2EE41F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B675A-2084-C34A-84F6-1B6A8516A5F3}" type="slidenum">
              <a:rPr lang="en-DE" smtClean="0"/>
              <a:t>21</a:t>
            </a:fld>
            <a:endParaRPr lang="en-DE"/>
          </a:p>
        </p:txBody>
      </p:sp>
      <p:pic>
        <p:nvPicPr>
          <p:cNvPr id="10" name="Picture 9" descr="A screenshot of a computer&#10;&#10;Description automatically generated">
            <a:extLst>
              <a:ext uri="{FF2B5EF4-FFF2-40B4-BE49-F238E27FC236}">
                <a16:creationId xmlns:a16="http://schemas.microsoft.com/office/drawing/2014/main" id="{AEB8199F-BF9A-E55A-03BF-A47F7F63F4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0565" y="1336531"/>
            <a:ext cx="7247493" cy="276518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9A50B81-2B5D-03E3-7433-C18D7585B5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3633" y="4503655"/>
            <a:ext cx="3515040" cy="23091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CCE0C36-E27D-930C-6390-146F4D86F6CD}"/>
              </a:ext>
            </a:extLst>
          </p:cNvPr>
          <p:cNvSpPr txBox="1"/>
          <p:nvPr/>
        </p:nvSpPr>
        <p:spPr>
          <a:xfrm>
            <a:off x="8274265" y="4101714"/>
            <a:ext cx="230367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>
                <a:hlinkClick r:id="rId5"/>
              </a:rPr>
              <a:t>Code as Policies</a:t>
            </a:r>
            <a:r>
              <a:rPr lang="en-GB" sz="2200" dirty="0"/>
              <a:t>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8EE2EFD-7288-B837-6E23-4E364C346B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742" y="4877689"/>
            <a:ext cx="5908588" cy="198031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B939EA9-2178-5806-38E1-EEB94B72C50C}"/>
              </a:ext>
            </a:extLst>
          </p:cNvPr>
          <p:cNvSpPr txBox="1"/>
          <p:nvPr/>
        </p:nvSpPr>
        <p:spPr>
          <a:xfrm>
            <a:off x="683743" y="4409265"/>
            <a:ext cx="529103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GB" sz="2200" dirty="0"/>
              <a:t>grounding with pre-trained skills (</a:t>
            </a:r>
            <a:r>
              <a:rPr lang="en-GB" sz="2200" dirty="0" err="1">
                <a:hlinkClick r:id="rId7"/>
              </a:rPr>
              <a:t>SayCan</a:t>
            </a:r>
            <a:r>
              <a:rPr lang="en-GB" sz="2200" dirty="0"/>
              <a:t>):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C38BFAF-90C3-B9FC-FC95-A9C29CA652C2}"/>
              </a:ext>
            </a:extLst>
          </p:cNvPr>
          <p:cNvCxnSpPr>
            <a:cxnSpLocks/>
          </p:cNvCxnSpPr>
          <p:nvPr/>
        </p:nvCxnSpPr>
        <p:spPr>
          <a:xfrm>
            <a:off x="2940908" y="4769708"/>
            <a:ext cx="1293341" cy="5931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4794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1097</Words>
  <Application>Microsoft Macintosh PowerPoint</Application>
  <PresentationFormat>Breitbild</PresentationFormat>
  <Paragraphs>162</Paragraphs>
  <Slides>21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21</vt:i4>
      </vt:variant>
    </vt:vector>
  </HeadingPairs>
  <TitlesOfParts>
    <vt:vector size="27" baseType="lpstr">
      <vt:lpstr>Aptos</vt:lpstr>
      <vt:lpstr>Aptos Display</vt:lpstr>
      <vt:lpstr>Arial</vt:lpstr>
      <vt:lpstr>Cambria Math</vt:lpstr>
      <vt:lpstr>Wingdings</vt:lpstr>
      <vt:lpstr>Office Theme</vt:lpstr>
      <vt:lpstr>Advanced &amp; Emerging RL Methods</vt:lpstr>
      <vt:lpstr>Advanced &amp; Emerging RL Methods</vt:lpstr>
      <vt:lpstr>Idea of the Chapter</vt:lpstr>
      <vt:lpstr>Model-Based and Offline RL</vt:lpstr>
      <vt:lpstr>Model-Based RL</vt:lpstr>
      <vt:lpstr>Offline RL</vt:lpstr>
      <vt:lpstr>Learning from Demonstrations</vt:lpstr>
      <vt:lpstr>Behavior Cloning</vt:lpstr>
      <vt:lpstr>Imitation Learning</vt:lpstr>
      <vt:lpstr>RL from Human Feedback</vt:lpstr>
      <vt:lpstr>RL as Sequence and Generative Modeling</vt:lpstr>
      <vt:lpstr>Trajectory Modeling</vt:lpstr>
      <vt:lpstr>Decision Transformer</vt:lpstr>
      <vt:lpstr>Diffusion Policies</vt:lpstr>
      <vt:lpstr>Scaling RL to Real-World Robotics</vt:lpstr>
      <vt:lpstr>Embodied RL</vt:lpstr>
      <vt:lpstr>Isaac Sim &amp; Lab</vt:lpstr>
      <vt:lpstr>Sim-to-Real Gap</vt:lpstr>
      <vt:lpstr>Generalist Robot Policies</vt:lpstr>
      <vt:lpstr>Vision-Language-Action (VLA) Models</vt:lpstr>
      <vt:lpstr>Robotic Control via LLMs (and Vision)</vt:lpstr>
    </vt:vector>
  </TitlesOfParts>
  <Company>Panasonic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Wick, Felix</dc:creator>
  <cp:lastModifiedBy>Felix Wick</cp:lastModifiedBy>
  <cp:revision>108</cp:revision>
  <dcterms:created xsi:type="dcterms:W3CDTF">2025-01-08T09:27:30Z</dcterms:created>
  <dcterms:modified xsi:type="dcterms:W3CDTF">2026-05-19T21:53:50Z</dcterms:modified>
</cp:coreProperties>
</file>