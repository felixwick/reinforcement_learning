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869" r:id="rId2"/>
    <p:sldId id="280" r:id="rId3"/>
    <p:sldId id="866" r:id="rId4"/>
    <p:sldId id="272" r:id="rId5"/>
    <p:sldId id="867" r:id="rId6"/>
    <p:sldId id="552" r:id="rId7"/>
    <p:sldId id="268" r:id="rId8"/>
    <p:sldId id="868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340B39-2C65-BB11-A691-F8E94DF1D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BED2C16-A7AB-B308-EAFF-E9357B46A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237079-162D-54DE-2436-A207666B8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81D9-DDD4-9F4E-BC99-5D5C2937BB76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6E4C79-DDB8-CC30-BC7F-77EE45291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1ABA6A-3CDD-8AF6-E810-389A06BCD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9A7A4-BF39-524B-9242-C438E42D4F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6357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6FF1F7-EDA4-E6E6-11C8-CAD22540C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AA2B03-D426-4EAA-9BEE-DD9DE315B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9124C3-B8F6-F900-7AEC-71A5698D1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81D9-DDD4-9F4E-BC99-5D5C2937BB76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96A52B-C428-8D1F-9687-19E13885E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935C77-0DAC-D7E7-F4F3-831D0B921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9A7A4-BF39-524B-9242-C438E42D4F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0269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41F775-8EDB-5EA7-018A-30D381466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F73B7B-DB29-96A2-68DC-8A6A925AF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8E1032-90D4-4D32-BF42-CCD74B885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81D9-DDD4-9F4E-BC99-5D5C2937BB76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074B4B-FB2D-3907-DC25-524FE22D7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A0EB7A-AF20-0853-A900-AFCD9E461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9A7A4-BF39-524B-9242-C438E42D4F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5327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3A64F7-E4AA-66FB-346F-799615734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1E5A8B-B4E6-2E7B-CFF2-8CFE344F63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A72DC71-C688-700F-EE4C-95C92769B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E49A0C6-8259-E62F-31F5-ED863989C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81D9-DDD4-9F4E-BC99-5D5C2937BB76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56976F7-ECF7-0DED-59C7-9955C4F81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D29CFC6-D311-F009-21B9-98B842032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9A7A4-BF39-524B-9242-C438E42D4F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81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19EFB1-9B2C-6026-BE68-652C215F9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A58D08-94FC-E99C-D00D-FE46D0639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8FE4002-7980-2EA7-91E1-50A4BD73A4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E7D0E77-CB3F-4289-CF6F-61B1363B87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75905B4-D68A-689E-82B0-CC9F6F4F4D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80998B7-61BF-651D-1EB1-F1BC0AA67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81D9-DDD4-9F4E-BC99-5D5C2937BB76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98B8698-5159-66AF-8CCC-1A6529983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6A4E871-537E-1E6D-758E-8D8672785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9A7A4-BF39-524B-9242-C438E42D4F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2642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2794EF-BAD7-7BA9-1031-01C280486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2F5A3B8-EC8E-C626-032F-C1691D63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81D9-DDD4-9F4E-BC99-5D5C2937BB76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74F0209-B85D-7C0E-390F-B90F66E44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E2F6362-D073-C1F2-9B7B-375B28ED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9A7A4-BF39-524B-9242-C438E42D4F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4501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E697A97-53B3-9573-AA70-8AA024DD6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81D9-DDD4-9F4E-BC99-5D5C2937BB76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C6218B9-A45F-F5AD-ED00-AC78CB526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6C51FF-FD7F-4201-8740-AC4B1F69F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9A7A4-BF39-524B-9242-C438E42D4F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7320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5FB429-2EB7-97FD-7253-9814B0BE6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4C24B7-C840-E806-C00C-1D0D0E2C6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97C1BBD-F33E-8125-FFE9-CA9F86209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6C6275D-581C-1C84-9AE2-AACE8AC29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81D9-DDD4-9F4E-BC99-5D5C2937BB76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434DE53-617E-F84E-43FD-7A0991713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EFCCEA-8404-9407-BA07-6D65AAC31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9A7A4-BF39-524B-9242-C438E42D4F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7075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6E072E-A7C9-E813-8B1C-152E9FD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E121184-7BB5-61BC-6543-FF84395028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711CD8D-2575-599E-6B5E-93E636C05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82B3D18-3251-4933-C6E6-A02E351EB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81D9-DDD4-9F4E-BC99-5D5C2937BB76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BB9AEEC-6F4C-E2C2-3ED6-C0DF1EA41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3D5DFF-8592-E517-3EB2-351A7BF4A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9A7A4-BF39-524B-9242-C438E42D4F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071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F4EA4A-3249-B4A1-B7CF-9C7EC1F27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1597EF3-E0B1-6084-12CD-51CF64861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425295-B237-D999-7FC9-9F0A3BA32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81D9-DDD4-9F4E-BC99-5D5C2937BB76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AB9A74-B2BE-9686-4C19-D8A4144C6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C9C4F9-FB55-866C-C410-CDB100A15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9A7A4-BF39-524B-9242-C438E42D4F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0347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9772DA6-39A5-4429-C287-B3B36E8497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04042F8-540E-2829-4558-C69415E9E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BA47D6-242B-8B34-FFBC-17035DC6B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481D9-DDD4-9F4E-BC99-5D5C2937BB76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650A8E-C9BE-C4FA-BEBE-FEB844552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928F72-1270-1236-FE7C-FC2B4E345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9A7A4-BF39-524B-9242-C438E42D4F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646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60751D1-6337-ECB6-C210-F606C9A28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6601091-3A57-ED1B-642E-940D12DB2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677D9A-26F3-E4E0-D78A-3F75FCD0AB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481D9-DDD4-9F4E-BC99-5D5C2937BB76}" type="datetimeFigureOut">
              <a:rPr lang="de-DE" smtClean="0"/>
              <a:t>23.04.26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D885B4-63D8-2E42-350D-75FD659BA0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F6598B-28A8-E0E8-85EE-1921A26855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79A7A4-BF39-524B-9242-C438E42D4F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408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Motivation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AE0BB0-F77F-FA50-6B80-18D40A2D3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Closed</a:t>
            </a:r>
            <a:r>
              <a:rPr lang="de-DE" dirty="0"/>
              <a:t>-Loop Control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910CEA-C417-EDB3-77B8-E0AE80ED8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26512"/>
          </a:xfrm>
        </p:spPr>
        <p:txBody>
          <a:bodyPr>
            <a:normAutofit/>
          </a:bodyPr>
          <a:lstStyle/>
          <a:p>
            <a:r>
              <a:rPr lang="de-DE" dirty="0" err="1"/>
              <a:t>controller</a:t>
            </a:r>
            <a:r>
              <a:rPr lang="de-DE" dirty="0"/>
              <a:t> </a:t>
            </a:r>
            <a:r>
              <a:rPr lang="de-DE" dirty="0" err="1"/>
              <a:t>compares</a:t>
            </a:r>
            <a:r>
              <a:rPr lang="de-DE" dirty="0"/>
              <a:t> </a:t>
            </a:r>
            <a:r>
              <a:rPr lang="de-DE" dirty="0" err="1"/>
              <a:t>reference</a:t>
            </a:r>
            <a:r>
              <a:rPr lang="de-DE" dirty="0"/>
              <a:t> and </a:t>
            </a:r>
            <a:r>
              <a:rPr lang="de-DE" dirty="0" err="1"/>
              <a:t>output</a:t>
            </a:r>
            <a:endParaRPr lang="de-DE" dirty="0"/>
          </a:p>
          <a:p>
            <a:r>
              <a:rPr lang="de-DE" dirty="0" err="1"/>
              <a:t>error</a:t>
            </a:r>
            <a:r>
              <a:rPr lang="de-DE" dirty="0"/>
              <a:t> </a:t>
            </a:r>
            <a:r>
              <a:rPr lang="de-DE" dirty="0" err="1"/>
              <a:t>signal</a:t>
            </a:r>
            <a:r>
              <a:rPr lang="de-DE" dirty="0"/>
              <a:t> </a:t>
            </a:r>
            <a:r>
              <a:rPr lang="de-DE" dirty="0" err="1"/>
              <a:t>drives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action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A482764-F195-9802-B5EF-0CA33B391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03B2EE04-1262-D49F-16FA-5FFE7C7CE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295" y="3199513"/>
            <a:ext cx="9819409" cy="2820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28BC0FC-895C-4EFD-795C-80692263F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240800"/>
            <a:ext cx="3175000" cy="212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5D5A7AC4-023C-6F5F-9C9C-17702D7A0B59}"/>
              </a:ext>
            </a:extLst>
          </p:cNvPr>
          <p:cNvSpPr txBox="1"/>
          <p:nvPr/>
        </p:nvSpPr>
        <p:spPr>
          <a:xfrm>
            <a:off x="8286198" y="2361700"/>
            <a:ext cx="3823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maintains</a:t>
            </a:r>
            <a:r>
              <a:rPr lang="de-DE" dirty="0"/>
              <a:t> </a:t>
            </a:r>
            <a:r>
              <a:rPr lang="de-DE" dirty="0" err="1"/>
              <a:t>temperature</a:t>
            </a:r>
            <a:r>
              <a:rPr lang="de-DE" dirty="0"/>
              <a:t> </a:t>
            </a:r>
            <a:r>
              <a:rPr lang="de-DE" dirty="0" err="1"/>
              <a:t>near</a:t>
            </a:r>
            <a:r>
              <a:rPr lang="de-DE" dirty="0"/>
              <a:t> </a:t>
            </a:r>
            <a:r>
              <a:rPr lang="de-DE" dirty="0" err="1"/>
              <a:t>setpoint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A0F47F0-558F-B76A-2E27-44D39B0AC6D5}"/>
              </a:ext>
            </a:extLst>
          </p:cNvPr>
          <p:cNvSpPr txBox="1"/>
          <p:nvPr/>
        </p:nvSpPr>
        <p:spPr>
          <a:xfrm>
            <a:off x="8477435" y="4230979"/>
            <a:ext cx="115483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2200" dirty="0" err="1"/>
              <a:t>Process</a:t>
            </a:r>
            <a:endParaRPr lang="de-DE" sz="22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75D69DF-C4B2-3D60-8C91-63719335CE8B}"/>
              </a:ext>
            </a:extLst>
          </p:cNvPr>
          <p:cNvSpPr txBox="1"/>
          <p:nvPr/>
        </p:nvSpPr>
        <p:spPr>
          <a:xfrm>
            <a:off x="7322598" y="3095238"/>
            <a:ext cx="115483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2200" dirty="0" err="1"/>
              <a:t>Process</a:t>
            </a:r>
            <a:endParaRPr lang="de-DE" sz="22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D639BA3-71C5-E0B3-D0D0-588E9592BD96}"/>
              </a:ext>
            </a:extLst>
          </p:cNvPr>
          <p:cNvSpPr txBox="1"/>
          <p:nvPr/>
        </p:nvSpPr>
        <p:spPr>
          <a:xfrm>
            <a:off x="9982200" y="3502466"/>
            <a:ext cx="115483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2200" dirty="0" err="1"/>
              <a:t>Process</a:t>
            </a:r>
            <a:endParaRPr lang="de-DE" sz="2200" dirty="0"/>
          </a:p>
        </p:txBody>
      </p:sp>
    </p:spTree>
    <p:extLst>
      <p:ext uri="{BB962C8B-B14F-4D97-AF65-F5344CB8AC3E}">
        <p14:creationId xmlns:p14="http://schemas.microsoft.com/office/powerpoint/2010/main" val="1869757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Diagramm, Reihe, Entwurf, Zeichnung enthält.&#10;&#10;KI-generierte Inhalte können fehlerhaft sein.">
            <a:extLst>
              <a:ext uri="{FF2B5EF4-FFF2-40B4-BE49-F238E27FC236}">
                <a16:creationId xmlns:a16="http://schemas.microsoft.com/office/drawing/2014/main" id="{B12D2815-34EF-0E20-D6DD-84AEB96D9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469" y="136525"/>
            <a:ext cx="5366531" cy="6181344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B6AD0174-2CE4-9C72-C1DB-F24035C6E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Control </a:t>
            </a:r>
            <a:r>
              <a:rPr lang="de-DE" dirty="0" err="1"/>
              <a:t>Objectives</a:t>
            </a:r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3C4E320-7815-BA45-AC68-5635EA58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87269" cy="4895850"/>
          </a:xfrm>
        </p:spPr>
        <p:txBody>
          <a:bodyPr>
            <a:normAutofit fontScale="92500" lnSpcReduction="10000"/>
          </a:bodyPr>
          <a:lstStyle/>
          <a:p>
            <a:r>
              <a:rPr lang="de-DE" dirty="0" err="1"/>
              <a:t>stability</a:t>
            </a:r>
            <a:r>
              <a:rPr lang="de-DE" dirty="0">
                <a:sym typeface="Wingdings" pitchFamily="2" charset="2"/>
              </a:rPr>
              <a:t> (</a:t>
            </a:r>
            <a:r>
              <a:rPr lang="de-DE" dirty="0" err="1"/>
              <a:t>bounded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>
                <a:sym typeface="Wingdings" pitchFamily="2" charset="2"/>
              </a:rPr>
              <a:t>)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fast </a:t>
            </a:r>
            <a:r>
              <a:rPr lang="de-DE" dirty="0" err="1"/>
              <a:t>response</a:t>
            </a:r>
            <a:r>
              <a:rPr lang="de-DE" dirty="0"/>
              <a:t>: </a:t>
            </a:r>
            <a:r>
              <a:rPr lang="de-DE" dirty="0" err="1"/>
              <a:t>rise</a:t>
            </a:r>
            <a:r>
              <a:rPr lang="de-DE" dirty="0"/>
              <a:t> and </a:t>
            </a:r>
            <a:r>
              <a:rPr lang="de-DE" dirty="0" err="1"/>
              <a:t>settling</a:t>
            </a:r>
            <a:r>
              <a:rPr lang="de-DE" dirty="0"/>
              <a:t> time</a:t>
            </a:r>
          </a:p>
          <a:p>
            <a:r>
              <a:rPr lang="de-DE" dirty="0" err="1"/>
              <a:t>low</a:t>
            </a:r>
            <a:r>
              <a:rPr lang="de-DE" dirty="0"/>
              <a:t> </a:t>
            </a:r>
            <a:r>
              <a:rPr lang="de-DE" dirty="0" err="1"/>
              <a:t>overshoot</a:t>
            </a:r>
            <a:endParaRPr lang="de-DE" dirty="0"/>
          </a:p>
          <a:p>
            <a:r>
              <a:rPr lang="de-DE" dirty="0" err="1"/>
              <a:t>small</a:t>
            </a:r>
            <a:r>
              <a:rPr lang="de-DE" dirty="0"/>
              <a:t> </a:t>
            </a:r>
            <a:r>
              <a:rPr lang="de-DE" dirty="0" err="1"/>
              <a:t>steady-state</a:t>
            </a:r>
            <a:r>
              <a:rPr lang="de-DE" dirty="0"/>
              <a:t> </a:t>
            </a:r>
            <a:r>
              <a:rPr lang="de-DE" dirty="0" err="1"/>
              <a:t>error</a:t>
            </a:r>
            <a:endParaRPr lang="de-DE" dirty="0"/>
          </a:p>
          <a:p>
            <a:r>
              <a:rPr lang="de-DE" dirty="0" err="1"/>
              <a:t>robustness</a:t>
            </a:r>
            <a:r>
              <a:rPr lang="de-DE" dirty="0"/>
              <a:t> (</a:t>
            </a:r>
            <a:r>
              <a:rPr lang="de-DE" dirty="0" err="1"/>
              <a:t>insensitivity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uncertainty</a:t>
            </a:r>
            <a:r>
              <a:rPr lang="de-DE" dirty="0"/>
              <a:t> and </a:t>
            </a:r>
            <a:r>
              <a:rPr lang="de-DE" dirty="0" err="1"/>
              <a:t>disturbances</a:t>
            </a:r>
            <a:r>
              <a:rPr lang="de-DE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5877D87-0BC6-31D9-EB27-D5E483B2D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</a:t>
            </a:fld>
            <a:endParaRPr lang="en-GB"/>
          </a:p>
        </p:txBody>
      </p:sp>
      <p:pic>
        <p:nvPicPr>
          <p:cNvPr id="9" name="Picture 2" descr="Lightbox">
            <a:extLst>
              <a:ext uri="{FF2B5EF4-FFF2-40B4-BE49-F238E27FC236}">
                <a16:creationId xmlns:a16="http://schemas.microsoft.com/office/drawing/2014/main" id="{74D7C64B-CCCB-962A-03AA-1FCDC8832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03" y="2321963"/>
            <a:ext cx="3738635" cy="1951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0743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F03D0A-5C22-DF53-4CC1-C4886C94B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PID Controllers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BB54D3-00B3-CCC2-7A2D-10E53ED87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8367"/>
            <a:ext cx="7772400" cy="44632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widely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industrial</a:t>
            </a:r>
            <a:r>
              <a:rPr lang="de-DE" dirty="0"/>
              <a:t> </a:t>
            </a:r>
            <a:r>
              <a:rPr lang="de-DE" dirty="0" err="1"/>
              <a:t>controller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AE53BB8-9583-3CA6-BA40-677E542DD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</a:t>
            </a:fld>
            <a:endParaRPr lang="en-GB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4C0798CB-DBAD-4593-F490-F4A1AF6CD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068" y="2639762"/>
            <a:ext cx="9299864" cy="3307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fik 4" descr="Ein Bild, das Maschine, Metall, Autoteile, Kamera enthält.&#10;&#10;KI-generierte Inhalte können fehlerhaft sein.">
            <a:extLst>
              <a:ext uri="{FF2B5EF4-FFF2-40B4-BE49-F238E27FC236}">
                <a16:creationId xmlns:a16="http://schemas.microsoft.com/office/drawing/2014/main" id="{53A15BB0-20BA-D123-7DD6-E4E2FC7C4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873" y="683116"/>
            <a:ext cx="2660690" cy="2745884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89A0727-123B-5087-F3E0-6ECD23FAF04A}"/>
              </a:ext>
            </a:extLst>
          </p:cNvPr>
          <p:cNvSpPr txBox="1"/>
          <p:nvPr/>
        </p:nvSpPr>
        <p:spPr>
          <a:xfrm>
            <a:off x="8791304" y="178848"/>
            <a:ext cx="2622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pneumatic</a:t>
            </a:r>
            <a:r>
              <a:rPr lang="de-DE" dirty="0"/>
              <a:t> PID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98B5326-CE25-18C9-8185-DD04BF6EB8CA}"/>
              </a:ext>
            </a:extLst>
          </p:cNvPr>
          <p:cNvSpPr txBox="1"/>
          <p:nvPr/>
        </p:nvSpPr>
        <p:spPr>
          <a:xfrm>
            <a:off x="4869831" y="6198255"/>
            <a:ext cx="245233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800" dirty="0" err="1"/>
              <a:t>purely</a:t>
            </a:r>
            <a:r>
              <a:rPr lang="de-DE" sz="2800" dirty="0"/>
              <a:t> </a:t>
            </a:r>
            <a:r>
              <a:rPr lang="de-DE" sz="2800" dirty="0" err="1"/>
              <a:t>reactive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3718037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F7F74A-A7BD-EA84-615A-4CEB23527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Limits </a:t>
            </a:r>
            <a:r>
              <a:rPr lang="de-DE" dirty="0" err="1"/>
              <a:t>of</a:t>
            </a:r>
            <a:r>
              <a:rPr lang="de-DE" dirty="0"/>
              <a:t> Classic Control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324C2D-A5FE-AEF2-73A5-8CFC9C954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 err="1"/>
              <a:t>mostly</a:t>
            </a:r>
            <a:r>
              <a:rPr lang="de-DE" dirty="0"/>
              <a:t> </a:t>
            </a:r>
            <a:r>
              <a:rPr lang="de-DE" dirty="0" err="1"/>
              <a:t>reactive</a:t>
            </a:r>
            <a:r>
              <a:rPr lang="de-DE" dirty="0"/>
              <a:t>, </a:t>
            </a:r>
            <a:r>
              <a:rPr lang="de-DE" dirty="0" err="1"/>
              <a:t>tuned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simple linear </a:t>
            </a:r>
            <a:r>
              <a:rPr lang="de-DE" dirty="0" err="1"/>
              <a:t>systems</a:t>
            </a:r>
            <a:endParaRPr lang="de-DE" dirty="0"/>
          </a:p>
          <a:p>
            <a:r>
              <a:rPr lang="de-DE" dirty="0" err="1"/>
              <a:t>poor</a:t>
            </a:r>
            <a:r>
              <a:rPr lang="de-DE" dirty="0"/>
              <a:t> </a:t>
            </a:r>
            <a:r>
              <a:rPr lang="de-DE" dirty="0" err="1"/>
              <a:t>handling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constraints</a:t>
            </a:r>
            <a:r>
              <a:rPr lang="de-DE" dirty="0"/>
              <a:t> and </a:t>
            </a:r>
            <a:r>
              <a:rPr lang="de-DE" dirty="0" err="1"/>
              <a:t>delays</a:t>
            </a:r>
            <a:endParaRPr lang="de-DE" dirty="0"/>
          </a:p>
          <a:p>
            <a:r>
              <a:rPr lang="de-DE" dirty="0" err="1"/>
              <a:t>struggles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high-dimensional, </a:t>
            </a:r>
            <a:r>
              <a:rPr lang="de-DE" dirty="0" err="1"/>
              <a:t>nonlinear</a:t>
            </a:r>
            <a:r>
              <a:rPr lang="de-DE" dirty="0"/>
              <a:t>,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unstructured</a:t>
            </a:r>
            <a:r>
              <a:rPr lang="de-DE" dirty="0"/>
              <a:t> </a:t>
            </a:r>
            <a:r>
              <a:rPr lang="de-DE" dirty="0" err="1"/>
              <a:t>environments</a:t>
            </a:r>
            <a:endParaRPr lang="de-DE" dirty="0"/>
          </a:p>
          <a:p>
            <a:pPr marL="0" indent="0">
              <a:buNone/>
            </a:pPr>
            <a:endParaRPr lang="de-DE" dirty="0">
              <a:sym typeface="Wingdings" pitchFamily="2" charset="2"/>
            </a:endParaRPr>
          </a:p>
          <a:p>
            <a:pPr marL="0" indent="0">
              <a:buNone/>
            </a:pPr>
            <a:r>
              <a:rPr lang="de-DE" dirty="0" err="1">
                <a:sym typeface="Wingdings" pitchFamily="2" charset="2"/>
              </a:rPr>
              <a:t>m</a:t>
            </a:r>
            <a:r>
              <a:rPr lang="de-DE" dirty="0" err="1"/>
              <a:t>any</a:t>
            </a:r>
            <a:r>
              <a:rPr lang="de-DE" dirty="0"/>
              <a:t> modern </a:t>
            </a:r>
            <a:r>
              <a:rPr lang="de-DE" dirty="0" err="1"/>
              <a:t>applications</a:t>
            </a:r>
            <a:r>
              <a:rPr lang="de-DE" dirty="0"/>
              <a:t> (</a:t>
            </a:r>
            <a:r>
              <a:rPr lang="de-DE" dirty="0" err="1"/>
              <a:t>robotics</a:t>
            </a:r>
            <a:r>
              <a:rPr lang="de-DE" dirty="0"/>
              <a:t>, </a:t>
            </a:r>
            <a:r>
              <a:rPr lang="de-DE" dirty="0" err="1"/>
              <a:t>autonomous</a:t>
            </a:r>
            <a:r>
              <a:rPr lang="de-DE" dirty="0"/>
              <a:t> </a:t>
            </a:r>
            <a:r>
              <a:rPr lang="de-DE" dirty="0" err="1"/>
              <a:t>driving</a:t>
            </a:r>
            <a:r>
              <a:rPr lang="de-DE" dirty="0"/>
              <a:t>, </a:t>
            </a:r>
            <a:r>
              <a:rPr lang="de-DE" dirty="0" err="1"/>
              <a:t>games</a:t>
            </a:r>
            <a:r>
              <a:rPr lang="de-DE" dirty="0"/>
              <a:t>) </a:t>
            </a:r>
            <a:r>
              <a:rPr lang="de-DE" dirty="0" err="1"/>
              <a:t>involve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large </a:t>
            </a:r>
            <a:r>
              <a:rPr lang="de-DE" dirty="0" err="1"/>
              <a:t>state</a:t>
            </a:r>
            <a:r>
              <a:rPr lang="de-DE" dirty="0"/>
              <a:t>/</a:t>
            </a:r>
            <a:r>
              <a:rPr lang="de-DE" dirty="0" err="1"/>
              <a:t>action</a:t>
            </a:r>
            <a:r>
              <a:rPr lang="de-DE" dirty="0"/>
              <a:t> </a:t>
            </a:r>
            <a:r>
              <a:rPr lang="de-DE" dirty="0" err="1"/>
              <a:t>spaces</a:t>
            </a:r>
            <a:endParaRPr lang="de-DE" dirty="0"/>
          </a:p>
          <a:p>
            <a:pPr lvl="1"/>
            <a:r>
              <a:rPr lang="de-DE" dirty="0"/>
              <a:t>partial </a:t>
            </a:r>
            <a:r>
              <a:rPr lang="de-DE" dirty="0" err="1"/>
              <a:t>observability</a:t>
            </a:r>
            <a:endParaRPr lang="de-DE" dirty="0"/>
          </a:p>
          <a:p>
            <a:pPr lvl="1"/>
            <a:r>
              <a:rPr lang="de-DE" dirty="0" err="1"/>
              <a:t>complex</a:t>
            </a:r>
            <a:r>
              <a:rPr lang="de-DE" dirty="0"/>
              <a:t> </a:t>
            </a:r>
            <a:r>
              <a:rPr lang="de-DE" dirty="0" err="1"/>
              <a:t>interactions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hard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or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/>
              <a:t>impossible </a:t>
            </a:r>
            <a:r>
              <a:rPr lang="de-DE" dirty="0" err="1"/>
              <a:t>to</a:t>
            </a:r>
            <a:r>
              <a:rPr lang="de-DE" dirty="0"/>
              <a:t> design classic </a:t>
            </a:r>
            <a:r>
              <a:rPr lang="de-DE" dirty="0" err="1"/>
              <a:t>controllers</a:t>
            </a:r>
            <a:r>
              <a:rPr lang="de-DE" dirty="0"/>
              <a:t> </a:t>
            </a:r>
            <a:r>
              <a:rPr lang="de-DE" dirty="0" err="1"/>
              <a:t>manually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BBA180D-3B9F-4614-159C-70AB4AE70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1208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DB5D15-FDA1-DA64-D0FA-F309E4520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 </a:t>
            </a:r>
            <a:r>
              <a:rPr lang="de-DE" dirty="0" err="1"/>
              <a:t>Predictive</a:t>
            </a:r>
            <a:r>
              <a:rPr lang="de-DE" dirty="0"/>
              <a:t> Control (MPC)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AFF50C-1088-19D1-5ABA-8B4815143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optimal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method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apply</a:t>
            </a:r>
            <a:r>
              <a:rPr lang="de-DE" dirty="0"/>
              <a:t> a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predict</a:t>
            </a:r>
            <a:r>
              <a:rPr lang="de-DE" dirty="0"/>
              <a:t> </a:t>
            </a:r>
            <a:r>
              <a:rPr lang="de-DE" dirty="0" err="1"/>
              <a:t>future</a:t>
            </a:r>
            <a:r>
              <a:rPr lang="de-DE" dirty="0"/>
              <a:t> </a:t>
            </a:r>
            <a:r>
              <a:rPr lang="de-DE" dirty="0" err="1"/>
              <a:t>developments</a:t>
            </a:r>
            <a:r>
              <a:rPr lang="de-DE" dirty="0"/>
              <a:t> (e.g., differential </a:t>
            </a:r>
            <a:r>
              <a:rPr lang="de-DE" dirty="0" err="1"/>
              <a:t>equation</a:t>
            </a:r>
            <a:r>
              <a:rPr lang="de-DE" dirty="0"/>
              <a:t>, but </a:t>
            </a:r>
            <a:r>
              <a:rPr lang="de-DE" dirty="0" err="1"/>
              <a:t>potentially</a:t>
            </a:r>
            <a:r>
              <a:rPr lang="de-DE" dirty="0"/>
              <a:t> also </a:t>
            </a:r>
            <a:r>
              <a:rPr lang="de-DE" dirty="0" err="1"/>
              <a:t>using</a:t>
            </a:r>
            <a:r>
              <a:rPr lang="de-DE" dirty="0"/>
              <a:t> ML)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adjust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manipulated</a:t>
            </a:r>
            <a:r>
              <a:rPr lang="de-DE" dirty="0"/>
              <a:t> variable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minimize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deviation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controlled</a:t>
            </a:r>
            <a:r>
              <a:rPr lang="de-DE" dirty="0"/>
              <a:t> variable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optimization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execute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step</a:t>
            </a:r>
            <a:r>
              <a:rPr lang="de-DE" dirty="0"/>
              <a:t>,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repeat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process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E5F438-5CB6-0858-695A-E6AB766C0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6</a:t>
            </a:fld>
            <a:endParaRPr lang="en-GB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6597E99-7CDB-DB1E-48AF-FBE2CC90D117}"/>
              </a:ext>
            </a:extLst>
          </p:cNvPr>
          <p:cNvSpPr txBox="1"/>
          <p:nvPr/>
        </p:nvSpPr>
        <p:spPr>
          <a:xfrm>
            <a:off x="3774567" y="5788680"/>
            <a:ext cx="464286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2800" dirty="0" err="1"/>
              <a:t>requires</a:t>
            </a:r>
            <a:r>
              <a:rPr lang="de-DE" sz="2800" dirty="0"/>
              <a:t> </a:t>
            </a:r>
            <a:r>
              <a:rPr lang="de-DE" sz="2800" dirty="0" err="1"/>
              <a:t>model</a:t>
            </a:r>
            <a:r>
              <a:rPr lang="de-DE" sz="2800" dirty="0"/>
              <a:t> </a:t>
            </a:r>
            <a:r>
              <a:rPr lang="de-DE" sz="2800" dirty="0" err="1"/>
              <a:t>of</a:t>
            </a:r>
            <a:r>
              <a:rPr lang="de-DE" sz="2800" dirty="0"/>
              <a:t> </a:t>
            </a:r>
            <a:r>
              <a:rPr lang="de-DE" sz="2800" dirty="0" err="1"/>
              <a:t>the</a:t>
            </a:r>
            <a:r>
              <a:rPr lang="de-DE" sz="2800" dirty="0"/>
              <a:t> </a:t>
            </a:r>
            <a:r>
              <a:rPr lang="de-DE" sz="2800" dirty="0" err="1"/>
              <a:t>system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1982465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8A2272-09A0-29C7-D5BB-316D88A76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Model-Free </a:t>
            </a:r>
            <a:r>
              <a:rPr lang="de-DE" dirty="0" err="1"/>
              <a:t>vs</a:t>
            </a:r>
            <a:r>
              <a:rPr lang="de-DE" dirty="0"/>
              <a:t> Model-</a:t>
            </a:r>
            <a:r>
              <a:rPr lang="de-DE" dirty="0" err="1"/>
              <a:t>Based</a:t>
            </a:r>
            <a:r>
              <a:rPr lang="de-DE" dirty="0"/>
              <a:t> Control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2AFCA5-C3C8-DCB7-30F6-67F9812C7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model-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 (MPC): </a:t>
            </a:r>
            <a:r>
              <a:rPr lang="de-DE" dirty="0" err="1"/>
              <a:t>uses</a:t>
            </a:r>
            <a:r>
              <a:rPr lang="de-DE" dirty="0"/>
              <a:t> a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plan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optimize</a:t>
            </a:r>
            <a:r>
              <a:rPr lang="de-DE" dirty="0"/>
              <a:t> </a:t>
            </a:r>
            <a:r>
              <a:rPr lang="de-DE" dirty="0" err="1"/>
              <a:t>actions</a:t>
            </a:r>
            <a:endParaRPr lang="de-DE" dirty="0"/>
          </a:p>
          <a:p>
            <a:r>
              <a:rPr lang="de-DE" dirty="0"/>
              <a:t>model-</a:t>
            </a:r>
            <a:r>
              <a:rPr lang="de-DE" dirty="0" err="1"/>
              <a:t>free</a:t>
            </a:r>
            <a:r>
              <a:rPr lang="de-DE" dirty="0"/>
              <a:t> </a:t>
            </a:r>
            <a:r>
              <a:rPr lang="de-DE" dirty="0" err="1"/>
              <a:t>reinforcement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 (RL): </a:t>
            </a:r>
            <a:r>
              <a:rPr lang="de-DE" dirty="0" err="1"/>
              <a:t>learns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directly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interaction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 explicit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needed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trade-off:</a:t>
            </a:r>
          </a:p>
          <a:p>
            <a:r>
              <a:rPr lang="de-DE" dirty="0"/>
              <a:t>model-</a:t>
            </a:r>
            <a:r>
              <a:rPr lang="de-DE" dirty="0" err="1"/>
              <a:t>based</a:t>
            </a:r>
            <a:r>
              <a:rPr lang="de-DE" dirty="0"/>
              <a:t>: sample </a:t>
            </a:r>
            <a:r>
              <a:rPr lang="de-DE" dirty="0" err="1"/>
              <a:t>efficient</a:t>
            </a:r>
            <a:r>
              <a:rPr lang="de-DE" dirty="0"/>
              <a:t>, </a:t>
            </a:r>
            <a:r>
              <a:rPr lang="de-DE" dirty="0" err="1"/>
              <a:t>predictive</a:t>
            </a:r>
            <a:r>
              <a:rPr lang="de-DE" dirty="0"/>
              <a:t>, </a:t>
            </a:r>
            <a:r>
              <a:rPr lang="de-DE" dirty="0" err="1"/>
              <a:t>naturally</a:t>
            </a:r>
            <a:r>
              <a:rPr lang="de-DE" dirty="0"/>
              <a:t> </a:t>
            </a:r>
            <a:r>
              <a:rPr lang="de-DE" dirty="0" err="1"/>
              <a:t>handles</a:t>
            </a:r>
            <a:r>
              <a:rPr lang="de-DE" dirty="0"/>
              <a:t> </a:t>
            </a:r>
            <a:r>
              <a:rPr lang="de-DE" dirty="0" err="1"/>
              <a:t>constraints</a:t>
            </a:r>
            <a:endParaRPr lang="de-DE" dirty="0"/>
          </a:p>
          <a:p>
            <a:r>
              <a:rPr lang="de-DE" dirty="0"/>
              <a:t>model-</a:t>
            </a:r>
            <a:r>
              <a:rPr lang="de-DE" dirty="0" err="1"/>
              <a:t>free</a:t>
            </a:r>
            <a:r>
              <a:rPr lang="de-DE" dirty="0"/>
              <a:t>: flexible, </a:t>
            </a:r>
            <a:r>
              <a:rPr lang="de-DE" dirty="0" err="1"/>
              <a:t>works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unknown</a:t>
            </a:r>
            <a:r>
              <a:rPr lang="de-DE" dirty="0"/>
              <a:t> </a:t>
            </a:r>
            <a:r>
              <a:rPr lang="de-DE" dirty="0" err="1"/>
              <a:t>dynamics</a:t>
            </a:r>
            <a:r>
              <a:rPr lang="de-DE" dirty="0"/>
              <a:t>, </a:t>
            </a:r>
            <a:r>
              <a:rPr lang="de-DE" dirty="0" err="1"/>
              <a:t>maximizes</a:t>
            </a:r>
            <a:r>
              <a:rPr lang="de-DE" dirty="0"/>
              <a:t> </a:t>
            </a:r>
            <a:r>
              <a:rPr lang="de-DE" dirty="0" err="1"/>
              <a:t>long</a:t>
            </a:r>
            <a:r>
              <a:rPr lang="de-DE" dirty="0"/>
              <a:t>-term </a:t>
            </a:r>
            <a:r>
              <a:rPr lang="de-DE" dirty="0" err="1"/>
              <a:t>reward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807D302-1C4F-333A-A8C7-609A4212E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462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BDD4F3A-3E4C-26B4-00F6-415FE8B71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Use </a:t>
            </a:r>
            <a:r>
              <a:rPr lang="de-DE" dirty="0" err="1"/>
              <a:t>What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3BE372B-1868-A425-7C37-1EA565B72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 err="1"/>
              <a:t>rule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thumb</a:t>
            </a:r>
            <a:r>
              <a:rPr lang="de-DE" dirty="0"/>
              <a:t>:</a:t>
            </a:r>
          </a:p>
          <a:p>
            <a:r>
              <a:rPr lang="de-DE" dirty="0"/>
              <a:t>PID: simple </a:t>
            </a:r>
            <a:r>
              <a:rPr lang="de-DE" dirty="0" err="1"/>
              <a:t>loops</a:t>
            </a:r>
            <a:endParaRPr lang="de-DE" dirty="0"/>
          </a:p>
          <a:p>
            <a:r>
              <a:rPr lang="de-DE" dirty="0"/>
              <a:t>MPC: </a:t>
            </a:r>
            <a:r>
              <a:rPr lang="de-DE" dirty="0" err="1"/>
              <a:t>constrained</a:t>
            </a:r>
            <a:r>
              <a:rPr lang="de-DE" dirty="0"/>
              <a:t> multivariable </a:t>
            </a:r>
            <a:r>
              <a:rPr lang="de-DE" dirty="0" err="1"/>
              <a:t>control</a:t>
            </a:r>
            <a:endParaRPr lang="de-DE" dirty="0"/>
          </a:p>
          <a:p>
            <a:r>
              <a:rPr lang="de-DE" dirty="0"/>
              <a:t>RL: </a:t>
            </a:r>
            <a:r>
              <a:rPr lang="de-DE" dirty="0" err="1"/>
              <a:t>complex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good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many</a:t>
            </a:r>
            <a:r>
              <a:rPr lang="de-DE" dirty="0"/>
              <a:t> modern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combine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:</a:t>
            </a:r>
          </a:p>
          <a:p>
            <a:r>
              <a:rPr lang="de-DE" dirty="0"/>
              <a:t>PID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low</a:t>
            </a:r>
            <a:r>
              <a:rPr lang="de-DE" dirty="0"/>
              <a:t>-level </a:t>
            </a:r>
            <a:r>
              <a:rPr lang="de-DE" dirty="0" err="1"/>
              <a:t>control</a:t>
            </a:r>
            <a:endParaRPr lang="de-DE" dirty="0"/>
          </a:p>
          <a:p>
            <a:r>
              <a:rPr lang="de-DE" dirty="0"/>
              <a:t>MPC </a:t>
            </a:r>
            <a:r>
              <a:rPr lang="de-DE" dirty="0" err="1"/>
              <a:t>for</a:t>
            </a:r>
            <a:r>
              <a:rPr lang="de-DE" dirty="0"/>
              <a:t> high-level </a:t>
            </a:r>
            <a:r>
              <a:rPr lang="de-DE" dirty="0" err="1"/>
              <a:t>trajectory</a:t>
            </a:r>
            <a:r>
              <a:rPr lang="de-DE" dirty="0"/>
              <a:t> </a:t>
            </a:r>
            <a:r>
              <a:rPr lang="de-DE" dirty="0" err="1"/>
              <a:t>optimization</a:t>
            </a:r>
            <a:endParaRPr lang="de-DE" dirty="0"/>
          </a:p>
          <a:p>
            <a:r>
              <a:rPr lang="de-DE" dirty="0"/>
              <a:t>RL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strategy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policy</a:t>
            </a:r>
            <a:r>
              <a:rPr lang="de-DE" dirty="0"/>
              <a:t> </a:t>
            </a:r>
            <a:r>
              <a:rPr lang="de-DE" dirty="0" err="1"/>
              <a:t>learning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7F8ABDB-BD75-2ABA-AAB8-FAC0702D2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8</a:t>
            </a:fld>
            <a:endParaRPr lang="en-GB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46458EA-BCEA-DC98-79C7-BD46B3748332}"/>
              </a:ext>
            </a:extLst>
          </p:cNvPr>
          <p:cNvSpPr txBox="1"/>
          <p:nvPr/>
        </p:nvSpPr>
        <p:spPr>
          <a:xfrm>
            <a:off x="8128254" y="4466163"/>
            <a:ext cx="32255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autonomous</a:t>
            </a:r>
            <a:r>
              <a:rPr lang="de-DE" dirty="0"/>
              <a:t> </a:t>
            </a:r>
            <a:r>
              <a:rPr lang="de-DE" dirty="0" err="1"/>
              <a:t>driving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PID: </a:t>
            </a:r>
            <a:r>
              <a:rPr lang="de-DE" dirty="0" err="1"/>
              <a:t>steering</a:t>
            </a:r>
            <a:r>
              <a:rPr lang="de-DE" dirty="0"/>
              <a:t> </a:t>
            </a:r>
            <a:r>
              <a:rPr lang="de-DE" dirty="0" err="1"/>
              <a:t>torque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MPC: </a:t>
            </a:r>
            <a:r>
              <a:rPr lang="de-DE" dirty="0" err="1"/>
              <a:t>trajectory</a:t>
            </a:r>
            <a:r>
              <a:rPr lang="de-DE" dirty="0"/>
              <a:t> </a:t>
            </a:r>
            <a:r>
              <a:rPr lang="de-DE" dirty="0" err="1"/>
              <a:t>tracking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RL: </a:t>
            </a:r>
            <a:r>
              <a:rPr lang="de-DE" dirty="0" err="1"/>
              <a:t>driving</a:t>
            </a:r>
            <a:r>
              <a:rPr lang="de-DE" dirty="0"/>
              <a:t> </a:t>
            </a:r>
            <a:r>
              <a:rPr lang="de-DE" dirty="0" err="1"/>
              <a:t>behavior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6992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Microsoft Macintosh PowerPoint</Application>
  <PresentationFormat>Breitbild</PresentationFormat>
  <Paragraphs>69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</vt:lpstr>
      <vt:lpstr>Motivation</vt:lpstr>
      <vt:lpstr>Closed-Loop Control</vt:lpstr>
      <vt:lpstr>Control Objectives</vt:lpstr>
      <vt:lpstr>PID Controllers</vt:lpstr>
      <vt:lpstr>Limits of Classic Control</vt:lpstr>
      <vt:lpstr>Model Predictive Control (MPC)</vt:lpstr>
      <vt:lpstr>Model-Free vs Model-Based Control</vt:lpstr>
      <vt:lpstr>When to Use What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Wick</dc:creator>
  <cp:lastModifiedBy>Felix Wick</cp:lastModifiedBy>
  <cp:revision>1</cp:revision>
  <dcterms:created xsi:type="dcterms:W3CDTF">2026-04-22T22:04:30Z</dcterms:created>
  <dcterms:modified xsi:type="dcterms:W3CDTF">2026-04-22T22:06:24Z</dcterms:modified>
</cp:coreProperties>
</file>