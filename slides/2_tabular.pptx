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6" r:id="rId4"/>
    <p:sldId id="550" r:id="rId5"/>
    <p:sldId id="551" r:id="rId6"/>
    <p:sldId id="552" r:id="rId7"/>
    <p:sldId id="553" r:id="rId8"/>
    <p:sldId id="555" r:id="rId9"/>
    <p:sldId id="566" r:id="rId10"/>
    <p:sldId id="554" r:id="rId11"/>
    <p:sldId id="556" r:id="rId12"/>
    <p:sldId id="557" r:id="rId13"/>
    <p:sldId id="558" r:id="rId14"/>
    <p:sldId id="5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02/03/2026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02/03/2026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Tabular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Foundations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Tabular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Q-Learning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26819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Policy Gradient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925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Tabular</a:t>
            </a:r>
            <a:r>
              <a:rPr lang="de-DE" dirty="0"/>
              <a:t> 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State-</a:t>
            </a:r>
            <a:r>
              <a:rPr lang="de-DE" dirty="0" err="1"/>
              <a:t>value</a:t>
            </a:r>
            <a:r>
              <a:rPr lang="de-DE" dirty="0"/>
              <a:t> &amp; action-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  <a:p>
            <a:r>
              <a:rPr lang="de-DE" dirty="0" err="1"/>
              <a:t>Bellman</a:t>
            </a:r>
            <a:r>
              <a:rPr lang="de-DE" dirty="0"/>
              <a:t> </a:t>
            </a:r>
            <a:r>
              <a:rPr lang="de-DE" dirty="0" err="1"/>
              <a:t>equations</a:t>
            </a:r>
            <a:endParaRPr lang="de-DE" dirty="0"/>
          </a:p>
          <a:p>
            <a:r>
              <a:rPr lang="de-DE" dirty="0"/>
              <a:t>Policy </a:t>
            </a:r>
            <a:r>
              <a:rPr lang="de-DE" dirty="0" err="1"/>
              <a:t>evaluation</a:t>
            </a:r>
            <a:r>
              <a:rPr lang="de-DE" dirty="0"/>
              <a:t> and </a:t>
            </a:r>
            <a:r>
              <a:rPr lang="de-DE" dirty="0" err="1"/>
              <a:t>improvement</a:t>
            </a:r>
            <a:r>
              <a:rPr lang="de-DE" dirty="0"/>
              <a:t>, Value </a:t>
            </a:r>
            <a:r>
              <a:rPr lang="de-DE" dirty="0" err="1"/>
              <a:t>iteration</a:t>
            </a:r>
            <a:r>
              <a:rPr lang="de-DE" dirty="0"/>
              <a:t>,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iteration</a:t>
            </a:r>
            <a:endParaRPr lang="de-DE" dirty="0"/>
          </a:p>
          <a:p>
            <a:r>
              <a:rPr lang="de-DE" dirty="0"/>
              <a:t>Dynamic </a:t>
            </a:r>
            <a:r>
              <a:rPr lang="de-DE" dirty="0" err="1"/>
              <a:t>programming</a:t>
            </a:r>
            <a:endParaRPr lang="de-DE" dirty="0"/>
          </a:p>
          <a:p>
            <a:r>
              <a:rPr lang="de-DE" dirty="0"/>
              <a:t>Monte Carlo </a:t>
            </a:r>
            <a:r>
              <a:rPr lang="de-DE" dirty="0" err="1"/>
              <a:t>methods</a:t>
            </a:r>
            <a:endParaRPr lang="de-DE" dirty="0"/>
          </a:p>
          <a:p>
            <a:r>
              <a:rPr lang="de-DE" dirty="0"/>
              <a:t>Temporal-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(TD(0), TD(</a:t>
            </a:r>
            <a:r>
              <a:rPr lang="el-GR" dirty="0"/>
              <a:t>λ))</a:t>
            </a:r>
          </a:p>
          <a:p>
            <a:r>
              <a:rPr lang="de-DE" dirty="0"/>
              <a:t>SARSA and Q-Learning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AE8-3C42-F619-8039-60559CDB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State and Action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05EE-A018-B8E8-4DF6-58F3862AE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state/action value: total amount of expected future reward starting from given state/action (usually with discounting of later steps)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indicating l</a:t>
            </a:r>
            <a:r>
              <a:rPr lang="en-DE" dirty="0"/>
              <a:t>ong-term desirability of states/actions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main motivation: improve </a:t>
            </a:r>
            <a:r>
              <a:rPr lang="en-DE" dirty="0"/>
              <a:t>efficiency of search in policy space</a:t>
            </a:r>
          </a:p>
          <a:p>
            <a:pPr marL="0" indent="0">
              <a:buNone/>
            </a:pPr>
            <a:r>
              <a:rPr lang="en-DE" dirty="0"/>
              <a:t>(</a:t>
            </a:r>
            <a:r>
              <a:rPr lang="en-GB" dirty="0"/>
              <a:t>for comparison: </a:t>
            </a:r>
            <a:r>
              <a:rPr lang="en-DE" dirty="0"/>
              <a:t>evolutionary methods search directly by evaluating entire policies)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1062-4387-7EA8-856B-6396288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6486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2E7C-9701-D067-1265-0D20B8DC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State-Value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B1BDD-B851-5E2C-CF80-8DACCA77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5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A3A0F-766F-2A79-DF4F-182A1C27DFBE}"/>
              </a:ext>
            </a:extLst>
          </p:cNvPr>
          <p:cNvSpPr txBox="1"/>
          <p:nvPr/>
        </p:nvSpPr>
        <p:spPr>
          <a:xfrm>
            <a:off x="4616664" y="1454224"/>
            <a:ext cx="9055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200" dirty="0"/>
              <a:t>return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76EB1-E98E-D814-8DAE-F1B1E4629A94}"/>
              </a:ext>
            </a:extLst>
          </p:cNvPr>
          <p:cNvSpPr txBox="1"/>
          <p:nvPr/>
        </p:nvSpPr>
        <p:spPr>
          <a:xfrm>
            <a:off x="8468235" y="1475244"/>
            <a:ext cx="16798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d</a:t>
            </a:r>
            <a:r>
              <a:rPr lang="en-DE" sz="2200" dirty="0"/>
              <a:t>iscount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4BCE3-0435-7B93-69AA-E2F22458853D}"/>
              </a:ext>
            </a:extLst>
          </p:cNvPr>
          <p:cNvSpPr txBox="1"/>
          <p:nvPr/>
        </p:nvSpPr>
        <p:spPr>
          <a:xfrm>
            <a:off x="8468234" y="4906378"/>
            <a:ext cx="28855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200" dirty="0"/>
              <a:t>Bellman (expectation) equation: recursion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D9E7E4-E111-5331-39DB-7541E009D843}"/>
              </a:ext>
            </a:extLst>
          </p:cNvPr>
          <p:cNvSpPr txBox="1"/>
          <p:nvPr/>
        </p:nvSpPr>
        <p:spPr>
          <a:xfrm>
            <a:off x="571308" y="4877089"/>
            <a:ext cx="3138844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p</a:t>
            </a:r>
            <a:r>
              <a:rPr lang="en-DE" sz="2200" dirty="0"/>
              <a:t>olicy: probabilitiy to take specific action being in a given state</a:t>
            </a:r>
            <a:endParaRPr lang="en-DE" sz="2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9A62D7-75B9-BE74-76EF-64C53C559BFB}"/>
                  </a:ext>
                </a:extLst>
              </p:cNvPr>
              <p:cNvSpPr txBox="1"/>
              <p:nvPr/>
            </p:nvSpPr>
            <p:spPr>
              <a:xfrm>
                <a:off x="4117036" y="4877089"/>
                <a:ext cx="4196646" cy="11543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t</a:t>
                </a:r>
                <a:r>
                  <a:rPr lang="en-DE" sz="2200" dirty="0"/>
                  <a:t>ransition probability (depending on environment) 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DE" sz="2200" dirty="0"/>
                  <a:t> to state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200" dirty="0"/>
                  <a:t>for a given action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9A62D7-75B9-BE74-76EF-64C53C559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36" y="4877089"/>
                <a:ext cx="4196646" cy="1154355"/>
              </a:xfrm>
              <a:prstGeom prst="rect">
                <a:avLst/>
              </a:prstGeom>
              <a:blipFill>
                <a:blip r:embed="rId2"/>
                <a:stretch>
                  <a:fillRect l="-1502" t="-2151" r="-601" b="-860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26A8EE-7175-F901-57A1-E7EBCCAAE429}"/>
                  </a:ext>
                </a:extLst>
              </p:cNvPr>
              <p:cNvSpPr txBox="1"/>
              <p:nvPr/>
            </p:nvSpPr>
            <p:spPr>
              <a:xfrm>
                <a:off x="1634063" y="2133759"/>
                <a:ext cx="9016123" cy="2331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26A8EE-7175-F901-57A1-E7EBCCAAE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3" y="2133759"/>
                <a:ext cx="9016123" cy="2331920"/>
              </a:xfrm>
              <a:prstGeom prst="rect">
                <a:avLst/>
              </a:prstGeom>
              <a:blipFill>
                <a:blip r:embed="rId3"/>
                <a:stretch>
                  <a:fillRect l="-9986" t="-60870" b="-858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>
            <a:extLst>
              <a:ext uri="{FF2B5EF4-FFF2-40B4-BE49-F238E27FC236}">
                <a16:creationId xmlns:a16="http://schemas.microsoft.com/office/drawing/2014/main" id="{277115C8-7CDA-F941-965F-CE13CAC5ECDF}"/>
              </a:ext>
            </a:extLst>
          </p:cNvPr>
          <p:cNvSpPr/>
          <p:nvPr/>
        </p:nvSpPr>
        <p:spPr>
          <a:xfrm rot="5400000">
            <a:off x="4890890" y="749972"/>
            <a:ext cx="320518" cy="2489095"/>
          </a:xfrm>
          <a:prstGeom prst="leftBrace">
            <a:avLst>
              <a:gd name="adj1" fmla="val 8333"/>
              <a:gd name="adj2" fmla="val 491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82F94A-C2EB-AFB0-C700-67868031BDBE}"/>
              </a:ext>
            </a:extLst>
          </p:cNvPr>
          <p:cNvCxnSpPr/>
          <p:nvPr/>
        </p:nvCxnSpPr>
        <p:spPr>
          <a:xfrm flipH="1">
            <a:off x="8610600" y="1885111"/>
            <a:ext cx="829678" cy="700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F27745-54C9-FD6B-9DD3-B4F1128351D0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9301655" y="4272456"/>
            <a:ext cx="609362" cy="63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FC785C-433A-C24F-4F57-2347239C1CB0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140730" y="3993931"/>
            <a:ext cx="581449" cy="88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3F895B-1239-0440-2FAE-74FD00099180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297214" y="3993931"/>
            <a:ext cx="918145" cy="88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A28ACD-56E5-3C56-68CC-AEB9A6A1E18C}"/>
              </a:ext>
            </a:extLst>
          </p:cNvPr>
          <p:cNvSpPr txBox="1"/>
          <p:nvPr/>
        </p:nvSpPr>
        <p:spPr>
          <a:xfrm>
            <a:off x="4117036" y="6123543"/>
            <a:ext cx="39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(s</a:t>
            </a:r>
            <a:r>
              <a:rPr lang="en-DE" dirty="0"/>
              <a:t>weep through entire state space)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B3A5C-3343-E2FA-59CA-78F1332A61AB}"/>
              </a:ext>
            </a:extLst>
          </p:cNvPr>
          <p:cNvSpPr txBox="1"/>
          <p:nvPr/>
        </p:nvSpPr>
        <p:spPr>
          <a:xfrm>
            <a:off x="84103" y="1764427"/>
            <a:ext cx="222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(n</a:t>
            </a:r>
            <a:r>
              <a:rPr lang="en-DE" dirty="0"/>
              <a:t>eeded for all states)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E2CBBA-87B7-4BA4-3F0B-61B11CA2A450}"/>
              </a:ext>
            </a:extLst>
          </p:cNvPr>
          <p:cNvCxnSpPr>
            <a:stCxn id="6" idx="2"/>
          </p:cNvCxnSpPr>
          <p:nvPr/>
        </p:nvCxnSpPr>
        <p:spPr>
          <a:xfrm>
            <a:off x="1198928" y="2133759"/>
            <a:ext cx="671913" cy="45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16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5B4C-755B-6562-2C17-4B127886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Action-Value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1539F-29FB-43F2-21A3-8F8ECE02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6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C8FF3-2CBB-9455-1D0C-9969F1720B57}"/>
                  </a:ext>
                </a:extLst>
              </p:cNvPr>
              <p:cNvSpPr txBox="1"/>
              <p:nvPr/>
            </p:nvSpPr>
            <p:spPr>
              <a:xfrm>
                <a:off x="608408" y="1690688"/>
                <a:ext cx="10975184" cy="2331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Sup>
                                    <m:sSub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C8FF3-2CBB-9455-1D0C-9969F1720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08" y="1690688"/>
                <a:ext cx="10975184" cy="2331920"/>
              </a:xfrm>
              <a:prstGeom prst="rect">
                <a:avLst/>
              </a:prstGeom>
              <a:blipFill>
                <a:blip r:embed="rId2"/>
                <a:stretch>
                  <a:fillRect l="-4624" t="-59459" b="-8540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045F20B5-12AE-6EE6-DF84-AFAD154DB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746" y="4389125"/>
            <a:ext cx="2539798" cy="2172817"/>
          </a:xfrm>
          <a:prstGeom prst="rect">
            <a:avLst/>
          </a:prstGeom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6A0B13AD-D421-0993-0333-685A62B32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457" y="4389125"/>
            <a:ext cx="1954924" cy="21037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6F47D0-EDF0-5E4A-C966-7D782C37FA85}"/>
              </a:ext>
            </a:extLst>
          </p:cNvPr>
          <p:cNvSpPr txBox="1"/>
          <p:nvPr/>
        </p:nvSpPr>
        <p:spPr>
          <a:xfrm>
            <a:off x="5688676" y="6598364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</p:spTree>
    <p:extLst>
      <p:ext uri="{BB962C8B-B14F-4D97-AF65-F5344CB8AC3E}">
        <p14:creationId xmlns:p14="http://schemas.microsoft.com/office/powerpoint/2010/main" val="192600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3841-858C-1656-7BBA-5E7B1428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Bellman Optimality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4BBFB-FCE9-647A-1FC7-6569EA07E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o</a:t>
            </a:r>
            <a:r>
              <a:rPr lang="en-DE" dirty="0"/>
              <a:t>ptimal solutions to Bellman equations (directly defining optimal policy):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</a:t>
            </a:r>
            <a:r>
              <a:rPr lang="en-DE" dirty="0"/>
              <a:t>arely possible to find in practice (due to missing model of environment, invalid Markov property, limited computational resources)</a:t>
            </a:r>
          </a:p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a</a:t>
            </a:r>
            <a:r>
              <a:rPr lang="en-DE" dirty="0">
                <a:sym typeface="Wingdings" pitchFamily="2" charset="2"/>
              </a:rPr>
              <a:t>pproximate solutions</a:t>
            </a:r>
            <a:endParaRPr lang="en-DE" dirty="0"/>
          </a:p>
          <a:p>
            <a:pPr marL="0" indent="0">
              <a:buNone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A1506-9359-859D-6D7F-D961EEBB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7</a:t>
            </a:fld>
            <a:endParaRPr lang="en-DE"/>
          </a:p>
        </p:txBody>
      </p:sp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1CDE49D9-990A-A2CE-6559-38EB96C89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2273"/>
            <a:ext cx="6855372" cy="2317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15DD57-4FEE-7EED-AE35-0A13108D825C}"/>
              </a:ext>
            </a:extLst>
          </p:cNvPr>
          <p:cNvSpPr txBox="1"/>
          <p:nvPr/>
        </p:nvSpPr>
        <p:spPr>
          <a:xfrm>
            <a:off x="4265886" y="4338254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</p:spTree>
    <p:extLst>
      <p:ext uri="{BB962C8B-B14F-4D97-AF65-F5344CB8AC3E}">
        <p14:creationId xmlns:p14="http://schemas.microsoft.com/office/powerpoint/2010/main" val="309133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E39AEB-D19C-B426-0AF9-8DBFA0C6B033}"/>
              </a:ext>
            </a:extLst>
          </p:cNvPr>
          <p:cNvSpPr/>
          <p:nvPr/>
        </p:nvSpPr>
        <p:spPr>
          <a:xfrm>
            <a:off x="8936418" y="1224062"/>
            <a:ext cx="2819033" cy="3954110"/>
          </a:xfrm>
          <a:prstGeom prst="roundRect">
            <a:avLst/>
          </a:prstGeom>
          <a:solidFill>
            <a:schemeClr val="bg2">
              <a:alpha val="9668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A429D-3990-790C-A287-D0A9B877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Dynamic Programming (DP)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8253C-38C8-D945-44C2-0A3E4C5BA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191704" cy="45611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0" dirty="0"/>
              <a:t>iterative approaches to </a:t>
            </a:r>
            <a:r>
              <a:rPr lang="en-GB" sz="2600" dirty="0"/>
              <a:t>find approximations for optimal value functions</a:t>
            </a:r>
            <a:endParaRPr lang="en-GB" sz="2600" b="0" dirty="0"/>
          </a:p>
          <a:p>
            <a:pPr marL="514350" indent="-514350">
              <a:buFont typeface="+mj-lt"/>
              <a:buAutoNum type="arabicPeriod"/>
            </a:pPr>
            <a:r>
              <a:rPr lang="en-GB" sz="2600" dirty="0"/>
              <a:t>policy evaluation:</a:t>
            </a:r>
            <a:r>
              <a:rPr lang="en-DE" sz="2600" b="0" dirty="0"/>
              <a:t> calculate value function with current policy (Bellman equation as update rule)</a:t>
            </a:r>
            <a:endParaRPr lang="en-GB" sz="2600" dirty="0"/>
          </a:p>
          <a:p>
            <a:pPr marL="514350" indent="-514350">
              <a:buFont typeface="+mj-lt"/>
              <a:buAutoNum type="arabicPeriod"/>
            </a:pPr>
            <a:r>
              <a:rPr lang="en-GB" sz="2600" dirty="0"/>
              <a:t>policy improvement:</a:t>
            </a:r>
            <a:r>
              <a:rPr lang="en-DE" sz="2600" b="0" dirty="0"/>
              <a:t> adjusting policy to act greedy (pick actions with maximum values) with respect to value function of current policy</a:t>
            </a:r>
          </a:p>
          <a:p>
            <a:pPr marL="0" indent="0">
              <a:buNone/>
            </a:pPr>
            <a:r>
              <a:rPr lang="en-GB" sz="2600" dirty="0"/>
              <a:t>p</a:t>
            </a:r>
            <a:r>
              <a:rPr lang="en-DE" sz="2600" dirty="0"/>
              <a:t>utting both components together:</a:t>
            </a:r>
          </a:p>
          <a:p>
            <a:r>
              <a:rPr lang="en-GB" sz="2600" dirty="0"/>
              <a:t>p</a:t>
            </a:r>
            <a:r>
              <a:rPr lang="en-DE" sz="2600" dirty="0"/>
              <a:t>olicy iteration:</a:t>
            </a:r>
          </a:p>
          <a:p>
            <a:r>
              <a:rPr lang="en-GB" sz="2600" dirty="0"/>
              <a:t>v</a:t>
            </a:r>
            <a:r>
              <a:rPr lang="en-DE" sz="2600" dirty="0"/>
              <a:t>alue iteration: truncated policy evaluation using Bellman optimality equation as update rule (stopped after one update of each state)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497F6-499E-C15E-A171-09406D83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8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42754F-2FCD-7536-9301-FE81E76ED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911" y="4641093"/>
            <a:ext cx="5227734" cy="385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34B86F-FFB1-4CB8-9F28-02B7C531D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398" y="1768650"/>
            <a:ext cx="2201072" cy="3306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51A22C-D3BB-7B47-2C0D-E6042FCED77B}"/>
              </a:ext>
            </a:extLst>
          </p:cNvPr>
          <p:cNvSpPr txBox="1"/>
          <p:nvPr/>
        </p:nvSpPr>
        <p:spPr>
          <a:xfrm>
            <a:off x="8936418" y="1329919"/>
            <a:ext cx="28190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500" dirty="0"/>
              <a:t>generalized policy iteration (GPI):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6CF261-23D7-6CDF-EC2B-011BBA51D9D8}"/>
              </a:ext>
            </a:extLst>
          </p:cNvPr>
          <p:cNvSpPr txBox="1"/>
          <p:nvPr/>
        </p:nvSpPr>
        <p:spPr>
          <a:xfrm>
            <a:off x="10940804" y="5247571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B081E-3E0F-CD58-7CFB-3EDEF50056A3}"/>
              </a:ext>
            </a:extLst>
          </p:cNvPr>
          <p:cNvSpPr txBox="1"/>
          <p:nvPr/>
        </p:nvSpPr>
        <p:spPr>
          <a:xfrm>
            <a:off x="8936418" y="5740405"/>
            <a:ext cx="2819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GPI a</a:t>
            </a:r>
            <a:r>
              <a:rPr lang="en-DE" dirty="0"/>
              <a:t>lso followed by MC and TD methods …</a:t>
            </a:r>
          </a:p>
        </p:txBody>
      </p:sp>
    </p:spTree>
    <p:extLst>
      <p:ext uri="{BB962C8B-B14F-4D97-AF65-F5344CB8AC3E}">
        <p14:creationId xmlns:p14="http://schemas.microsoft.com/office/powerpoint/2010/main" val="46160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C3FC-F2B9-7298-40F0-30300DEC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Limited Utility of 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E4169-E0E3-4AF2-B882-6FE60E1CB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requires full model of environment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</a:t>
            </a:r>
            <a:r>
              <a:rPr lang="en-DE" dirty="0"/>
              <a:t>omputationally expensive</a:t>
            </a:r>
          </a:p>
          <a:p>
            <a:r>
              <a:rPr lang="en-DE" dirty="0"/>
              <a:t>expected update operation (based on values of all possible successor states and their probability)</a:t>
            </a:r>
          </a:p>
          <a:p>
            <a:r>
              <a:rPr lang="en-DE" dirty="0"/>
              <a:t>for each state (in potentially huge state space)</a:t>
            </a:r>
          </a:p>
          <a:p>
            <a:pPr marL="0" indent="0">
              <a:buNone/>
            </a:pPr>
            <a:r>
              <a:rPr lang="en-DE" dirty="0"/>
              <a:t>(asynchronous DP at least avoids systematic sweeps over entire state space)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n</a:t>
            </a:r>
            <a:r>
              <a:rPr lang="en-DE" dirty="0">
                <a:sym typeface="Wingdings" pitchFamily="2" charset="2"/>
              </a:rPr>
              <a:t>eed for more efficient methods achieving the same effect as DP, without (perfect) model of environment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AF159-1FA2-BE72-E5F7-780EA6F0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617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A315-43F4-8A94-5710-7E016D03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Bootstrapping and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814A-B09E-D7AD-778F-9A87D4268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85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/>
              <a:t>b</a:t>
            </a:r>
            <a:r>
              <a:rPr lang="en-DE" b="1" dirty="0"/>
              <a:t>ootstrapping</a:t>
            </a:r>
            <a:r>
              <a:rPr lang="en-DE" dirty="0"/>
              <a:t>: </a:t>
            </a:r>
            <a:r>
              <a:rPr lang="en-GB" dirty="0"/>
              <a:t>update estimates of state values based on estimates of values of successor states </a:t>
            </a:r>
            <a:endParaRPr lang="en-DE" dirty="0"/>
          </a:p>
          <a:p>
            <a:pPr marL="0" indent="0">
              <a:buNone/>
            </a:pPr>
            <a:r>
              <a:rPr lang="en-GB" b="1" dirty="0"/>
              <a:t>s</a:t>
            </a:r>
            <a:r>
              <a:rPr lang="en-DE" b="1" dirty="0"/>
              <a:t>ampling</a:t>
            </a:r>
            <a:r>
              <a:rPr lang="en-DE" dirty="0"/>
              <a:t>: experience of sample sequences (no need for complete knowledge of environment)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CD391-3E92-5154-E47D-1A6B248D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10</a:t>
            </a:fld>
            <a:endParaRPr lang="en-DE"/>
          </a:p>
        </p:txBody>
      </p:sp>
      <p:pic>
        <p:nvPicPr>
          <p:cNvPr id="5" name="Picture 4" descr="A picture containing hanging, air, wire, flying&#10;&#10;Description automatically generated">
            <a:extLst>
              <a:ext uri="{FF2B5EF4-FFF2-40B4-BE49-F238E27FC236}">
                <a16:creationId xmlns:a16="http://schemas.microsoft.com/office/drawing/2014/main" id="{470E8653-E80C-691E-2A46-1B1FBDBB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50" y="3322897"/>
            <a:ext cx="3333573" cy="2079625"/>
          </a:xfrm>
          <a:prstGeom prst="rect">
            <a:avLst/>
          </a:prstGeom>
        </p:spPr>
      </p:pic>
      <p:pic>
        <p:nvPicPr>
          <p:cNvPr id="6" name="Picture 5" descr="A picture containing hanging, colored, air, flying&#10;&#10;Description automatically generated">
            <a:extLst>
              <a:ext uri="{FF2B5EF4-FFF2-40B4-BE49-F238E27FC236}">
                <a16:creationId xmlns:a16="http://schemas.microsoft.com/office/drawing/2014/main" id="{F4C08FFA-90B4-91B8-ACEC-A9659FAAD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823" y="3322897"/>
            <a:ext cx="3708827" cy="2079921"/>
          </a:xfrm>
          <a:prstGeom prst="rect">
            <a:avLst/>
          </a:prstGeom>
        </p:spPr>
      </p:pic>
      <p:pic>
        <p:nvPicPr>
          <p:cNvPr id="7" name="Picture 6" descr="A picture containing hanging, air, flying, colored&#10;&#10;Description automatically generated">
            <a:extLst>
              <a:ext uri="{FF2B5EF4-FFF2-40B4-BE49-F238E27FC236}">
                <a16:creationId xmlns:a16="http://schemas.microsoft.com/office/drawing/2014/main" id="{18F0F24E-CA05-E49B-09A2-35A78D05F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244" y="3322897"/>
            <a:ext cx="3482257" cy="2079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BCB5B3-F3E8-8EAA-728C-FE8F49BE4FBD}"/>
              </a:ext>
            </a:extLst>
          </p:cNvPr>
          <p:cNvSpPr txBox="1"/>
          <p:nvPr/>
        </p:nvSpPr>
        <p:spPr>
          <a:xfrm>
            <a:off x="838200" y="2784735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Dynamic Programming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9FFDF-6D09-9D42-9283-CB36BF014035}"/>
              </a:ext>
            </a:extLst>
          </p:cNvPr>
          <p:cNvSpPr txBox="1"/>
          <p:nvPr/>
        </p:nvSpPr>
        <p:spPr>
          <a:xfrm>
            <a:off x="4328692" y="2784735"/>
            <a:ext cx="3394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Temporal Difference (TD)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69AA0-E1A1-10DC-52BB-EF34F1FFCECB}"/>
              </a:ext>
            </a:extLst>
          </p:cNvPr>
          <p:cNvSpPr txBox="1"/>
          <p:nvPr/>
        </p:nvSpPr>
        <p:spPr>
          <a:xfrm>
            <a:off x="8897429" y="2784735"/>
            <a:ext cx="1869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Monte Carlo (MC)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8091D-23DA-8F89-5D7B-666CC7AB8BBB}"/>
              </a:ext>
            </a:extLst>
          </p:cNvPr>
          <p:cNvSpPr txBox="1"/>
          <p:nvPr/>
        </p:nvSpPr>
        <p:spPr>
          <a:xfrm>
            <a:off x="505350" y="5574694"/>
            <a:ext cx="3661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</a:t>
            </a:r>
            <a:r>
              <a:rPr lang="en-DE" dirty="0"/>
              <a:t>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no sampling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model-based (transition probabilities needed)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B1DDF-BDA8-7EE6-F0A8-3E5A37D16AB2}"/>
              </a:ext>
            </a:extLst>
          </p:cNvPr>
          <p:cNvSpPr txBox="1"/>
          <p:nvPr/>
        </p:nvSpPr>
        <p:spPr>
          <a:xfrm>
            <a:off x="4255045" y="5570978"/>
            <a:ext cx="3394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</a:t>
            </a:r>
            <a:r>
              <a:rPr lang="en-DE" dirty="0"/>
              <a:t>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DE" dirty="0"/>
              <a:t>ampling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m</a:t>
            </a:r>
            <a:r>
              <a:rPr lang="en-DE" dirty="0"/>
              <a:t>odel-free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C628C-CA70-A417-59B5-1C0E80AAA251}"/>
              </a:ext>
            </a:extLst>
          </p:cNvPr>
          <p:cNvSpPr txBox="1"/>
          <p:nvPr/>
        </p:nvSpPr>
        <p:spPr>
          <a:xfrm>
            <a:off x="7977823" y="5571473"/>
            <a:ext cx="370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b</a:t>
            </a:r>
            <a:r>
              <a:rPr lang="en-DE" dirty="0"/>
              <a:t>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DE" dirty="0"/>
              <a:t>ampling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m</a:t>
            </a:r>
            <a:r>
              <a:rPr lang="en-DE" dirty="0"/>
              <a:t>odel-free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EE5738-5379-23C3-E1ED-105E40C06363}"/>
              </a:ext>
            </a:extLst>
          </p:cNvPr>
          <p:cNvSpPr txBox="1"/>
          <p:nvPr/>
        </p:nvSpPr>
        <p:spPr>
          <a:xfrm>
            <a:off x="11377353" y="5402522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</p:spTree>
    <p:extLst>
      <p:ext uri="{BB962C8B-B14F-4D97-AF65-F5344CB8AC3E}">
        <p14:creationId xmlns:p14="http://schemas.microsoft.com/office/powerpoint/2010/main" val="291205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B03E-1A17-7301-86C2-51FB9F9F3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Sampling 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F71F6-3791-4D3C-E0A2-4E6A0748AA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DE" dirty="0"/>
                  <a:t>MC: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DE" dirty="0"/>
                  <a:t>TD: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F71F6-3791-4D3C-E0A2-4E6A0748A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  <a:blipFill>
                <a:blip r:embed="rId2"/>
                <a:stretch>
                  <a:fillRect l="-1206" t="-252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13DB9-41B0-ED71-FD05-45D583E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11</a:t>
            </a:fld>
            <a:endParaRPr lang="en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82FC9A-586B-9BE3-F02E-16501855D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870053"/>
            <a:ext cx="11506200" cy="90170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66E22A9-5628-D549-7A89-B2413453DB8F}"/>
              </a:ext>
            </a:extLst>
          </p:cNvPr>
          <p:cNvSpPr/>
          <p:nvPr/>
        </p:nvSpPr>
        <p:spPr>
          <a:xfrm>
            <a:off x="342900" y="1870053"/>
            <a:ext cx="11588905" cy="9017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4EBC1-1009-A38E-CC6D-09E393BCBA6E}"/>
              </a:ext>
            </a:extLst>
          </p:cNvPr>
          <p:cNvSpPr txBox="1"/>
          <p:nvPr/>
        </p:nvSpPr>
        <p:spPr>
          <a:xfrm>
            <a:off x="5255173" y="5915352"/>
            <a:ext cx="223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bootstrapping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576065-AEE0-28B6-3505-37150C8E0251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6106511" y="5431876"/>
            <a:ext cx="266821" cy="483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623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9201-6670-5181-895D-9277FC26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On-Policy TD Control: SARSA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6ADA8-8CEF-8FFE-F942-29A82FF082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60683"/>
                <a:ext cx="9798269" cy="321627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following pattern of GPI: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r>
                  <a:rPr lang="en-DE" dirty="0"/>
                  <a:t>estimate action-value function for current behavior policy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c</a:t>
                </a:r>
                <a:r>
                  <a:rPr lang="en-DE" dirty="0"/>
                  <a:t>hange policy toward greediness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DE" dirty="0"/>
                  <a:t> (exploration for example via </a:t>
                </a:r>
                <a14:m>
                  <m:oMath xmlns:m="http://schemas.openxmlformats.org/officeDocument/2006/math">
                    <m:r>
                      <a:rPr lang="en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DE" dirty="0"/>
                  <a:t>-greedy policy)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6ADA8-8CEF-8FFE-F942-29A82FF08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60683"/>
                <a:ext cx="9798269" cy="3216279"/>
              </a:xfrm>
              <a:blipFill>
                <a:blip r:embed="rId2"/>
                <a:stretch>
                  <a:fillRect l="-1295" t="-4724" r="-6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B4404-4961-203F-C157-77377CE6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12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6FD5C-8E62-42C2-234D-BA39B26D7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710" y="2057980"/>
            <a:ext cx="5564457" cy="535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C77BCA-4343-A8AF-6B24-39F46E28B998}"/>
              </a:ext>
            </a:extLst>
          </p:cNvPr>
          <p:cNvSpPr txBox="1"/>
          <p:nvPr/>
        </p:nvSpPr>
        <p:spPr>
          <a:xfrm>
            <a:off x="3846867" y="1572979"/>
            <a:ext cx="175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/>
              <a:t>S      A  R     S     A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2A2A2FF9-8DF2-F928-3B33-4816A50C1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178" y="3429000"/>
            <a:ext cx="615244" cy="2097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1D71AA-CFE2-2F89-F856-23D3DEDBD050}"/>
              </a:ext>
            </a:extLst>
          </p:cNvPr>
          <p:cNvSpPr txBox="1"/>
          <p:nvPr/>
        </p:nvSpPr>
        <p:spPr>
          <a:xfrm>
            <a:off x="7795953" y="2593392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</p:spTree>
    <p:extLst>
      <p:ext uri="{BB962C8B-B14F-4D97-AF65-F5344CB8AC3E}">
        <p14:creationId xmlns:p14="http://schemas.microsoft.com/office/powerpoint/2010/main" val="177216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CCDCBA99-CEDA-CD29-C75C-8B1FD2241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801" y="4661346"/>
            <a:ext cx="1047469" cy="150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BD6C51-0760-2065-B7F9-8D9B92F6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Off-Policy TD Control: Q-Learning</a:t>
            </a:r>
            <a:endParaRPr lang="en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BD41-C3F8-C70F-2AEC-034FAD14B1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estimate action-value function directly approximating optimal one (independent of </a:t>
                </a:r>
                <a:r>
                  <a:rPr lang="en-DE" sz="2400" dirty="0"/>
                  <a:t>behavior</a:t>
                </a:r>
                <a:r>
                  <a:rPr lang="en-GB" sz="2400" dirty="0"/>
                  <a:t> policy </a:t>
                </a:r>
                <a:r>
                  <a:rPr lang="en-GB" sz="2400" dirty="0">
                    <a:sym typeface="Wingdings" pitchFamily="2" charset="2"/>
                  </a:rPr>
                  <a:t> </a:t>
                </a:r>
                <a:r>
                  <a:rPr lang="en-DE" sz="2400" dirty="0"/>
                  <a:t>potentially off-policy)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behavior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policy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used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collect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data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differ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from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target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policy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greedy</a:t>
                </a:r>
                <a:r>
                  <a:rPr lang="de-DE" sz="2400" dirty="0"/>
                  <a:t>)</a:t>
                </a: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>
                    <a:sym typeface="Wingdings" pitchFamily="2" charset="2"/>
                  </a:rPr>
                  <a:t> </a:t>
                </a:r>
                <a:r>
                  <a:rPr lang="en-DE" sz="2400"/>
                  <a:t>off-policy</a:t>
                </a: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</a:t>
                </a:r>
                <a:r>
                  <a:rPr lang="en-DE" sz="2400" dirty="0"/>
                  <a:t>ompare to expected Sarsa</a:t>
                </a:r>
                <a:r>
                  <a:rPr lang="en-DE" sz="2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BD41-C3F8-C70F-2AEC-034FAD14B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035" b="-372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82C89-2080-0A5E-AC67-215002C6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13</a:t>
            </a:fld>
            <a:endParaRPr lang="en-DE"/>
          </a:p>
        </p:txBody>
      </p:sp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690E09DB-791F-EDD3-135A-AA52D917E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469" y="2321584"/>
            <a:ext cx="1022131" cy="150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04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60DD-C968-3A24-BDF0-42328878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Summary: Update Characteristics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D1A1B-82BB-EDCF-B060-3C5E3038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14</a:t>
            </a:fld>
            <a:endParaRPr lang="en-DE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35126D6-C16A-7841-9ACA-76B2AB57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99" y="1489633"/>
            <a:ext cx="5572512" cy="4884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1871EA-029A-0A8F-44F8-C16BA3060887}"/>
              </a:ext>
            </a:extLst>
          </p:cNvPr>
          <p:cNvSpPr txBox="1"/>
          <p:nvPr/>
        </p:nvSpPr>
        <p:spPr>
          <a:xfrm>
            <a:off x="1148576" y="3370935"/>
            <a:ext cx="108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</a:t>
            </a:r>
            <a:r>
              <a:rPr lang="en-DE" dirty="0"/>
              <a:t>-step TD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F5F38-C646-B100-4077-CC0F352B6884}"/>
              </a:ext>
            </a:extLst>
          </p:cNvPr>
          <p:cNvSpPr txBox="1"/>
          <p:nvPr/>
        </p:nvSpPr>
        <p:spPr>
          <a:xfrm>
            <a:off x="1148576" y="1920937"/>
            <a:ext cx="1320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one</a:t>
            </a:r>
            <a:r>
              <a:rPr lang="en-DE" dirty="0"/>
              <a:t>-step TD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5391E-B885-B829-7853-CD20E078FEBA}"/>
              </a:ext>
            </a:extLst>
          </p:cNvPr>
          <p:cNvSpPr txBox="1"/>
          <p:nvPr/>
        </p:nvSpPr>
        <p:spPr>
          <a:xfrm>
            <a:off x="1148575" y="499495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MC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419A85-702F-BAD2-92CC-A7CB575D01A8}"/>
              </a:ext>
            </a:extLst>
          </p:cNvPr>
          <p:cNvSpPr txBox="1"/>
          <p:nvPr/>
        </p:nvSpPr>
        <p:spPr>
          <a:xfrm>
            <a:off x="7839309" y="3026358"/>
            <a:ext cx="351448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reduce depth of search by bootstrapping with value function predicting future outcome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8963A7-88FC-F410-4D77-BA5410C2B96A}"/>
              </a:ext>
            </a:extLst>
          </p:cNvPr>
          <p:cNvCxnSpPr/>
          <p:nvPr/>
        </p:nvCxnSpPr>
        <p:spPr>
          <a:xfrm flipV="1">
            <a:off x="7627438" y="2506716"/>
            <a:ext cx="0" cy="1962614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753E61-FA36-F858-EA9D-10F9F255202F}"/>
              </a:ext>
            </a:extLst>
          </p:cNvPr>
          <p:cNvSpPr txBox="1"/>
          <p:nvPr/>
        </p:nvSpPr>
        <p:spPr>
          <a:xfrm>
            <a:off x="4404731" y="5809797"/>
            <a:ext cx="216333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reduce breadth of search by sampling actions from policy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6C9D61-B92A-98F0-6341-C3A3F85BB3CE}"/>
              </a:ext>
            </a:extLst>
          </p:cNvPr>
          <p:cNvCxnSpPr/>
          <p:nvPr/>
        </p:nvCxnSpPr>
        <p:spPr>
          <a:xfrm flipH="1">
            <a:off x="4304370" y="5617905"/>
            <a:ext cx="2163336" cy="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0711B2-695C-63D3-5446-F55382A5A778}"/>
              </a:ext>
            </a:extLst>
          </p:cNvPr>
          <p:cNvSpPr txBox="1"/>
          <p:nvPr/>
        </p:nvSpPr>
        <p:spPr>
          <a:xfrm>
            <a:off x="8060348" y="5563576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</p:spTree>
    <p:extLst>
      <p:ext uri="{BB962C8B-B14F-4D97-AF65-F5344CB8AC3E}">
        <p14:creationId xmlns:p14="http://schemas.microsoft.com/office/powerpoint/2010/main" val="1778585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Macintosh PowerPoint</Application>
  <PresentationFormat>Breitbild</PresentationFormat>
  <Paragraphs>132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Office Theme</vt:lpstr>
      <vt:lpstr>Tabular Methods</vt:lpstr>
      <vt:lpstr>Course Schedule</vt:lpstr>
      <vt:lpstr>Tabular Methods</vt:lpstr>
      <vt:lpstr>State and Action Values</vt:lpstr>
      <vt:lpstr>State-Value Function</vt:lpstr>
      <vt:lpstr>Action-Value Function</vt:lpstr>
      <vt:lpstr>Bellman Optimality Equations</vt:lpstr>
      <vt:lpstr>Dynamic Programming (DP)</vt:lpstr>
      <vt:lpstr>Limited Utility of DP</vt:lpstr>
      <vt:lpstr>Bootstrapping and Sampling</vt:lpstr>
      <vt:lpstr>Sampling Update Rule</vt:lpstr>
      <vt:lpstr>On-Policy TD Control: SARSA</vt:lpstr>
      <vt:lpstr>Off-Policy TD Control: Q-Learning</vt:lpstr>
      <vt:lpstr>Summary: Update Characteristics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54</cp:revision>
  <dcterms:created xsi:type="dcterms:W3CDTF">2025-01-08T09:27:30Z</dcterms:created>
  <dcterms:modified xsi:type="dcterms:W3CDTF">2026-03-02T10:18:28Z</dcterms:modified>
</cp:coreProperties>
</file>