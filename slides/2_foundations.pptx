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572" r:id="rId3"/>
    <p:sldId id="550" r:id="rId4"/>
    <p:sldId id="573" r:id="rId5"/>
    <p:sldId id="863" r:id="rId6"/>
    <p:sldId id="574" r:id="rId7"/>
    <p:sldId id="575" r:id="rId8"/>
    <p:sldId id="576" r:id="rId9"/>
    <p:sldId id="577" r:id="rId10"/>
    <p:sldId id="578" r:id="rId11"/>
    <p:sldId id="557" r:id="rId12"/>
    <p:sldId id="864" r:id="rId13"/>
    <p:sldId id="558" r:id="rId14"/>
    <p:sldId id="566" r:id="rId15"/>
    <p:sldId id="579" r:id="rId16"/>
    <p:sldId id="865" r:id="rId17"/>
    <p:sldId id="580" r:id="rId18"/>
    <p:sldId id="569" r:id="rId19"/>
    <p:sldId id="570" r:id="rId20"/>
    <p:sldId id="581" r:id="rId21"/>
    <p:sldId id="582" r:id="rId22"/>
    <p:sldId id="565" r:id="rId23"/>
    <p:sldId id="7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/>
    <p:restoredTop sz="95028" autoAdjust="0"/>
  </p:normalViewPr>
  <p:slideViewPr>
    <p:cSldViewPr snapToGrid="0">
      <p:cViewPr varScale="1">
        <p:scale>
          <a:sx n="138" d="100"/>
          <a:sy n="138" d="100"/>
        </p:scale>
        <p:origin x="47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ymnasium.farama.org/environments/toy_text/blackjack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Foundations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CE220-F6B8-09A9-4663-EFAB3EE1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Sequential Decision Making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E2608-0A86-BFD4-C06E-1A9325966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69382" cy="36714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reinforcement learning (RL): </a:t>
            </a:r>
          </a:p>
          <a:p>
            <a:pPr marL="0" indent="0">
              <a:buNone/>
            </a:pPr>
            <a:r>
              <a:rPr lang="en-GB" sz="2400" dirty="0"/>
              <a:t>formalization of sequential decision making (action policy) of software</a:t>
            </a:r>
            <a:r>
              <a:rPr lang="en-DE" sz="2400" dirty="0"/>
              <a:t> agent interacting with environment</a:t>
            </a:r>
          </a:p>
          <a:p>
            <a:pPr marL="0" indent="0">
              <a:buNone/>
            </a:pPr>
            <a:endParaRPr lang="en-DE" sz="2400" dirty="0"/>
          </a:p>
          <a:p>
            <a:pPr marL="0" indent="0">
              <a:buNone/>
            </a:pPr>
            <a:r>
              <a:rPr lang="en-GB" sz="2400" dirty="0"/>
              <a:t>c</a:t>
            </a:r>
            <a:r>
              <a:rPr lang="en-DE" sz="2400" dirty="0"/>
              <a:t>orresponds to search for best (or rather good) action policy to reach a given goal (e.g., win a game)</a:t>
            </a:r>
          </a:p>
          <a:p>
            <a:pPr marL="0" indent="0">
              <a:buNone/>
            </a:pPr>
            <a:r>
              <a:rPr lang="en-DE" sz="2400" dirty="0"/>
              <a:t>using learning from examples (data) to guide the search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0971B2-FD1C-52C8-1EA4-6B8FB61BD757}"/>
              </a:ext>
            </a:extLst>
          </p:cNvPr>
          <p:cNvGrpSpPr/>
          <p:nvPr/>
        </p:nvGrpSpPr>
        <p:grpSpPr>
          <a:xfrm>
            <a:off x="8610600" y="1916917"/>
            <a:ext cx="2750387" cy="2991600"/>
            <a:chOff x="4623579" y="1771810"/>
            <a:chExt cx="2750387" cy="29862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48F14FA-5CD0-19C2-6EE7-688420177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23579" y="2701661"/>
              <a:ext cx="2750387" cy="134081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D438C21-2B0B-B4BD-4B42-6AAD917F6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69482" y="1771810"/>
              <a:ext cx="1021958" cy="9180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31A7730-A865-3E78-2E6A-F69A453B8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5708287" y="4001698"/>
              <a:ext cx="544348" cy="756357"/>
            </a:xfrm>
            <a:prstGeom prst="rect">
              <a:avLst/>
            </a:prstGeom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270C63-D3DC-A43C-D62D-538565C10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2</a:t>
            </a:fld>
            <a:endParaRPr lang="en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C35EDC-32D6-3BBA-1E46-38F485980525}"/>
              </a:ext>
            </a:extLst>
          </p:cNvPr>
          <p:cNvSpPr txBox="1"/>
          <p:nvPr/>
        </p:nvSpPr>
        <p:spPr>
          <a:xfrm>
            <a:off x="838200" y="5438766"/>
            <a:ext cx="11090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RL usually more difficult (e.g., non-differentiable as a whole) than</a:t>
            </a:r>
            <a:r>
              <a:rPr lang="en-DE" sz="2400" dirty="0"/>
              <a:t> supervised learning (which can be seen as “generalized optimization”, often of proxy metric)</a:t>
            </a:r>
          </a:p>
        </p:txBody>
      </p:sp>
    </p:spTree>
    <p:extLst>
      <p:ext uri="{BB962C8B-B14F-4D97-AF65-F5344CB8AC3E}">
        <p14:creationId xmlns:p14="http://schemas.microsoft.com/office/powerpoint/2010/main" val="2269043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21DF-BB12-89F5-C7E1-D4343D4F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DE" sz="4400" dirty="0"/>
              <a:t>ain </a:t>
            </a:r>
            <a:r>
              <a:rPr lang="en-DE" dirty="0"/>
              <a:t>E</a:t>
            </a:r>
            <a:r>
              <a:rPr lang="en-DE" sz="4400" dirty="0"/>
              <a:t>lements of RL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A3C14-1EE9-A204-B53C-4AE63C8AB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600" dirty="0"/>
              <a:t>goal: find action policy maximizing reward from environment</a:t>
            </a:r>
          </a:p>
          <a:p>
            <a:pPr marL="0" indent="0">
              <a:buNone/>
            </a:pPr>
            <a:endParaRPr lang="en-GB" sz="2600" b="1" dirty="0"/>
          </a:p>
          <a:p>
            <a:pPr marL="0" indent="0">
              <a:buNone/>
            </a:pPr>
            <a:r>
              <a:rPr lang="en-GB" sz="2600" b="1" dirty="0"/>
              <a:t>action p</a:t>
            </a:r>
            <a:r>
              <a:rPr lang="en-DE" sz="2600" b="1"/>
              <a:t>olicy</a:t>
            </a:r>
            <a:endParaRPr lang="de-DE" sz="2600" dirty="0"/>
          </a:p>
          <a:p>
            <a:r>
              <a:rPr lang="en-DE" sz="2600"/>
              <a:t>exploration-exploitation </a:t>
            </a:r>
            <a:r>
              <a:rPr lang="en-DE" sz="2600" dirty="0"/>
              <a:t>trade-off</a:t>
            </a:r>
          </a:p>
          <a:p>
            <a:r>
              <a:rPr lang="en-GB" sz="2600" dirty="0"/>
              <a:t>e.g., e</a:t>
            </a:r>
            <a:r>
              <a:rPr lang="en-DE" sz="2600" dirty="0"/>
              <a:t>psilon-greedy: random exploration at small fraction of the time</a:t>
            </a:r>
          </a:p>
          <a:p>
            <a:pPr marL="0" indent="0">
              <a:buNone/>
            </a:pPr>
            <a:endParaRPr lang="en-GB" sz="2600" b="1" dirty="0"/>
          </a:p>
          <a:p>
            <a:pPr marL="0" indent="0">
              <a:buNone/>
            </a:pPr>
            <a:r>
              <a:rPr lang="en-GB" sz="2600" b="1" dirty="0"/>
              <a:t>feedback from environment</a:t>
            </a:r>
            <a:endParaRPr lang="en-GB" sz="2600" dirty="0"/>
          </a:p>
          <a:p>
            <a:r>
              <a:rPr lang="en-GB" sz="2600" dirty="0"/>
              <a:t>goal-directed, no supervision</a:t>
            </a:r>
          </a:p>
          <a:p>
            <a:r>
              <a:rPr lang="en-GB" sz="2600" dirty="0"/>
              <a:t>scalar r</a:t>
            </a:r>
            <a:r>
              <a:rPr lang="en-DE" sz="2600"/>
              <a:t>eward signal</a:t>
            </a:r>
            <a:r>
              <a:rPr lang="en-GB" sz="2600" dirty="0"/>
              <a:t>, cumulative and delayed (credit assignment problem)</a:t>
            </a:r>
            <a:endParaRPr lang="en-DE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57DD8-C6E7-34CC-50D9-6100F19FE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35741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DEDA-AB76-774F-BC78-9FAC7097A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Optional Elements of 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8759B-188B-A6C8-FB1F-E82713ECC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b="1" dirty="0"/>
              <a:t>v</a:t>
            </a:r>
            <a:r>
              <a:rPr lang="en-DE" sz="2800" b="1" dirty="0"/>
              <a:t>alue functions for states or actions</a:t>
            </a:r>
            <a:r>
              <a:rPr lang="en-DE" sz="2800" dirty="0"/>
              <a:t>: improve efficiency of search in vast action policy space (alternative: direct policy search)</a:t>
            </a:r>
          </a:p>
          <a:p>
            <a:pPr marL="0" indent="0">
              <a:buNone/>
            </a:pPr>
            <a:endParaRPr lang="en-GB" sz="2800" b="1" dirty="0"/>
          </a:p>
          <a:p>
            <a:pPr marL="0" indent="0">
              <a:buNone/>
            </a:pPr>
            <a:r>
              <a:rPr lang="en-GB" sz="2800" b="1" dirty="0"/>
              <a:t>m</a:t>
            </a:r>
            <a:r>
              <a:rPr lang="en-DE" sz="2800" b="1" dirty="0"/>
              <a:t>odel of environment</a:t>
            </a:r>
            <a:r>
              <a:rPr lang="en-DE" sz="2800" dirty="0"/>
              <a:t>: </a:t>
            </a:r>
            <a:r>
              <a:rPr lang="en-GB" dirty="0"/>
              <a:t>(model-free) learning from trial-and-error or (model-based) planning</a:t>
            </a:r>
          </a:p>
          <a:p>
            <a:pPr marL="0" indent="0">
              <a:buNone/>
            </a:pPr>
            <a:r>
              <a:rPr lang="en-GB" dirty="0"/>
              <a:t>can be used in different ways:</a:t>
            </a:r>
          </a:p>
          <a:p>
            <a:pPr marL="457200" indent="-457200"/>
            <a:r>
              <a:rPr lang="en-GB" dirty="0"/>
              <a:t>simulate experience from model (for learning)</a:t>
            </a:r>
          </a:p>
          <a:p>
            <a:pPr marL="457200" indent="-457200"/>
            <a:r>
              <a:rPr lang="en-GB" dirty="0"/>
              <a:t>decision-time planning (e.g., heuristic search or model predictive control)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0F20F-191C-79ED-062D-71B8156F7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0048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EED0B19-871D-4F1F-000C-D522BFBC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Mathematical</a:t>
            </a:r>
            <a:r>
              <a:rPr lang="de-DE" dirty="0"/>
              <a:t> Setup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3ABEFD-2E15-2C89-0B3B-679A28E4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309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312A7-8CC3-1B17-2EC8-BCE95006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Markov Decision Process (MDP)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B01E6-E4CA-9628-FD2B-1086F8629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idea: c</a:t>
            </a:r>
            <a:r>
              <a:rPr lang="en-DE" dirty="0"/>
              <a:t>urrent state includes all information about past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DE" dirty="0"/>
              <a:t>transition probabilities between states describe dynamics of given MDP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GB" dirty="0"/>
              <a:t>action policy: mapping from states to probabilities for selection of different actions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15900-4F95-99EA-6581-98C2619E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38719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4BA3-6670-5516-DB58-BEC0C42E7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States, Actions, and Rewards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C2D9BB-C0D7-9AEE-BB75-E5A194324E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DE" sz="2800" dirty="0"/>
                  <a:t>transition probabilities (model of environment):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DE" sz="2800" dirty="0"/>
              </a:p>
              <a:p>
                <a:pPr marL="0" indent="0">
                  <a:buNone/>
                </a:pPr>
                <a:endParaRPr lang="en-DE" sz="2800" dirty="0"/>
              </a:p>
              <a:p>
                <a:pPr marL="0" indent="0">
                  <a:buNone/>
                </a:pPr>
                <a:endParaRPr lang="en-DE" sz="2800" dirty="0"/>
              </a:p>
              <a:p>
                <a:pPr marL="0" indent="0">
                  <a:buNone/>
                </a:pPr>
                <a:endParaRPr lang="en-DE" sz="2800" dirty="0"/>
              </a:p>
              <a:p>
                <a:pPr marL="0" indent="0">
                  <a:buNone/>
                </a:pPr>
                <a:endParaRPr lang="en-DE" sz="2800" dirty="0"/>
              </a:p>
              <a:p>
                <a:pPr marL="0" indent="0">
                  <a:buNone/>
                </a:pPr>
                <a:endParaRPr lang="en-DE" sz="2800" dirty="0"/>
              </a:p>
              <a:p>
                <a:pPr marL="0" indent="0">
                  <a:buNone/>
                </a:pPr>
                <a:r>
                  <a:rPr lang="en-GB" sz="2800" dirty="0"/>
                  <a:t>r</a:t>
                </a:r>
                <a:r>
                  <a:rPr lang="en-DE" sz="2800" dirty="0"/>
                  <a:t>eward hypothesis: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800" dirty="0"/>
                  <a:t>reward as scalar signal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800" dirty="0"/>
                  <a:t>goal: m</a:t>
                </a:r>
                <a:r>
                  <a:rPr lang="en-DE" sz="2800" dirty="0"/>
                  <a:t>aximization of expected cumulative sum of received rewards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C2D9BB-C0D7-9AEE-BB75-E5A194324E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 b="-290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8A76F-6D9B-9744-FB75-68245B43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7</a:t>
            </a:fld>
            <a:endParaRPr lang="en-DE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84E601-3CF9-B816-3889-FF6DF242937C}"/>
              </a:ext>
            </a:extLst>
          </p:cNvPr>
          <p:cNvGrpSpPr/>
          <p:nvPr/>
        </p:nvGrpSpPr>
        <p:grpSpPr>
          <a:xfrm>
            <a:off x="3883572" y="2262237"/>
            <a:ext cx="4424855" cy="2501685"/>
            <a:chOff x="3883572" y="2262237"/>
            <a:chExt cx="4424855" cy="2501685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413B43F-8BC6-12FB-ED74-AFBAB206B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83572" y="2262237"/>
              <a:ext cx="4424855" cy="250168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F09874-FBCF-72EA-9468-B6A3F561867B}"/>
                </a:ext>
              </a:extLst>
            </p:cNvPr>
            <p:cNvSpPr/>
            <p:nvPr/>
          </p:nvSpPr>
          <p:spPr>
            <a:xfrm>
              <a:off x="3883572" y="3552497"/>
              <a:ext cx="898635" cy="1261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1927120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3AE8-3C42-F619-8039-60559CDBE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State and Action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D05EE-A018-B8E8-4DF6-58F3862AE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state/action value: total amount of expected future reward starting from given state/action (usually with discounting of later steps)</a:t>
            </a: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 </a:t>
            </a:r>
            <a:r>
              <a:rPr lang="en-GB" dirty="0"/>
              <a:t>indicating l</a:t>
            </a:r>
            <a:r>
              <a:rPr lang="en-DE" dirty="0"/>
              <a:t>ong-term desirability of states/actions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main motivation: improve </a:t>
            </a:r>
            <a:r>
              <a:rPr lang="en-DE" dirty="0"/>
              <a:t>efficiency of search in policy space</a:t>
            </a:r>
          </a:p>
          <a:p>
            <a:pPr marL="0" indent="0">
              <a:buNone/>
            </a:pPr>
            <a:r>
              <a:rPr lang="en-DE" dirty="0"/>
              <a:t>(</a:t>
            </a:r>
            <a:r>
              <a:rPr lang="en-GB" dirty="0"/>
              <a:t>for comparison: </a:t>
            </a:r>
            <a:r>
              <a:rPr lang="en-DE" dirty="0"/>
              <a:t>evolutionary methods search directly by evaluating entire policies)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C1062-4387-7EA8-856B-63962880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85292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B2E7C-9701-D067-1265-0D20B8DCA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State-Value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B1BDD-B851-5E2C-CF80-8DACCA77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9</a:t>
            </a:fld>
            <a:endParaRPr lang="en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A3A0F-766F-2A79-DF4F-182A1C27DFBE}"/>
              </a:ext>
            </a:extLst>
          </p:cNvPr>
          <p:cNvSpPr txBox="1"/>
          <p:nvPr/>
        </p:nvSpPr>
        <p:spPr>
          <a:xfrm>
            <a:off x="4616664" y="1454224"/>
            <a:ext cx="9055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200" dirty="0"/>
              <a:t>return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C76EB1-E98E-D814-8DAE-F1B1E4629A94}"/>
              </a:ext>
            </a:extLst>
          </p:cNvPr>
          <p:cNvSpPr txBox="1"/>
          <p:nvPr/>
        </p:nvSpPr>
        <p:spPr>
          <a:xfrm>
            <a:off x="8468235" y="1475244"/>
            <a:ext cx="16798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/>
              <a:t>d</a:t>
            </a:r>
            <a:r>
              <a:rPr lang="en-DE" sz="2200" dirty="0"/>
              <a:t>iscount 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E4BCE3-0435-7B93-69AA-E2F22458853D}"/>
              </a:ext>
            </a:extLst>
          </p:cNvPr>
          <p:cNvSpPr txBox="1"/>
          <p:nvPr/>
        </p:nvSpPr>
        <p:spPr>
          <a:xfrm>
            <a:off x="8468234" y="4906378"/>
            <a:ext cx="28855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200" dirty="0"/>
              <a:t>Bellman (expectation) equation: recursion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D9E7E4-E111-5331-39DB-7541E009D843}"/>
              </a:ext>
            </a:extLst>
          </p:cNvPr>
          <p:cNvSpPr txBox="1"/>
          <p:nvPr/>
        </p:nvSpPr>
        <p:spPr>
          <a:xfrm>
            <a:off x="571308" y="4877089"/>
            <a:ext cx="3138844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p</a:t>
            </a:r>
            <a:r>
              <a:rPr lang="en-DE" sz="2200" dirty="0"/>
              <a:t>olicy: probabilitiy to take specific action being in a given state</a:t>
            </a:r>
            <a:endParaRPr lang="en-DE" sz="2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9A62D7-75B9-BE74-76EF-64C53C559BFB}"/>
                  </a:ext>
                </a:extLst>
              </p:cNvPr>
              <p:cNvSpPr txBox="1"/>
              <p:nvPr/>
            </p:nvSpPr>
            <p:spPr>
              <a:xfrm>
                <a:off x="4117036" y="4877089"/>
                <a:ext cx="4196646" cy="11543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200" dirty="0"/>
                  <a:t>t</a:t>
                </a:r>
                <a:r>
                  <a:rPr lang="en-DE" sz="2200" dirty="0"/>
                  <a:t>ransition probability (depending on environment) from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DE" sz="2200" dirty="0"/>
                  <a:t> to state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sz="2200" dirty="0"/>
                  <a:t>for a given action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9A62D7-75B9-BE74-76EF-64C53C559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036" y="4877089"/>
                <a:ext cx="4196646" cy="1154355"/>
              </a:xfrm>
              <a:prstGeom prst="rect">
                <a:avLst/>
              </a:prstGeom>
              <a:blipFill>
                <a:blip r:embed="rId2"/>
                <a:stretch>
                  <a:fillRect l="-1502" t="-2151" r="-601" b="-860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26A8EE-7175-F901-57A1-E7EBCCAAE429}"/>
                  </a:ext>
                </a:extLst>
              </p:cNvPr>
              <p:cNvSpPr txBox="1"/>
              <p:nvPr/>
            </p:nvSpPr>
            <p:spPr>
              <a:xfrm>
                <a:off x="1634063" y="2133759"/>
                <a:ext cx="9016123" cy="2331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DE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DE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DE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nary>
                            <m:naryPr>
                              <m:chr m:val="∑"/>
                              <m:supHide m:val="on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DE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26A8EE-7175-F901-57A1-E7EBCCAAE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063" y="2133759"/>
                <a:ext cx="9016123" cy="2331920"/>
              </a:xfrm>
              <a:prstGeom prst="rect">
                <a:avLst/>
              </a:prstGeom>
              <a:blipFill>
                <a:blip r:embed="rId3"/>
                <a:stretch>
                  <a:fillRect l="-9986" t="-60870" b="-8587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Left Brace 18">
            <a:extLst>
              <a:ext uri="{FF2B5EF4-FFF2-40B4-BE49-F238E27FC236}">
                <a16:creationId xmlns:a16="http://schemas.microsoft.com/office/drawing/2014/main" id="{277115C8-7CDA-F941-965F-CE13CAC5ECDF}"/>
              </a:ext>
            </a:extLst>
          </p:cNvPr>
          <p:cNvSpPr/>
          <p:nvPr/>
        </p:nvSpPr>
        <p:spPr>
          <a:xfrm rot="5400000">
            <a:off x="4890890" y="749972"/>
            <a:ext cx="320518" cy="2489095"/>
          </a:xfrm>
          <a:prstGeom prst="leftBrace">
            <a:avLst>
              <a:gd name="adj1" fmla="val 8333"/>
              <a:gd name="adj2" fmla="val 49166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82F94A-C2EB-AFB0-C700-67868031BDBE}"/>
              </a:ext>
            </a:extLst>
          </p:cNvPr>
          <p:cNvCxnSpPr/>
          <p:nvPr/>
        </p:nvCxnSpPr>
        <p:spPr>
          <a:xfrm flipH="1">
            <a:off x="8610600" y="1885111"/>
            <a:ext cx="829678" cy="700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FF27745-54C9-FD6B-9DD3-B4F1128351D0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9301655" y="4272456"/>
            <a:ext cx="609362" cy="633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CFC785C-433A-C24F-4F57-2347239C1CB0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2140730" y="3993931"/>
            <a:ext cx="581449" cy="883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3F895B-1239-0440-2FAE-74FD00099180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5297214" y="3993931"/>
            <a:ext cx="918145" cy="883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8A28ACD-56E5-3C56-68CC-AEB9A6A1E18C}"/>
              </a:ext>
            </a:extLst>
          </p:cNvPr>
          <p:cNvSpPr txBox="1"/>
          <p:nvPr/>
        </p:nvSpPr>
        <p:spPr>
          <a:xfrm>
            <a:off x="4117036" y="6123543"/>
            <a:ext cx="394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(s</a:t>
            </a:r>
            <a:r>
              <a:rPr lang="en-DE" dirty="0"/>
              <a:t>weep through entire state space)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4B3A5C-3343-E2FA-59CA-78F1332A61AB}"/>
              </a:ext>
            </a:extLst>
          </p:cNvPr>
          <p:cNvSpPr txBox="1"/>
          <p:nvPr/>
        </p:nvSpPr>
        <p:spPr>
          <a:xfrm>
            <a:off x="84103" y="1764427"/>
            <a:ext cx="2229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(n</a:t>
            </a:r>
            <a:r>
              <a:rPr lang="en-DE" dirty="0"/>
              <a:t>eeded for all states)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4E2CBBA-87B7-4BA4-3F0B-61B11CA2A450}"/>
              </a:ext>
            </a:extLst>
          </p:cNvPr>
          <p:cNvCxnSpPr>
            <a:stCxn id="6" idx="2"/>
          </p:cNvCxnSpPr>
          <p:nvPr/>
        </p:nvCxnSpPr>
        <p:spPr>
          <a:xfrm>
            <a:off x="1198928" y="2133759"/>
            <a:ext cx="671913" cy="451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5">
            <a:extLst>
              <a:ext uri="{FF2B5EF4-FFF2-40B4-BE49-F238E27FC236}">
                <a16:creationId xmlns:a16="http://schemas.microsoft.com/office/drawing/2014/main" id="{7FDD51CF-77E5-7BB7-2BDA-0F5094E9A4E5}"/>
              </a:ext>
            </a:extLst>
          </p:cNvPr>
          <p:cNvSpPr txBox="1"/>
          <p:nvPr/>
        </p:nvSpPr>
        <p:spPr>
          <a:xfrm>
            <a:off x="15194" y="3059668"/>
            <a:ext cx="1112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on-</a:t>
            </a:r>
            <a:r>
              <a:rPr lang="de-DE" dirty="0" err="1"/>
              <a:t>policy</a:t>
            </a:r>
            <a:endParaRPr lang="en-DE" dirty="0"/>
          </a:p>
        </p:txBody>
      </p:sp>
      <p:cxnSp>
        <p:nvCxnSpPr>
          <p:cNvPr id="14" name="Straight Arrow Connector 9">
            <a:extLst>
              <a:ext uri="{FF2B5EF4-FFF2-40B4-BE49-F238E27FC236}">
                <a16:creationId xmlns:a16="http://schemas.microsoft.com/office/drawing/2014/main" id="{E333265D-643E-9A46-F9C5-BBD2442D0199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1127422" y="2885044"/>
            <a:ext cx="869544" cy="359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170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F5B4C-755B-6562-2C17-4B127886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Action-Value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1539F-29FB-43F2-21A3-8F8ECE02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10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3C8FF3-2CBB-9455-1D0C-9969F1720B57}"/>
                  </a:ext>
                </a:extLst>
              </p:cNvPr>
              <p:cNvSpPr txBox="1"/>
              <p:nvPr/>
            </p:nvSpPr>
            <p:spPr>
              <a:xfrm>
                <a:off x="608408" y="1690688"/>
                <a:ext cx="10975184" cy="2331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DE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DE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DE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Sup>
                                    <m:sSub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sub>
                                <m:sup/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|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DE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3C8FF3-2CBB-9455-1D0C-9969F1720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08" y="1690688"/>
                <a:ext cx="10975184" cy="2331920"/>
              </a:xfrm>
              <a:prstGeom prst="rect">
                <a:avLst/>
              </a:prstGeom>
              <a:blipFill>
                <a:blip r:embed="rId2"/>
                <a:stretch>
                  <a:fillRect l="-4624" t="-59459" b="-8540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Shape&#10;&#10;Description automatically generated">
            <a:extLst>
              <a:ext uri="{FF2B5EF4-FFF2-40B4-BE49-F238E27FC236}">
                <a16:creationId xmlns:a16="http://schemas.microsoft.com/office/drawing/2014/main" id="{045F20B5-12AE-6EE6-DF84-AFAD154DB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746" y="4389125"/>
            <a:ext cx="2539798" cy="2172817"/>
          </a:xfrm>
          <a:prstGeom prst="rect">
            <a:avLst/>
          </a:prstGeom>
        </p:spPr>
      </p:pic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6A0B13AD-D421-0993-0333-685A62B32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457" y="4389125"/>
            <a:ext cx="1954924" cy="210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3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3841-858C-1656-7BBA-5E7B14286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Bellman Optimality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4BBFB-FCE9-647A-1FC7-6569EA07E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o</a:t>
            </a:r>
            <a:r>
              <a:rPr lang="en-DE" dirty="0"/>
              <a:t>ptimal solutions to Bellman equations (directly defining optimal policy):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</a:t>
            </a:r>
            <a:r>
              <a:rPr lang="en-DE" dirty="0"/>
              <a:t>arely possible to find in practice (due to missing model of environment, invalid Markov property, limited computational resources)</a:t>
            </a:r>
          </a:p>
          <a:p>
            <a:pPr marL="0" indent="0">
              <a:buNone/>
            </a:pPr>
            <a:r>
              <a:rPr lang="en-DE" dirty="0">
                <a:sym typeface="Wingdings" pitchFamily="2" charset="2"/>
              </a:rPr>
              <a:t> </a:t>
            </a:r>
            <a:r>
              <a:rPr lang="en-GB" dirty="0">
                <a:sym typeface="Wingdings" pitchFamily="2" charset="2"/>
              </a:rPr>
              <a:t>a</a:t>
            </a:r>
            <a:r>
              <a:rPr lang="en-DE" dirty="0">
                <a:sym typeface="Wingdings" pitchFamily="2" charset="2"/>
              </a:rPr>
              <a:t>pproximate solutions</a:t>
            </a:r>
            <a:endParaRPr lang="en-DE" dirty="0"/>
          </a:p>
          <a:p>
            <a:pPr marL="0" indent="0">
              <a:buNone/>
            </a:pP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A1506-9359-859D-6D7F-D961EEBB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11</a:t>
            </a:fld>
            <a:endParaRPr lang="en-DE"/>
          </a:p>
        </p:txBody>
      </p:sp>
      <p:pic>
        <p:nvPicPr>
          <p:cNvPr id="6" name="Picture 5" descr="A picture containing clock&#10;&#10;Description automatically generated">
            <a:extLst>
              <a:ext uri="{FF2B5EF4-FFF2-40B4-BE49-F238E27FC236}">
                <a16:creationId xmlns:a16="http://schemas.microsoft.com/office/drawing/2014/main" id="{1CDE49D9-990A-A2CE-6559-38EB96C89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82273"/>
            <a:ext cx="6855372" cy="231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330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EED0B19-871D-4F1F-000C-D522BFBC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Planning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3ABEFD-2E15-2C89-0B3B-679A28E4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371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BE39AEB-D19C-B426-0AF9-8DBFA0C6B033}"/>
              </a:ext>
            </a:extLst>
          </p:cNvPr>
          <p:cNvSpPr/>
          <p:nvPr/>
        </p:nvSpPr>
        <p:spPr>
          <a:xfrm>
            <a:off x="8936418" y="1224062"/>
            <a:ext cx="2819033" cy="3954110"/>
          </a:xfrm>
          <a:prstGeom prst="roundRect">
            <a:avLst/>
          </a:prstGeom>
          <a:solidFill>
            <a:schemeClr val="bg2">
              <a:alpha val="9668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6A429D-3990-790C-A287-D0A9B877C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Dynamic Programming (DP)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8253C-38C8-D945-44C2-0A3E4C5BA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191704" cy="45611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b="0" dirty="0"/>
              <a:t>iterative approaches to </a:t>
            </a:r>
            <a:r>
              <a:rPr lang="en-GB" sz="2600" dirty="0"/>
              <a:t>find approximations for optimal value functions</a:t>
            </a:r>
            <a:endParaRPr lang="en-GB" sz="2600" b="0" dirty="0"/>
          </a:p>
          <a:p>
            <a:pPr marL="514350" indent="-514350">
              <a:buFont typeface="+mj-lt"/>
              <a:buAutoNum type="arabicPeriod"/>
            </a:pPr>
            <a:r>
              <a:rPr lang="en-GB" sz="2600" dirty="0"/>
              <a:t>policy evaluation:</a:t>
            </a:r>
            <a:r>
              <a:rPr lang="en-DE" sz="2600" b="0" dirty="0"/>
              <a:t> calculate value function with current policy (Bellman equation as update rule)</a:t>
            </a:r>
            <a:endParaRPr lang="en-GB" sz="2600" dirty="0"/>
          </a:p>
          <a:p>
            <a:pPr marL="514350" indent="-514350">
              <a:buFont typeface="+mj-lt"/>
              <a:buAutoNum type="arabicPeriod"/>
            </a:pPr>
            <a:r>
              <a:rPr lang="en-GB" sz="2600" dirty="0"/>
              <a:t>policy improvement:</a:t>
            </a:r>
            <a:r>
              <a:rPr lang="en-DE" sz="2600" b="0" dirty="0"/>
              <a:t> adjusting policy to act greedy (pick actions with maximum values) with respect to value function of current policy</a:t>
            </a:r>
          </a:p>
          <a:p>
            <a:pPr marL="0" indent="0">
              <a:buNone/>
            </a:pPr>
            <a:r>
              <a:rPr lang="en-GB" sz="2600" dirty="0"/>
              <a:t>p</a:t>
            </a:r>
            <a:r>
              <a:rPr lang="en-DE" sz="2600" dirty="0"/>
              <a:t>utting both components together:</a:t>
            </a:r>
          </a:p>
          <a:p>
            <a:r>
              <a:rPr lang="en-GB" sz="2600" dirty="0"/>
              <a:t>p</a:t>
            </a:r>
            <a:r>
              <a:rPr lang="en-DE" sz="2600" dirty="0"/>
              <a:t>olicy iteration:</a:t>
            </a:r>
          </a:p>
          <a:p>
            <a:r>
              <a:rPr lang="en-GB" sz="2600" dirty="0"/>
              <a:t>v</a:t>
            </a:r>
            <a:r>
              <a:rPr lang="en-DE" sz="2600" dirty="0"/>
              <a:t>alue iteration: truncated policy evaluation using Bellman optimality equation as update rule (stopped after one update of each state)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497F6-499E-C15E-A171-09406D83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13</a:t>
            </a:fld>
            <a:endParaRPr lang="en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42754F-2FCD-7536-9301-FE81E76ED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911" y="4641093"/>
            <a:ext cx="5227734" cy="385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34B86F-FFB1-4CB8-9F28-02B7C531D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398" y="1768650"/>
            <a:ext cx="2201072" cy="33066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51A22C-D3BB-7B47-2C0D-E6042FCED77B}"/>
              </a:ext>
            </a:extLst>
          </p:cNvPr>
          <p:cNvSpPr txBox="1"/>
          <p:nvPr/>
        </p:nvSpPr>
        <p:spPr>
          <a:xfrm>
            <a:off x="8936418" y="1329919"/>
            <a:ext cx="28190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500" dirty="0"/>
              <a:t>generalized policy iteration (GPI):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1B081E-3E0F-CD58-7CFB-3EDEF50056A3}"/>
              </a:ext>
            </a:extLst>
          </p:cNvPr>
          <p:cNvSpPr txBox="1"/>
          <p:nvPr/>
        </p:nvSpPr>
        <p:spPr>
          <a:xfrm>
            <a:off x="8936418" y="5740405"/>
            <a:ext cx="2819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GPI a</a:t>
            </a:r>
            <a:r>
              <a:rPr lang="en-DE" dirty="0"/>
              <a:t>lso followed by MC and TD methods …</a:t>
            </a:r>
          </a:p>
        </p:txBody>
      </p:sp>
    </p:spTree>
    <p:extLst>
      <p:ext uri="{BB962C8B-B14F-4D97-AF65-F5344CB8AC3E}">
        <p14:creationId xmlns:p14="http://schemas.microsoft.com/office/powerpoint/2010/main" val="461603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2C3FC-F2B9-7298-40F0-30300DECA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Limited Utility of 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E4169-E0E3-4AF2-B882-6FE60E1CB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requires full model of environment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</a:t>
            </a:r>
            <a:r>
              <a:rPr lang="en-DE" dirty="0"/>
              <a:t>omputationally expensive</a:t>
            </a:r>
          </a:p>
          <a:p>
            <a:r>
              <a:rPr lang="en-DE" dirty="0"/>
              <a:t>expected update operation (based on values of all possible successor states and their probability)</a:t>
            </a:r>
          </a:p>
          <a:p>
            <a:r>
              <a:rPr lang="en-DE" dirty="0"/>
              <a:t>for each state (in potentially huge state space)</a:t>
            </a:r>
          </a:p>
          <a:p>
            <a:pPr marL="0" indent="0">
              <a:buNone/>
            </a:pPr>
            <a:r>
              <a:rPr lang="en-DE" dirty="0"/>
              <a:t>(asynchronous DP at least avoids systematic sweeps over entire state space)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DE" dirty="0">
                <a:sym typeface="Wingdings" pitchFamily="2" charset="2"/>
              </a:rPr>
              <a:t> </a:t>
            </a:r>
            <a:r>
              <a:rPr lang="en-GB" dirty="0">
                <a:sym typeface="Wingdings" pitchFamily="2" charset="2"/>
              </a:rPr>
              <a:t>n</a:t>
            </a:r>
            <a:r>
              <a:rPr lang="en-DE" dirty="0">
                <a:sym typeface="Wingdings" pitchFamily="2" charset="2"/>
              </a:rPr>
              <a:t>eed for more efficient methods achieving the same effect as DP, without (perfect) model of environment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AF159-1FA2-BE72-E5F7-780EA6F0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26179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AA315-43F4-8A94-5710-7E016D03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Bootstrapping and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A814A-B09E-D7AD-778F-9A87D4268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1859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b="1" dirty="0"/>
              <a:t>b</a:t>
            </a:r>
            <a:r>
              <a:rPr lang="en-DE" b="1" dirty="0"/>
              <a:t>ootstrapping</a:t>
            </a:r>
            <a:r>
              <a:rPr lang="en-DE" dirty="0"/>
              <a:t>: </a:t>
            </a:r>
            <a:r>
              <a:rPr lang="en-GB" dirty="0"/>
              <a:t>update estimates of state values based on estimates of values of successor states </a:t>
            </a:r>
            <a:endParaRPr lang="en-DE" dirty="0"/>
          </a:p>
          <a:p>
            <a:pPr marL="0" indent="0">
              <a:buNone/>
            </a:pPr>
            <a:r>
              <a:rPr lang="en-GB" b="1" dirty="0"/>
              <a:t>s</a:t>
            </a:r>
            <a:r>
              <a:rPr lang="en-DE" b="1" dirty="0"/>
              <a:t>ampling</a:t>
            </a:r>
            <a:r>
              <a:rPr lang="en-DE" dirty="0"/>
              <a:t>: experience of sample sequences (no need for complete knowledge of environment)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CD391-3E92-5154-E47D-1A6B248D2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15</a:t>
            </a:fld>
            <a:endParaRPr lang="en-DE"/>
          </a:p>
        </p:txBody>
      </p:sp>
      <p:pic>
        <p:nvPicPr>
          <p:cNvPr id="5" name="Picture 4" descr="A picture containing hanging, air, wire, flying&#10;&#10;Description automatically generated">
            <a:extLst>
              <a:ext uri="{FF2B5EF4-FFF2-40B4-BE49-F238E27FC236}">
                <a16:creationId xmlns:a16="http://schemas.microsoft.com/office/drawing/2014/main" id="{470E8653-E80C-691E-2A46-1B1FBDBB0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50" y="3322897"/>
            <a:ext cx="3333573" cy="2079625"/>
          </a:xfrm>
          <a:prstGeom prst="rect">
            <a:avLst/>
          </a:prstGeom>
        </p:spPr>
      </p:pic>
      <p:pic>
        <p:nvPicPr>
          <p:cNvPr id="6" name="Picture 5" descr="A picture containing hanging, colored, air, flying&#10;&#10;Description automatically generated">
            <a:extLst>
              <a:ext uri="{FF2B5EF4-FFF2-40B4-BE49-F238E27FC236}">
                <a16:creationId xmlns:a16="http://schemas.microsoft.com/office/drawing/2014/main" id="{F4C08FFA-90B4-91B8-ACEC-A9659FAAD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823" y="3322897"/>
            <a:ext cx="3708827" cy="2079921"/>
          </a:xfrm>
          <a:prstGeom prst="rect">
            <a:avLst/>
          </a:prstGeom>
        </p:spPr>
      </p:pic>
      <p:pic>
        <p:nvPicPr>
          <p:cNvPr id="7" name="Picture 6" descr="A picture containing hanging, air, flying, colored&#10;&#10;Description automatically generated">
            <a:extLst>
              <a:ext uri="{FF2B5EF4-FFF2-40B4-BE49-F238E27FC236}">
                <a16:creationId xmlns:a16="http://schemas.microsoft.com/office/drawing/2014/main" id="{18F0F24E-CA05-E49B-09A2-35A78D05F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244" y="3322897"/>
            <a:ext cx="3482257" cy="2079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BCB5B3-F3E8-8EAA-728C-FE8F49BE4FBD}"/>
              </a:ext>
            </a:extLst>
          </p:cNvPr>
          <p:cNvSpPr txBox="1"/>
          <p:nvPr/>
        </p:nvSpPr>
        <p:spPr>
          <a:xfrm>
            <a:off x="838200" y="2784735"/>
            <a:ext cx="231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Dynamic Programming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9FFDF-6D09-9D42-9283-CB36BF014035}"/>
              </a:ext>
            </a:extLst>
          </p:cNvPr>
          <p:cNvSpPr txBox="1"/>
          <p:nvPr/>
        </p:nvSpPr>
        <p:spPr>
          <a:xfrm>
            <a:off x="4328692" y="2784735"/>
            <a:ext cx="3394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Temporal Difference (TD) Learning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69AA0-E1A1-10DC-52BB-EF34F1FFCECB}"/>
              </a:ext>
            </a:extLst>
          </p:cNvPr>
          <p:cNvSpPr txBox="1"/>
          <p:nvPr/>
        </p:nvSpPr>
        <p:spPr>
          <a:xfrm>
            <a:off x="8897429" y="2784735"/>
            <a:ext cx="1869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Monte Carlo (MC)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18091D-23DA-8F89-5D7B-666CC7AB8BBB}"/>
              </a:ext>
            </a:extLst>
          </p:cNvPr>
          <p:cNvSpPr txBox="1"/>
          <p:nvPr/>
        </p:nvSpPr>
        <p:spPr>
          <a:xfrm>
            <a:off x="505350" y="5574694"/>
            <a:ext cx="36618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</a:t>
            </a:r>
            <a:r>
              <a:rPr lang="en-DE" dirty="0"/>
              <a:t>ootstrapping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no sampling </a:t>
            </a:r>
            <a:r>
              <a:rPr lang="en-GB" dirty="0">
                <a:sym typeface="Wingdings" pitchFamily="2" charset="2"/>
              </a:rPr>
              <a:t> </a:t>
            </a:r>
            <a:r>
              <a:rPr lang="en-GB" dirty="0"/>
              <a:t>model-based (transition probabilities needed)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1B1DDF-BDA8-7EE6-F0A8-3E5A37D16AB2}"/>
              </a:ext>
            </a:extLst>
          </p:cNvPr>
          <p:cNvSpPr txBox="1"/>
          <p:nvPr/>
        </p:nvSpPr>
        <p:spPr>
          <a:xfrm>
            <a:off x="4255045" y="5570978"/>
            <a:ext cx="3394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</a:t>
            </a:r>
            <a:r>
              <a:rPr lang="en-DE" dirty="0"/>
              <a:t>ootstrapping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</a:t>
            </a:r>
            <a:r>
              <a:rPr lang="en-DE" dirty="0"/>
              <a:t>ampling </a:t>
            </a:r>
            <a:r>
              <a:rPr lang="en-GB" dirty="0">
                <a:sym typeface="Wingdings" pitchFamily="2" charset="2"/>
              </a:rPr>
              <a:t> </a:t>
            </a:r>
            <a:r>
              <a:rPr lang="en-GB" dirty="0"/>
              <a:t>m</a:t>
            </a:r>
            <a:r>
              <a:rPr lang="en-DE" dirty="0"/>
              <a:t>odel-free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EC628C-CA70-A417-59B5-1C0E80AAA251}"/>
              </a:ext>
            </a:extLst>
          </p:cNvPr>
          <p:cNvSpPr txBox="1"/>
          <p:nvPr/>
        </p:nvSpPr>
        <p:spPr>
          <a:xfrm>
            <a:off x="7977823" y="5571473"/>
            <a:ext cx="3708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 b</a:t>
            </a:r>
            <a:r>
              <a:rPr lang="en-DE" dirty="0"/>
              <a:t>ootstrapping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</a:t>
            </a:r>
            <a:r>
              <a:rPr lang="en-DE" dirty="0"/>
              <a:t>ampling </a:t>
            </a:r>
            <a:r>
              <a:rPr lang="en-GB" dirty="0">
                <a:sym typeface="Wingdings" pitchFamily="2" charset="2"/>
              </a:rPr>
              <a:t> </a:t>
            </a:r>
            <a:r>
              <a:rPr lang="en-GB" dirty="0"/>
              <a:t>m</a:t>
            </a:r>
            <a:r>
              <a:rPr lang="en-DE" dirty="0"/>
              <a:t>odel-free</a:t>
            </a:r>
          </a:p>
        </p:txBody>
      </p:sp>
    </p:spTree>
    <p:extLst>
      <p:ext uri="{BB962C8B-B14F-4D97-AF65-F5344CB8AC3E}">
        <p14:creationId xmlns:p14="http://schemas.microsoft.com/office/powerpoint/2010/main" val="1276916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EED0B19-871D-4F1F-000C-D522BFBC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Model-Free Learning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3ABEFD-2E15-2C89-0B3B-679A28E4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749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9B03E-1A17-7301-86C2-51FB9F9F3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Sampling Update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F71F6-3791-4D3C-E0A2-4E6A0748AA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428999"/>
                <a:ext cx="10515600" cy="2747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DE" dirty="0"/>
                  <a:t>MC: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DE" dirty="0"/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r>
                  <a:rPr lang="en-DE" dirty="0"/>
                  <a:t>TD: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D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F71F6-3791-4D3C-E0A2-4E6A0748AA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428999"/>
                <a:ext cx="10515600" cy="2747963"/>
              </a:xfrm>
              <a:blipFill>
                <a:blip r:embed="rId2"/>
                <a:stretch>
                  <a:fillRect l="-1206" t="-2522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13DB9-41B0-ED71-FD05-45D583EB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17</a:t>
            </a:fld>
            <a:endParaRPr lang="en-D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82FC9A-586B-9BE3-F02E-16501855D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870053"/>
            <a:ext cx="11506200" cy="901700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66E22A9-5628-D549-7A89-B2413453DB8F}"/>
              </a:ext>
            </a:extLst>
          </p:cNvPr>
          <p:cNvSpPr/>
          <p:nvPr/>
        </p:nvSpPr>
        <p:spPr>
          <a:xfrm>
            <a:off x="342900" y="1870053"/>
            <a:ext cx="11588905" cy="9017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4EBC1-1009-A38E-CC6D-09E393BCBA6E}"/>
              </a:ext>
            </a:extLst>
          </p:cNvPr>
          <p:cNvSpPr txBox="1"/>
          <p:nvPr/>
        </p:nvSpPr>
        <p:spPr>
          <a:xfrm>
            <a:off x="5255173" y="5915352"/>
            <a:ext cx="2236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dirty="0"/>
              <a:t>bootstrapping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576065-AEE0-28B6-3505-37150C8E0251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6106511" y="5431876"/>
            <a:ext cx="266821" cy="483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43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D9201-6670-5181-895D-9277FC26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On-Policy TD Control: SARSA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6ADA8-8CEF-8FFE-F942-29A82FF082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60683"/>
                <a:ext cx="9798269" cy="321627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following pattern of GPI:</a:t>
                </a:r>
              </a:p>
              <a:p>
                <a:pPr marL="0" indent="0">
                  <a:buNone/>
                </a:pPr>
                <a:endParaRPr lang="en-DE" dirty="0"/>
              </a:p>
              <a:p>
                <a:r>
                  <a:rPr lang="en-DE" dirty="0"/>
                  <a:t>estimate action-value function for current behavior policy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DE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c</a:t>
                </a:r>
                <a:r>
                  <a:rPr lang="en-DE" dirty="0"/>
                  <a:t>hange policy toward greediness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DE" dirty="0"/>
                  <a:t> (exploration for example via </a:t>
                </a:r>
                <a14:m>
                  <m:oMath xmlns:m="http://schemas.openxmlformats.org/officeDocument/2006/math">
                    <m:r>
                      <a:rPr lang="en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DE" dirty="0"/>
                  <a:t>-greedy policy)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6ADA8-8CEF-8FFE-F942-29A82FF082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60683"/>
                <a:ext cx="9798269" cy="3216279"/>
              </a:xfrm>
              <a:blipFill>
                <a:blip r:embed="rId2"/>
                <a:stretch>
                  <a:fillRect l="-1295" t="-4724" r="-6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B4404-4961-203F-C157-77377CE6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18</a:t>
            </a:fld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96FD5C-8E62-42C2-234D-BA39B26D7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710" y="2057980"/>
            <a:ext cx="5564457" cy="535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C77BCA-4343-A8AF-6B24-39F46E28B998}"/>
              </a:ext>
            </a:extLst>
          </p:cNvPr>
          <p:cNvSpPr txBox="1"/>
          <p:nvPr/>
        </p:nvSpPr>
        <p:spPr>
          <a:xfrm>
            <a:off x="3846867" y="1572979"/>
            <a:ext cx="175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/>
              <a:t>S      A  R     S     A</a:t>
            </a: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2A2A2FF9-8DF2-F928-3B33-4816A50C1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6178" y="3429000"/>
            <a:ext cx="615244" cy="209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168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chematic&#10;&#10;Description automatically generated">
            <a:extLst>
              <a:ext uri="{FF2B5EF4-FFF2-40B4-BE49-F238E27FC236}">
                <a16:creationId xmlns:a16="http://schemas.microsoft.com/office/drawing/2014/main" id="{CCDCBA99-CEDA-CD29-C75C-8B1FD2241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265" y="4001294"/>
            <a:ext cx="1047469" cy="1500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BD6C51-0760-2065-B7F9-8D9B92F6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</a:t>
            </a:r>
            <a:r>
              <a:rPr lang="en-DE"/>
              <a:t>xpected </a:t>
            </a:r>
            <a:r>
              <a:rPr lang="de-DE" dirty="0"/>
              <a:t>SARSA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AFBD41-C3F8-C70F-2AEC-034FAD14B1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D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AFBD41-C3F8-C70F-2AEC-034FAD14B1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180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82C89-2080-0A5E-AC67-215002C64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19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38704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D6C51-0760-2065-B7F9-8D9B92F6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Off-Policy TD Control: Q-Learning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AFBD41-C3F8-C70F-2AEC-034FAD14B1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approximation of optimal action-value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DE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de-DE" dirty="0" err="1"/>
                  <a:t>behavior</a:t>
                </a:r>
                <a:r>
                  <a:rPr lang="de-DE" dirty="0"/>
                  <a:t> </a:t>
                </a:r>
                <a:r>
                  <a:rPr lang="de-DE" dirty="0" err="1"/>
                  <a:t>policy</a:t>
                </a:r>
                <a:r>
                  <a:rPr lang="de-DE" dirty="0"/>
                  <a:t> (</a:t>
                </a:r>
                <a:r>
                  <a:rPr lang="de-DE" dirty="0" err="1"/>
                  <a:t>used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collect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)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differ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target</a:t>
                </a:r>
                <a:r>
                  <a:rPr lang="de-DE" dirty="0"/>
                  <a:t> </a:t>
                </a:r>
                <a:r>
                  <a:rPr lang="de-DE" dirty="0" err="1"/>
                  <a:t>policy</a:t>
                </a:r>
                <a:r>
                  <a:rPr lang="de-DE" dirty="0"/>
                  <a:t> (</a:t>
                </a:r>
                <a:r>
                  <a:rPr lang="de-DE" dirty="0" err="1"/>
                  <a:t>greedy</a:t>
                </a:r>
                <a:r>
                  <a:rPr lang="de-DE" dirty="0"/>
                  <a:t>)</a:t>
                </a:r>
                <a:r>
                  <a:rPr lang="en-GB" dirty="0"/>
                  <a:t> </a:t>
                </a:r>
                <a:r>
                  <a:rPr lang="en-GB" dirty="0">
                    <a:sym typeface="Wingdings" pitchFamily="2" charset="2"/>
                  </a:rPr>
                  <a:t> </a:t>
                </a:r>
                <a:r>
                  <a:rPr lang="en-DE"/>
                  <a:t>off-policy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de-DE" dirty="0"/>
                  <a:t> stands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quality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: </a:t>
                </a:r>
                <a:r>
                  <a:rPr lang="de-DE" dirty="0" err="1"/>
                  <a:t>estimate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true</a:t>
                </a:r>
                <a:r>
                  <a:rPr lang="de-DE" dirty="0"/>
                  <a:t> action-</a:t>
                </a:r>
                <a:r>
                  <a:rPr lang="de-DE" dirty="0" err="1"/>
                  <a:t>value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control</a:t>
                </a:r>
                <a:r>
                  <a:rPr lang="de-DE" dirty="0"/>
                  <a:t> </a:t>
                </a:r>
                <a:r>
                  <a:rPr lang="de-DE" dirty="0" err="1"/>
                  <a:t>strategy</a:t>
                </a:r>
                <a:r>
                  <a:rPr lang="de-DE" dirty="0"/>
                  <a:t>: </a:t>
                </a:r>
                <a:r>
                  <a:rPr lang="de-DE" dirty="0" err="1"/>
                  <a:t>choose</a:t>
                </a:r>
                <a:r>
                  <a:rPr lang="de-DE" dirty="0"/>
                  <a:t> </a:t>
                </a:r>
                <a:r>
                  <a:rPr lang="de-DE" dirty="0" err="1"/>
                  <a:t>action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highest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de-DE" dirty="0"/>
                  <a:t>-</a:t>
                </a:r>
                <a:r>
                  <a:rPr lang="de-DE" dirty="0" err="1"/>
                  <a:t>value</a:t>
                </a:r>
                <a:r>
                  <a:rPr lang="de-DE" dirty="0"/>
                  <a:t> (</a:t>
                </a:r>
                <a:r>
                  <a:rPr lang="de-DE" dirty="0" err="1"/>
                  <a:t>exploitation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AFBD41-C3F8-C70F-2AEC-034FAD14B1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r="-362" b="-5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82C89-2080-0A5E-AC67-215002C64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20</a:t>
            </a:fld>
            <a:endParaRPr lang="en-DE"/>
          </a:p>
        </p:txBody>
      </p:sp>
      <p:pic>
        <p:nvPicPr>
          <p:cNvPr id="6" name="Picture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690E09DB-791F-EDD3-135A-AA52D917E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545336"/>
            <a:ext cx="1022131" cy="150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325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F60DD-C968-3A24-BDF0-42328878E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Update </a:t>
            </a:r>
            <a:r>
              <a:rPr lang="en-DE" dirty="0"/>
              <a:t>Characteristics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D1A1B-82BB-EDCF-B060-3C5E30388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21</a:t>
            </a:fld>
            <a:endParaRPr lang="en-DE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A35126D6-C16A-7841-9ACA-76B2AB578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99" y="1489633"/>
            <a:ext cx="5572512" cy="4884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1871EA-029A-0A8F-44F8-C16BA3060887}"/>
              </a:ext>
            </a:extLst>
          </p:cNvPr>
          <p:cNvSpPr txBox="1"/>
          <p:nvPr/>
        </p:nvSpPr>
        <p:spPr>
          <a:xfrm>
            <a:off x="1148576" y="3370935"/>
            <a:ext cx="108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</a:t>
            </a:r>
            <a:r>
              <a:rPr lang="en-DE" dirty="0"/>
              <a:t>-step TD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CF5F38-C646-B100-4077-CC0F352B6884}"/>
              </a:ext>
            </a:extLst>
          </p:cNvPr>
          <p:cNvSpPr txBox="1"/>
          <p:nvPr/>
        </p:nvSpPr>
        <p:spPr>
          <a:xfrm>
            <a:off x="1148576" y="1920937"/>
            <a:ext cx="1320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one</a:t>
            </a:r>
            <a:r>
              <a:rPr lang="en-DE" dirty="0"/>
              <a:t>-step TD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D5391E-B885-B829-7853-CD20E078FEBA}"/>
              </a:ext>
            </a:extLst>
          </p:cNvPr>
          <p:cNvSpPr txBox="1"/>
          <p:nvPr/>
        </p:nvSpPr>
        <p:spPr>
          <a:xfrm>
            <a:off x="1148575" y="4994954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MC</a:t>
            </a:r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419A85-702F-BAD2-92CC-A7CB575D01A8}"/>
              </a:ext>
            </a:extLst>
          </p:cNvPr>
          <p:cNvSpPr txBox="1"/>
          <p:nvPr/>
        </p:nvSpPr>
        <p:spPr>
          <a:xfrm>
            <a:off x="7839309" y="3026358"/>
            <a:ext cx="3514481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reduce depth of search by bootstrapping with value function predicting future outcome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8963A7-88FC-F410-4D77-BA5410C2B96A}"/>
              </a:ext>
            </a:extLst>
          </p:cNvPr>
          <p:cNvCxnSpPr/>
          <p:nvPr/>
        </p:nvCxnSpPr>
        <p:spPr>
          <a:xfrm flipV="1">
            <a:off x="7627438" y="2506716"/>
            <a:ext cx="0" cy="1962614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2753E61-FA36-F858-EA9D-10F9F255202F}"/>
              </a:ext>
            </a:extLst>
          </p:cNvPr>
          <p:cNvSpPr txBox="1"/>
          <p:nvPr/>
        </p:nvSpPr>
        <p:spPr>
          <a:xfrm>
            <a:off x="4404731" y="5809797"/>
            <a:ext cx="2163336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reduce breadth of search by sampling actions from policy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6C9D61-B92A-98F0-6341-C3A3F85BB3CE}"/>
              </a:ext>
            </a:extLst>
          </p:cNvPr>
          <p:cNvCxnSpPr/>
          <p:nvPr/>
        </p:nvCxnSpPr>
        <p:spPr>
          <a:xfrm flipH="1">
            <a:off x="4304370" y="5617905"/>
            <a:ext cx="2163336" cy="0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0">
            <a:extLst>
              <a:ext uri="{FF2B5EF4-FFF2-40B4-BE49-F238E27FC236}">
                <a16:creationId xmlns:a16="http://schemas.microsoft.com/office/drawing/2014/main" id="{924C7898-CA5A-34E6-DB30-F740F88E364F}"/>
              </a:ext>
            </a:extLst>
          </p:cNvPr>
          <p:cNvSpPr txBox="1"/>
          <p:nvPr/>
        </p:nvSpPr>
        <p:spPr>
          <a:xfrm>
            <a:off x="3790566" y="3631962"/>
            <a:ext cx="10482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accent6"/>
                </a:solidFill>
                <a:latin typeface="Calibri" panose="020F0502020204030204"/>
              </a:rPr>
              <a:t>S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ampling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82EC39-1364-8ACB-91F9-EA8EE400DEDB}"/>
              </a:ext>
            </a:extLst>
          </p:cNvPr>
          <p:cNvSpPr/>
          <p:nvPr/>
        </p:nvSpPr>
        <p:spPr>
          <a:xfrm rot="5400000">
            <a:off x="1253000" y="2788121"/>
            <a:ext cx="5088904" cy="2082799"/>
          </a:xfrm>
          <a:prstGeom prst="ellipse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012B62C4-C659-13EF-EE84-D5F2EA7F2FB0}"/>
              </a:ext>
            </a:extLst>
          </p:cNvPr>
          <p:cNvSpPr txBox="1"/>
          <p:nvPr/>
        </p:nvSpPr>
        <p:spPr>
          <a:xfrm>
            <a:off x="4737257" y="2018862"/>
            <a:ext cx="1507067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B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ootstrapping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A9DE429-9BCA-6A67-29F8-30D38D021D32}"/>
              </a:ext>
            </a:extLst>
          </p:cNvPr>
          <p:cNvSpPr/>
          <p:nvPr/>
        </p:nvSpPr>
        <p:spPr>
          <a:xfrm>
            <a:off x="2993296" y="1293148"/>
            <a:ext cx="5478516" cy="1522045"/>
          </a:xfrm>
          <a:prstGeom prst="ellipse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999DA182-3C77-A045-89A3-9CFFBDE50DC7}"/>
              </a:ext>
            </a:extLst>
          </p:cNvPr>
          <p:cNvSpPr txBox="1"/>
          <p:nvPr/>
        </p:nvSpPr>
        <p:spPr>
          <a:xfrm>
            <a:off x="9232027" y="1216108"/>
            <a:ext cx="240831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</a:t>
            </a:r>
            <a:r>
              <a:rPr lang="de-DE" dirty="0" err="1"/>
              <a:t>needed</a:t>
            </a:r>
            <a:endParaRPr lang="en-GB" dirty="0"/>
          </a:p>
        </p:txBody>
      </p:sp>
      <p:cxnSp>
        <p:nvCxnSpPr>
          <p:cNvPr id="18" name="Straight Arrow Connector 14">
            <a:extLst>
              <a:ext uri="{FF2B5EF4-FFF2-40B4-BE49-F238E27FC236}">
                <a16:creationId xmlns:a16="http://schemas.microsoft.com/office/drawing/2014/main" id="{0CE82D37-8022-F860-0F2B-C26789CCC5E9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8166538" y="1539274"/>
            <a:ext cx="1065489" cy="323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12">
            <a:extLst>
              <a:ext uri="{FF2B5EF4-FFF2-40B4-BE49-F238E27FC236}">
                <a16:creationId xmlns:a16="http://schemas.microsoft.com/office/drawing/2014/main" id="{DCF4FBEA-01C5-3689-DE10-BDB057052766}"/>
              </a:ext>
            </a:extLst>
          </p:cNvPr>
          <p:cNvSpPr txBox="1"/>
          <p:nvPr/>
        </p:nvSpPr>
        <p:spPr>
          <a:xfrm>
            <a:off x="8974523" y="5809797"/>
            <a:ext cx="163041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inefficient</a:t>
            </a:r>
            <a:endParaRPr lang="en-GB" dirty="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F79094F9-687D-AA82-7716-4F30EA920EAB}"/>
              </a:ext>
            </a:extLst>
          </p:cNvPr>
          <p:cNvCxnSpPr>
            <a:stCxn id="23" idx="1"/>
          </p:cNvCxnSpPr>
          <p:nvPr/>
        </p:nvCxnSpPr>
        <p:spPr>
          <a:xfrm flipH="1" flipV="1">
            <a:off x="7945821" y="5179620"/>
            <a:ext cx="1028702" cy="814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731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4D9EF-FB61-9DAE-2A97-D9C822C08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Limitation of Tabular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9275A-6ECE-00F1-31A1-E3ECBFAD3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tabular methods (calculating values for each state/action) simply memorize observed data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problem with tabular solution methods in practice: large state/action spaces </a:t>
            </a:r>
            <a:r>
              <a:rPr lang="de-DE" dirty="0">
                <a:sym typeface="Wingdings" pitchFamily="2" charset="2"/>
              </a:rPr>
              <a:t>(kind of curse of dimensionality)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need for generalization: supervised learning to the rescue</a:t>
            </a:r>
          </a:p>
          <a:p>
            <a:r>
              <a:rPr lang="de-DE" dirty="0"/>
              <a:t>non-linear function approximation over state/action space</a:t>
            </a:r>
          </a:p>
          <a:p>
            <a:r>
              <a:rPr lang="de-DE" dirty="0"/>
              <a:t>nowadays often deep learning methods </a:t>
            </a:r>
            <a:r>
              <a:rPr lang="de-DE" dirty="0">
                <a:sym typeface="Wingdings" pitchFamily="2" charset="2"/>
              </a:rPr>
              <a:t> deep RL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A65A4-171E-1901-4111-237CE3EF4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22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37054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7675B1F-E173-98A4-AD50-0B743B2D6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Practice Project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DD3C46-343C-0713-2B34-80AA55504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>
              <a:hlinkClick r:id="" action="ppaction://noaction"/>
            </a:endParaRPr>
          </a:p>
          <a:p>
            <a:pPr marL="0" indent="0">
              <a:buNone/>
            </a:pPr>
            <a:endParaRPr lang="de-DE" dirty="0">
              <a:hlinkClick r:id="" action="ppaction://noaction"/>
            </a:endParaRPr>
          </a:p>
          <a:p>
            <a:pPr marL="0" indent="0">
              <a:buNone/>
            </a:pPr>
            <a:r>
              <a:rPr lang="de-DE" dirty="0">
                <a:hlinkClick r:id="rId2"/>
              </a:rPr>
              <a:t>Gymnasium Blackjack </a:t>
            </a:r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AD244A2-3D2F-65EC-08C2-585F58E4A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41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</Words>
  <Application>Microsoft Macintosh PowerPoint</Application>
  <PresentationFormat>Breitbild</PresentationFormat>
  <Paragraphs>176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Foundations</vt:lpstr>
      <vt:lpstr>Sequential Decision Making</vt:lpstr>
      <vt:lpstr>Main Elements of RL</vt:lpstr>
      <vt:lpstr>Optional Elements of RL</vt:lpstr>
      <vt:lpstr>Mathematical Setup</vt:lpstr>
      <vt:lpstr>Markov Decision Process (MDP)</vt:lpstr>
      <vt:lpstr>States, Actions, and Rewards</vt:lpstr>
      <vt:lpstr>State and Action Values</vt:lpstr>
      <vt:lpstr>State-Value Function</vt:lpstr>
      <vt:lpstr>Action-Value Function</vt:lpstr>
      <vt:lpstr>Bellman Optimality Equations</vt:lpstr>
      <vt:lpstr>Planning</vt:lpstr>
      <vt:lpstr>Dynamic Programming (DP)</vt:lpstr>
      <vt:lpstr>Limited Utility of DP</vt:lpstr>
      <vt:lpstr>Bootstrapping and Sampling</vt:lpstr>
      <vt:lpstr>Model-Free Learning</vt:lpstr>
      <vt:lpstr>Sampling Update Rule</vt:lpstr>
      <vt:lpstr>On-Policy TD Control: SARSA</vt:lpstr>
      <vt:lpstr>Expected SARSA</vt:lpstr>
      <vt:lpstr>Off-Policy TD Control: Q-Learning</vt:lpstr>
      <vt:lpstr>Update Characteristics</vt:lpstr>
      <vt:lpstr>Limitation of Tabular Methods</vt:lpstr>
      <vt:lpstr>Practice Project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101</cp:revision>
  <dcterms:created xsi:type="dcterms:W3CDTF">2025-01-08T09:27:30Z</dcterms:created>
  <dcterms:modified xsi:type="dcterms:W3CDTF">2026-04-22T22:06:48Z</dcterms:modified>
</cp:coreProperties>
</file>